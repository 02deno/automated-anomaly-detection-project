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AutoAD+ as an unsupervised anomaly detection project. The goal is not just to run one model, but to automatically analyze a dataset, choose detectors, combine their signals, and report anomalies with comparable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anomaly detection often looks good on one dataset and then fails on another. Point out that distance, density, tree, and temporal anomalies are different, so a single detector is rarely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proposal is about a self-configuring hybrid system. Emphasize the word self-configuring: the pipeline should inspect the data and then decide how to process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left to right. CSV or API data enters the system, numeric features are profiled, candidate models are selected, each model is tuned, scores are normalized, then the ensemble produces final anomaly scores and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labels are not used to train the model. In experiments, labels are held aside and only used to calculate F1, ROC-AUC, and PR-AUC.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lets the system make decisions from data properties. For example, a dataset with enough rows may use LOF, while larger or higher-dimensional datasets can activate neural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model menu. Isolation Forest, OCSVM, and LOF are the popular baselines. Autoencoder and LSTM are optional components when the dataset is large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optimization is unsupervised: the objective uses score spread or reconstruction loss, not ground-truth labels. This keeps the training process 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point is complementarity. A global spike, a local density break, and a temporal block may each be easier for a different detector.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this was added: the original model missed dead-sensor cases because median-like values can look normal to distance models. The domain detector helps, but it is gated so it does not always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Different algorithms output scores in different scales. If we simply average raw scores, one model can dominate by accident. Normalization and weighting make the ensemble more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ensemble may not be exactly F1 at the 95th percentile. AutoAD now uses the data distribution to find a gap when it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designed to make results visible, not just return a black-box label. The API gives scores, labels, weights, and optional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from model design to evaluation. Stress that synthetic tests show whether known anomaly types can be found, while multiple real datasets test whether the model generalizes beyond the designed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larger synthetic benchmark is not just the tiny 24-row smoke test. It repeats and jitters rows to create a larger controlled set, then varies seeds and anomaly strengths.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 the scenarios and explain the purpose. Dead sensor has multiple modes: median, zero, previous value, and random constant. This makes the evaluation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real evaluation is now broader than Annthyroid. KDD has native attack labels. Glass and Pendigits are not native anomaly datasets, so rare-class or one-vs-rest labels are derived for benchmark-style evaluation.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right comparisons because they are widely used unsupervised anomaly detection methods and are also components inside AutoAD.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AutoAD reaches average F1 of 0.552. Isolation Forest is close at 0.519, OCSVM at 0.500, and LOF trails at 0.372. This is a modest synthetic advantage, not a broad superiority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synthetic ROC-AUC result is stronger: AutoAD scores 0.912, ahead of OCSVM, Isolation Forest, and LOF. This means ranking is good in controlled tests even when thresholded F1 is unstable.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honesty slide. Default AutoAD averages only 0.034 F1 across the five real datasets. OCSVM leads because it performs extremely well on KDDCup99 HTTP. The synthetic win does not transfer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AutoAD has average ROC-AUC of 0.737, close to Isolation Forest and above LOF. That means ranking is not terrible, but the final thresholding and ensemble weights do not convert ranking into good F1.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calibrated weights and expected-contamination thresholding improves AutoAD average F1 from 0.034 to 0.119. This is a real improvement, but OCSVM remains best overall at 0.236. Calibration helps but does not fully generalize.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you show maturity. The project does not hide failures. AutoAD is useful as a framework, but it still needs meta-selection and calibration that generalize across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overfitting concern directly. The model was improved after seeing failure cases, so broader validation was necessary. The broader results are more realistic and more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final evidence summary. It gives the audience a balanced conclusion: AutoAD wins the synthetic validation, calibrated AutoAD improves on real data, but OCSVM remains strongest overall across the five real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Mention that these commands reproduce the main reported results. The CSV outputs are written under the results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claiming the model is finished. The most practical next work is a meta-selection layer: use dataset properties to decide whether AutoAD should ensemble, or whether a single baseline should dominate.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balanced message. The project satisfies the core proposal as a self-configuring hybrid anomaly detector with evaluation. The scientific conclusion is that AutoAD is promising, but needs stronger meta-selection before claiming it beats popular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inviting questions. If asked what matters most, answer: the pipeline works, synthetic results are promising, calibration helps, but the broader real-data test shows that generalization is the main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13232" y="1325880"/>
            <a:ext cx="4937760" cy="822960"/>
          </a:xfrm>
          <a:prstGeom prst="rect">
            <a:avLst/>
          </a:prstGeom>
          <a:noFill/>
          <a:ln/>
        </p:spPr>
        <p:txBody>
          <a:bodyPr wrap="square" lIns="0" tIns="0" rIns="0" bIns="0" rtlCol="0" anchor="ctr"/>
          <a:lstStyle/>
          <a:p>
            <a:pPr indent="0" marL="0">
              <a:buNone/>
            </a:pPr>
            <a:r>
              <a:rPr lang="en-US" sz="5600" b="1" dirty="0">
                <a:solidFill>
                  <a:srgbClr val="16213A"/>
                </a:solidFill>
                <a:latin typeface="Aptos Display" pitchFamily="34" charset="0"/>
                <a:ea typeface="Aptos Display" pitchFamily="34" charset="-122"/>
                <a:cs typeface="Aptos Display" pitchFamily="34" charset="-120"/>
              </a:rPr>
              <a:t>AutoAD+</a:t>
            </a:r>
            <a:endParaRPr lang="en-US" sz="5600" dirty="0"/>
          </a:p>
        </p:txBody>
      </p:sp>
      <p:sp>
        <p:nvSpPr>
          <p:cNvPr id="4" name="Text 2"/>
          <p:cNvSpPr/>
          <p:nvPr/>
        </p:nvSpPr>
        <p:spPr>
          <a:xfrm>
            <a:off x="758952" y="2331720"/>
            <a:ext cx="6309360" cy="411480"/>
          </a:xfrm>
          <a:prstGeom prst="rect">
            <a:avLst/>
          </a:prstGeom>
          <a:noFill/>
          <a:ln/>
        </p:spPr>
        <p:txBody>
          <a:bodyPr wrap="square" lIns="0" tIns="0" rIns="0" bIns="0" rtlCol="0" anchor="ctr"/>
          <a:lstStyle/>
          <a:p>
            <a:pPr indent="0" marL="0">
              <a:buNone/>
            </a:pPr>
            <a:r>
              <a:rPr lang="en-US" sz="1900" dirty="0">
                <a:solidFill>
                  <a:srgbClr val="2563EB"/>
                </a:solidFill>
              </a:rPr>
              <a:t>A self-configuring hybrid anomaly detection system</a:t>
            </a:r>
            <a:endParaRPr lang="en-US" sz="1900" dirty="0"/>
          </a:p>
        </p:txBody>
      </p:sp>
      <p:sp>
        <p:nvSpPr>
          <p:cNvPr id="5" name="Text 3"/>
          <p:cNvSpPr/>
          <p:nvPr/>
        </p:nvSpPr>
        <p:spPr>
          <a:xfrm>
            <a:off x="777240" y="2971800"/>
            <a:ext cx="5303520" cy="384048"/>
          </a:xfrm>
          <a:prstGeom prst="rect">
            <a:avLst/>
          </a:prstGeom>
          <a:noFill/>
          <a:ln/>
        </p:spPr>
        <p:txBody>
          <a:bodyPr wrap="square" lIns="0" tIns="0" rIns="0" bIns="0" rtlCol="0" anchor="ctr"/>
          <a:lstStyle/>
          <a:p>
            <a:pPr indent="0" marL="0">
              <a:buNone/>
            </a:pPr>
            <a:r>
              <a:rPr lang="en-US" sz="1500" dirty="0">
                <a:solidFill>
                  <a:srgbClr val="5E6B7A"/>
                </a:solidFill>
              </a:rPr>
              <a:t>Model pipeline, datasets, and benchmark evidence</a:t>
            </a:r>
            <a:endParaRPr lang="en-US" sz="1500" dirty="0"/>
          </a:p>
        </p:txBody>
      </p:sp>
      <p:sp>
        <p:nvSpPr>
          <p:cNvPr id="6" name="Text 4"/>
          <p:cNvSpPr/>
          <p:nvPr/>
        </p:nvSpPr>
        <p:spPr>
          <a:xfrm>
            <a:off x="7360920" y="16184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Input</a:t>
            </a:r>
            <a:endParaRPr lang="en-US" sz="1050" dirty="0"/>
          </a:p>
        </p:txBody>
      </p:sp>
      <p:sp>
        <p:nvSpPr>
          <p:cNvPr id="7" name="Shape 5"/>
          <p:cNvSpPr/>
          <p:nvPr/>
        </p:nvSpPr>
        <p:spPr>
          <a:xfrm>
            <a:off x="9235440" y="1600200"/>
            <a:ext cx="1645920" cy="310896"/>
          </a:xfrm>
          <a:prstGeom prst="rect">
            <a:avLst/>
          </a:prstGeom>
          <a:solidFill>
            <a:srgbClr val="F4F7FB"/>
          </a:solidFill>
          <a:ln w="12700">
            <a:solidFill>
              <a:srgbClr val="D9E2EF"/>
            </a:solidFill>
            <a:prstDash val="solid"/>
          </a:ln>
        </p:spPr>
      </p:sp>
      <p:sp>
        <p:nvSpPr>
          <p:cNvPr id="8" name="Shape 6"/>
          <p:cNvSpPr/>
          <p:nvPr/>
        </p:nvSpPr>
        <p:spPr>
          <a:xfrm>
            <a:off x="9235440" y="1600200"/>
            <a:ext cx="1824228" cy="310896"/>
          </a:xfrm>
          <a:prstGeom prst="rect">
            <a:avLst/>
          </a:prstGeom>
          <a:solidFill>
            <a:srgbClr val="0891B2"/>
          </a:solidFill>
          <a:ln w="12700">
            <a:solidFill>
              <a:srgbClr val="0891B2"/>
            </a:solidFill>
            <a:prstDash val="solid"/>
          </a:ln>
        </p:spPr>
      </p:sp>
      <p:sp>
        <p:nvSpPr>
          <p:cNvPr id="9" name="Text 7"/>
          <p:cNvSpPr/>
          <p:nvPr/>
        </p:nvSpPr>
        <p:spPr>
          <a:xfrm>
            <a:off x="11123676" y="1627632"/>
            <a:ext cx="640080" cy="182880"/>
          </a:xfrm>
          <a:prstGeom prst="rect">
            <a:avLst/>
          </a:prstGeom>
          <a:noFill/>
          <a:ln/>
        </p:spPr>
        <p:txBody>
          <a:bodyPr wrap="square" lIns="0" tIns="0" rIns="0" bIns="0" rtlCol="0" anchor="ctr"/>
          <a:lstStyle/>
          <a:p>
            <a:pPr indent="0" marL="0">
              <a:buNone/>
            </a:pPr>
            <a:r>
              <a:rPr lang="en-US" sz="900" dirty="0">
                <a:solidFill>
                  <a:srgbClr val="16213A"/>
                </a:solidFill>
              </a:rPr>
              <a:t>0.950</a:t>
            </a:r>
            <a:endParaRPr lang="en-US" sz="900" dirty="0"/>
          </a:p>
        </p:txBody>
      </p:sp>
      <p:sp>
        <p:nvSpPr>
          <p:cNvPr id="10" name="Text 8"/>
          <p:cNvSpPr/>
          <p:nvPr/>
        </p:nvSpPr>
        <p:spPr>
          <a:xfrm>
            <a:off x="7360920" y="21899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Analyze</a:t>
            </a:r>
            <a:endParaRPr lang="en-US" sz="1050" dirty="0"/>
          </a:p>
        </p:txBody>
      </p:sp>
      <p:sp>
        <p:nvSpPr>
          <p:cNvPr id="11" name="Shape 9"/>
          <p:cNvSpPr/>
          <p:nvPr/>
        </p:nvSpPr>
        <p:spPr>
          <a:xfrm>
            <a:off x="9235440" y="2171700"/>
            <a:ext cx="1645920" cy="310896"/>
          </a:xfrm>
          <a:prstGeom prst="rect">
            <a:avLst/>
          </a:prstGeom>
          <a:solidFill>
            <a:srgbClr val="F4F7FB"/>
          </a:solidFill>
          <a:ln w="12700">
            <a:solidFill>
              <a:srgbClr val="D9E2EF"/>
            </a:solidFill>
            <a:prstDash val="solid"/>
          </a:ln>
        </p:spPr>
      </p:sp>
      <p:sp>
        <p:nvSpPr>
          <p:cNvPr id="12" name="Shape 10"/>
          <p:cNvSpPr/>
          <p:nvPr/>
        </p:nvSpPr>
        <p:spPr>
          <a:xfrm>
            <a:off x="9235440" y="2171700"/>
            <a:ext cx="1574597" cy="310896"/>
          </a:xfrm>
          <a:prstGeom prst="rect">
            <a:avLst/>
          </a:prstGeom>
          <a:solidFill>
            <a:srgbClr val="0891B2"/>
          </a:solidFill>
          <a:ln w="12700">
            <a:solidFill>
              <a:srgbClr val="0891B2"/>
            </a:solidFill>
            <a:prstDash val="solid"/>
          </a:ln>
        </p:spPr>
      </p:sp>
      <p:sp>
        <p:nvSpPr>
          <p:cNvPr id="13" name="Text 11"/>
          <p:cNvSpPr/>
          <p:nvPr/>
        </p:nvSpPr>
        <p:spPr>
          <a:xfrm>
            <a:off x="10874045" y="2199132"/>
            <a:ext cx="640080" cy="182880"/>
          </a:xfrm>
          <a:prstGeom prst="rect">
            <a:avLst/>
          </a:prstGeom>
          <a:noFill/>
          <a:ln/>
        </p:spPr>
        <p:txBody>
          <a:bodyPr wrap="square" lIns="0" tIns="0" rIns="0" bIns="0" rtlCol="0" anchor="ctr"/>
          <a:lstStyle/>
          <a:p>
            <a:pPr indent="0" marL="0">
              <a:buNone/>
            </a:pPr>
            <a:r>
              <a:rPr lang="en-US" sz="900" dirty="0">
                <a:solidFill>
                  <a:srgbClr val="16213A"/>
                </a:solidFill>
              </a:rPr>
              <a:t>0.820</a:t>
            </a:r>
            <a:endParaRPr lang="en-US" sz="900" dirty="0"/>
          </a:p>
        </p:txBody>
      </p:sp>
      <p:sp>
        <p:nvSpPr>
          <p:cNvPr id="14" name="Text 12"/>
          <p:cNvSpPr/>
          <p:nvPr/>
        </p:nvSpPr>
        <p:spPr>
          <a:xfrm>
            <a:off x="7360920" y="27614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Ensemble</a:t>
            </a:r>
            <a:endParaRPr lang="en-US" sz="1050" dirty="0"/>
          </a:p>
        </p:txBody>
      </p:sp>
      <p:sp>
        <p:nvSpPr>
          <p:cNvPr id="15" name="Shape 13"/>
          <p:cNvSpPr/>
          <p:nvPr/>
        </p:nvSpPr>
        <p:spPr>
          <a:xfrm>
            <a:off x="9235440" y="2743200"/>
            <a:ext cx="1645920" cy="310896"/>
          </a:xfrm>
          <a:prstGeom prst="rect">
            <a:avLst/>
          </a:prstGeom>
          <a:solidFill>
            <a:srgbClr val="F4F7FB"/>
          </a:solidFill>
          <a:ln w="12700">
            <a:solidFill>
              <a:srgbClr val="D9E2EF"/>
            </a:solidFill>
            <a:prstDash val="solid"/>
          </a:ln>
        </p:spPr>
      </p:sp>
      <p:sp>
        <p:nvSpPr>
          <p:cNvPr id="16" name="Shape 14"/>
          <p:cNvSpPr/>
          <p:nvPr/>
        </p:nvSpPr>
        <p:spPr>
          <a:xfrm>
            <a:off x="9235440" y="2743200"/>
            <a:ext cx="1459382" cy="310896"/>
          </a:xfrm>
          <a:prstGeom prst="rect">
            <a:avLst/>
          </a:prstGeom>
          <a:solidFill>
            <a:srgbClr val="0891B2"/>
          </a:solidFill>
          <a:ln w="12700">
            <a:solidFill>
              <a:srgbClr val="0891B2"/>
            </a:solidFill>
            <a:prstDash val="solid"/>
          </a:ln>
        </p:spPr>
      </p:sp>
      <p:sp>
        <p:nvSpPr>
          <p:cNvPr id="17" name="Text 15"/>
          <p:cNvSpPr/>
          <p:nvPr/>
        </p:nvSpPr>
        <p:spPr>
          <a:xfrm>
            <a:off x="10758830" y="2770632"/>
            <a:ext cx="640080" cy="182880"/>
          </a:xfrm>
          <a:prstGeom prst="rect">
            <a:avLst/>
          </a:prstGeom>
          <a:noFill/>
          <a:ln/>
        </p:spPr>
        <p:txBody>
          <a:bodyPr wrap="square" lIns="0" tIns="0" rIns="0" bIns="0" rtlCol="0" anchor="ctr"/>
          <a:lstStyle/>
          <a:p>
            <a:pPr indent="0" marL="0">
              <a:buNone/>
            </a:pPr>
            <a:r>
              <a:rPr lang="en-US" sz="900" dirty="0">
                <a:solidFill>
                  <a:srgbClr val="16213A"/>
                </a:solidFill>
              </a:rPr>
              <a:t>0.760</a:t>
            </a:r>
            <a:endParaRPr lang="en-US" sz="900" dirty="0"/>
          </a:p>
        </p:txBody>
      </p:sp>
      <p:sp>
        <p:nvSpPr>
          <p:cNvPr id="18" name="Text 16"/>
          <p:cNvSpPr/>
          <p:nvPr/>
        </p:nvSpPr>
        <p:spPr>
          <a:xfrm>
            <a:off x="7360920" y="33329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Evaluate</a:t>
            </a:r>
            <a:endParaRPr lang="en-US" sz="1050" dirty="0"/>
          </a:p>
        </p:txBody>
      </p:sp>
      <p:sp>
        <p:nvSpPr>
          <p:cNvPr id="19" name="Shape 17"/>
          <p:cNvSpPr/>
          <p:nvPr/>
        </p:nvSpPr>
        <p:spPr>
          <a:xfrm>
            <a:off x="9235440" y="3314700"/>
            <a:ext cx="1645920" cy="310896"/>
          </a:xfrm>
          <a:prstGeom prst="rect">
            <a:avLst/>
          </a:prstGeom>
          <a:solidFill>
            <a:srgbClr val="F4F7FB"/>
          </a:solidFill>
          <a:ln w="12700">
            <a:solidFill>
              <a:srgbClr val="D9E2EF"/>
            </a:solidFill>
            <a:prstDash val="solid"/>
          </a:ln>
        </p:spPr>
      </p:sp>
      <p:sp>
        <p:nvSpPr>
          <p:cNvPr id="20" name="Shape 18"/>
          <p:cNvSpPr/>
          <p:nvPr/>
        </p:nvSpPr>
        <p:spPr>
          <a:xfrm>
            <a:off x="9235440" y="3314700"/>
            <a:ext cx="1286561" cy="310896"/>
          </a:xfrm>
          <a:prstGeom prst="rect">
            <a:avLst/>
          </a:prstGeom>
          <a:solidFill>
            <a:srgbClr val="0891B2"/>
          </a:solidFill>
          <a:ln w="12700">
            <a:solidFill>
              <a:srgbClr val="0891B2"/>
            </a:solidFill>
            <a:prstDash val="solid"/>
          </a:ln>
        </p:spPr>
      </p:sp>
      <p:sp>
        <p:nvSpPr>
          <p:cNvPr id="21" name="Text 19"/>
          <p:cNvSpPr/>
          <p:nvPr/>
        </p:nvSpPr>
        <p:spPr>
          <a:xfrm>
            <a:off x="10586009" y="3342132"/>
            <a:ext cx="640080" cy="182880"/>
          </a:xfrm>
          <a:prstGeom prst="rect">
            <a:avLst/>
          </a:prstGeom>
          <a:noFill/>
          <a:ln/>
        </p:spPr>
        <p:txBody>
          <a:bodyPr wrap="square" lIns="0" tIns="0" rIns="0" bIns="0" rtlCol="0" anchor="ctr"/>
          <a:lstStyle/>
          <a:p>
            <a:pPr indent="0" marL="0">
              <a:buNone/>
            </a:pPr>
            <a:r>
              <a:rPr lang="en-US" sz="900" dirty="0">
                <a:solidFill>
                  <a:srgbClr val="16213A"/>
                </a:solidFill>
              </a:rPr>
              <a:t>0.670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The Problem</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Unsupervised anomaly detection is fragile when the data shape changes.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Different anomalies need different detectors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Thresholds are usually guessed</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Small demos can overstate performance</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Project Goal</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Build a model that adapts before it predicts.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Analyze the uploaded table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Select suitable detectors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Optimize and normalize model scores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Compare against known baselines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System View</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a layered pipeline, not a single algorithm.</a:t>
            </a:r>
            <a:endParaRPr lang="en-US" sz="1600" dirty="0"/>
          </a:p>
        </p:txBody>
      </p:sp>
      <p:sp>
        <p:nvSpPr>
          <p:cNvPr id="5" name="Shape 3"/>
          <p:cNvSpPr/>
          <p:nvPr/>
        </p:nvSpPr>
        <p:spPr>
          <a:xfrm>
            <a:off x="685800" y="2514600"/>
            <a:ext cx="1664208" cy="822960"/>
          </a:xfrm>
          <a:prstGeom prst="rect">
            <a:avLst>
              <a:gd name="adj" fmla="val 8889"/>
            </a:avLst>
          </a:prstGeom>
          <a:solidFill>
            <a:srgbClr val="E8F0FF"/>
          </a:solidFill>
          <a:ln w="12700">
            <a:solidFill>
              <a:srgbClr val="D9E2EF"/>
            </a:solidFill>
            <a:prstDash val="solid"/>
          </a:ln>
        </p:spPr>
      </p:sp>
      <p:sp>
        <p:nvSpPr>
          <p:cNvPr id="6" name="Text 4"/>
          <p:cNvSpPr/>
          <p:nvPr/>
        </p:nvSpPr>
        <p:spPr>
          <a:xfrm>
            <a:off x="7955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Input</a:t>
            </a:r>
            <a:endParaRPr lang="en-US" sz="1200" dirty="0"/>
          </a:p>
        </p:txBody>
      </p:sp>
      <p:sp>
        <p:nvSpPr>
          <p:cNvPr id="7" name="Text 5"/>
          <p:cNvSpPr/>
          <p:nvPr/>
        </p:nvSpPr>
        <p:spPr>
          <a:xfrm>
            <a:off x="23865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8" name="Shape 6"/>
          <p:cNvSpPr/>
          <p:nvPr/>
        </p:nvSpPr>
        <p:spPr>
          <a:xfrm>
            <a:off x="2514600" y="2514600"/>
            <a:ext cx="1664208" cy="822960"/>
          </a:xfrm>
          <a:prstGeom prst="rect">
            <a:avLst>
              <a:gd name="adj" fmla="val 8889"/>
            </a:avLst>
          </a:prstGeom>
          <a:solidFill>
            <a:srgbClr val="E0F2FE"/>
          </a:solidFill>
          <a:ln w="12700">
            <a:solidFill>
              <a:srgbClr val="D9E2EF"/>
            </a:solidFill>
            <a:prstDash val="solid"/>
          </a:ln>
        </p:spPr>
      </p:sp>
      <p:sp>
        <p:nvSpPr>
          <p:cNvPr id="9" name="Text 7"/>
          <p:cNvSpPr/>
          <p:nvPr/>
        </p:nvSpPr>
        <p:spPr>
          <a:xfrm>
            <a:off x="26243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Analysis</a:t>
            </a:r>
            <a:endParaRPr lang="en-US" sz="1200" dirty="0"/>
          </a:p>
        </p:txBody>
      </p:sp>
      <p:sp>
        <p:nvSpPr>
          <p:cNvPr id="10" name="Text 8"/>
          <p:cNvSpPr/>
          <p:nvPr/>
        </p:nvSpPr>
        <p:spPr>
          <a:xfrm>
            <a:off x="42153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1" name="Shape 9"/>
          <p:cNvSpPr/>
          <p:nvPr/>
        </p:nvSpPr>
        <p:spPr>
          <a:xfrm>
            <a:off x="4343400" y="2514600"/>
            <a:ext cx="1664208" cy="822960"/>
          </a:xfrm>
          <a:prstGeom prst="rect">
            <a:avLst>
              <a:gd name="adj" fmla="val 8889"/>
            </a:avLst>
          </a:prstGeom>
          <a:solidFill>
            <a:srgbClr val="E8F0FF"/>
          </a:solidFill>
          <a:ln w="12700">
            <a:solidFill>
              <a:srgbClr val="D9E2EF"/>
            </a:solidFill>
            <a:prstDash val="solid"/>
          </a:ln>
        </p:spPr>
      </p:sp>
      <p:sp>
        <p:nvSpPr>
          <p:cNvPr id="12" name="Text 10"/>
          <p:cNvSpPr/>
          <p:nvPr/>
        </p:nvSpPr>
        <p:spPr>
          <a:xfrm>
            <a:off x="44531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Optimization</a:t>
            </a:r>
            <a:endParaRPr lang="en-US" sz="1200" dirty="0"/>
          </a:p>
        </p:txBody>
      </p:sp>
      <p:sp>
        <p:nvSpPr>
          <p:cNvPr id="13" name="Text 11"/>
          <p:cNvSpPr/>
          <p:nvPr/>
        </p:nvSpPr>
        <p:spPr>
          <a:xfrm>
            <a:off x="60441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4" name="Shape 12"/>
          <p:cNvSpPr/>
          <p:nvPr/>
        </p:nvSpPr>
        <p:spPr>
          <a:xfrm>
            <a:off x="6172200" y="2514600"/>
            <a:ext cx="1664208" cy="822960"/>
          </a:xfrm>
          <a:prstGeom prst="rect">
            <a:avLst>
              <a:gd name="adj" fmla="val 8889"/>
            </a:avLst>
          </a:prstGeom>
          <a:solidFill>
            <a:srgbClr val="E0F2FE"/>
          </a:solidFill>
          <a:ln w="12700">
            <a:solidFill>
              <a:srgbClr val="D9E2EF"/>
            </a:solidFill>
            <a:prstDash val="solid"/>
          </a:ln>
        </p:spPr>
      </p:sp>
      <p:sp>
        <p:nvSpPr>
          <p:cNvPr id="15" name="Text 13"/>
          <p:cNvSpPr/>
          <p:nvPr/>
        </p:nvSpPr>
        <p:spPr>
          <a:xfrm>
            <a:off x="62819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Core Models</a:t>
            </a:r>
            <a:endParaRPr lang="en-US" sz="1200" dirty="0"/>
          </a:p>
        </p:txBody>
      </p:sp>
      <p:sp>
        <p:nvSpPr>
          <p:cNvPr id="16" name="Text 14"/>
          <p:cNvSpPr/>
          <p:nvPr/>
        </p:nvSpPr>
        <p:spPr>
          <a:xfrm>
            <a:off x="78729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17" name="Shape 15"/>
          <p:cNvSpPr/>
          <p:nvPr/>
        </p:nvSpPr>
        <p:spPr>
          <a:xfrm>
            <a:off x="8001000" y="2514600"/>
            <a:ext cx="1664208" cy="822960"/>
          </a:xfrm>
          <a:prstGeom prst="rect">
            <a:avLst>
              <a:gd name="adj" fmla="val 8889"/>
            </a:avLst>
          </a:prstGeom>
          <a:solidFill>
            <a:srgbClr val="E8F0FF"/>
          </a:solidFill>
          <a:ln w="12700">
            <a:solidFill>
              <a:srgbClr val="D9E2EF"/>
            </a:solidFill>
            <a:prstDash val="solid"/>
          </a:ln>
        </p:spPr>
      </p:sp>
      <p:sp>
        <p:nvSpPr>
          <p:cNvPr id="18" name="Text 16"/>
          <p:cNvSpPr/>
          <p:nvPr/>
        </p:nvSpPr>
        <p:spPr>
          <a:xfrm>
            <a:off x="81107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Ensemble</a:t>
            </a:r>
            <a:endParaRPr lang="en-US" sz="1200" dirty="0"/>
          </a:p>
        </p:txBody>
      </p:sp>
      <p:sp>
        <p:nvSpPr>
          <p:cNvPr id="19" name="Text 17"/>
          <p:cNvSpPr/>
          <p:nvPr/>
        </p:nvSpPr>
        <p:spPr>
          <a:xfrm>
            <a:off x="9701784" y="2761488"/>
            <a:ext cx="128016" cy="182880"/>
          </a:xfrm>
          <a:prstGeom prst="rect">
            <a:avLst/>
          </a:prstGeom>
          <a:noFill/>
          <a:ln/>
        </p:spPr>
        <p:txBody>
          <a:bodyPr wrap="square" lIns="0" tIns="0" rIns="0" bIns="0" rtlCol="0" anchor="ctr"/>
          <a:lstStyle/>
          <a:p>
            <a:pPr indent="0" marL="0">
              <a:buNone/>
            </a:pPr>
            <a:r>
              <a:rPr lang="en-US" sz="1400" dirty="0">
                <a:solidFill>
                  <a:srgbClr val="5E6B7A"/>
                </a:solidFill>
              </a:rPr>
              <a:t>&gt;</a:t>
            </a:r>
            <a:endParaRPr lang="en-US" sz="1400" dirty="0"/>
          </a:p>
        </p:txBody>
      </p:sp>
      <p:sp>
        <p:nvSpPr>
          <p:cNvPr id="20" name="Shape 18"/>
          <p:cNvSpPr/>
          <p:nvPr/>
        </p:nvSpPr>
        <p:spPr>
          <a:xfrm>
            <a:off x="9829800" y="2514600"/>
            <a:ext cx="1664208" cy="822960"/>
          </a:xfrm>
          <a:prstGeom prst="rect">
            <a:avLst>
              <a:gd name="adj" fmla="val 8889"/>
            </a:avLst>
          </a:prstGeom>
          <a:solidFill>
            <a:srgbClr val="E0F2FE"/>
          </a:solidFill>
          <a:ln w="12700">
            <a:solidFill>
              <a:srgbClr val="D9E2EF"/>
            </a:solidFill>
            <a:prstDash val="solid"/>
          </a:ln>
        </p:spPr>
      </p:sp>
      <p:sp>
        <p:nvSpPr>
          <p:cNvPr id="21" name="Text 19"/>
          <p:cNvSpPr/>
          <p:nvPr/>
        </p:nvSpPr>
        <p:spPr>
          <a:xfrm>
            <a:off x="9939528" y="2779776"/>
            <a:ext cx="1444752" cy="219456"/>
          </a:xfrm>
          <a:prstGeom prst="rect">
            <a:avLst/>
          </a:prstGeom>
          <a:noFill/>
          <a:ln/>
        </p:spPr>
        <p:txBody>
          <a:bodyPr wrap="square" lIns="0" tIns="0" rIns="0" bIns="0" rtlCol="0" anchor="ctr">
            <a:normAutofit/>
          </a:bodyPr>
          <a:lstStyle/>
          <a:p>
            <a:pPr algn="ctr" indent="0" marL="0">
              <a:buNone/>
            </a:pPr>
            <a:r>
              <a:rPr lang="en-US" sz="1200" b="1" dirty="0">
                <a:solidFill>
                  <a:srgbClr val="16213A"/>
                </a:solidFill>
              </a:rPr>
              <a:t>Results</a:t>
            </a:r>
            <a:endParaRPr lang="en-US" sz="12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Input Layer</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system accepts tabular data and keeps the model unsupervised.</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CSV, API, or database source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Numeric features are extracted</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Known label columns are excluded from training</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Labels are used only for evaluation</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Analysis Layer</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Before modeling, AutoAD+ measures the dataset.</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Rows and numeric feature count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Missing rate and zero rate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Variance, skewness, kurtosis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Correlation and entropy signals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Model Selection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Candidate detectors are chosen from the data profile.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 for global outliers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One-Class SVM for boundary learning</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LOF for local density anomalies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Autoencoder and LSTM when data size supports them</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Optimization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Each detector is tuned automatically with Optuna.</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 tree count and sample fraction</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OCSVM: nu and gamma</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LOF: neighbor count and distance metric</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Neural models: hidden size and learning rate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Core Detectors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model combines complementary views of abnormality.</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Tree isolation score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Kernel boundary score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Local density score</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Reconstruction error</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Sequence reconstruction error</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09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Domain Detectors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latest version adds targeted signals for sensor-style failures.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Flatline / dead-sensor score</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Temporal-change score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Median-centrality and repeated-value evidence</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Detector gating to avoid false dominance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Score Normalization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Raw detector scores are not directly comparable.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Scores are clipped at robust percentiles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Each score stream is scaled to a common range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The ensemble uses reliability-weighted contributions</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Adaptive Thresholding</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final label is produced by an adaptive score-gap threshold.</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Searches for separation near top scores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Falls back to percentile behavior when separation is weak</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Reports threshold metadata to the API/UI</a:t>
            </a:r>
            <a:endParaRPr lang="en-US" sz="150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Output</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result is both a prediction and an explanation surface.</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Anomaly score per row</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Binary anomaly flag</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Model weights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Per-model normalized scores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Evaluation metrics when labels exist</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213A"/>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31520" y="2103120"/>
            <a:ext cx="8686800" cy="594360"/>
          </a:xfrm>
          <a:prstGeom prst="rect">
            <a:avLst/>
          </a:prstGeom>
          <a:noFill/>
          <a:ln/>
        </p:spPr>
        <p:txBody>
          <a:bodyPr wrap="square" lIns="0" tIns="0" rIns="0" bIns="0" rtlCol="0" anchor="ctr"/>
          <a:lstStyle/>
          <a:p>
            <a:pPr indent="0" marL="0">
              <a:buNone/>
            </a:pPr>
            <a:r>
              <a:rPr lang="en-US" sz="3800" b="1" dirty="0">
                <a:solidFill>
                  <a:srgbClr val="FFFFFF"/>
                </a:solidFill>
              </a:rPr>
              <a:t>Datasets</a:t>
            </a:r>
            <a:endParaRPr lang="en-US" sz="3800" dirty="0"/>
          </a:p>
        </p:txBody>
      </p:sp>
      <p:sp>
        <p:nvSpPr>
          <p:cNvPr id="4" name="Text 2"/>
          <p:cNvSpPr/>
          <p:nvPr/>
        </p:nvSpPr>
        <p:spPr>
          <a:xfrm>
            <a:off x="768096" y="2880360"/>
            <a:ext cx="7589520" cy="347472"/>
          </a:xfrm>
          <a:prstGeom prst="rect">
            <a:avLst/>
          </a:prstGeom>
          <a:noFill/>
          <a:ln/>
        </p:spPr>
        <p:txBody>
          <a:bodyPr wrap="square" lIns="0" tIns="0" rIns="0" bIns="0" rtlCol="0" anchor="ctr"/>
          <a:lstStyle/>
          <a:p>
            <a:pPr indent="0" marL="0">
              <a:buNone/>
            </a:pPr>
            <a:r>
              <a:rPr lang="en-US" sz="1600" dirty="0">
                <a:solidFill>
                  <a:srgbClr val="D8E4F8"/>
                </a:solidFill>
              </a:rPr>
              <a:t>The project uses controlled synthetic tests and multiple real labeled benchmarks.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Dataset</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Controlled anomalies are injected into server-metric data.</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Base: server metrics CSV</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Expanded to 120 rows with small jitter</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54 validation runs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Three random seeds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Multiple contamination levels</a:t>
            </a:r>
            <a:endParaRPr lang="en-US" sz="1500" dirty="0"/>
          </a:p>
        </p:txBody>
      </p:sp>
      <p:sp>
        <p:nvSpPr>
          <p:cNvPr id="15" name="Text 1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Scenarios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benchmark checks multiple anomaly families.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Single-feature spikes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Joint shifts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Scale bursts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Temporal blocks</a:t>
            </a:r>
            <a:endParaRPr lang="en-US" sz="1500" dirty="0"/>
          </a:p>
        </p:txBody>
      </p:sp>
      <p:sp>
        <p:nvSpPr>
          <p:cNvPr id="13" name="Shape 11"/>
          <p:cNvSpPr/>
          <p:nvPr/>
        </p:nvSpPr>
        <p:spPr>
          <a:xfrm>
            <a:off x="822960" y="4398264"/>
            <a:ext cx="128016" cy="128016"/>
          </a:xfrm>
          <a:prstGeom prst="ellipse">
            <a:avLst/>
          </a:prstGeom>
          <a:solidFill>
            <a:srgbClr val="2563EB"/>
          </a:solidFill>
          <a:ln w="12700">
            <a:solidFill>
              <a:srgbClr val="2563EB"/>
            </a:solidFill>
            <a:prstDash val="solid"/>
          </a:ln>
        </p:spPr>
      </p:sp>
      <p:sp>
        <p:nvSpPr>
          <p:cNvPr id="14" name="Text 12"/>
          <p:cNvSpPr/>
          <p:nvPr/>
        </p:nvSpPr>
        <p:spPr>
          <a:xfrm>
            <a:off x="1115568" y="4325112"/>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Dead sensor variants</a:t>
            </a:r>
            <a:endParaRPr lang="en-US" sz="1500" dirty="0"/>
          </a:p>
        </p:txBody>
      </p:sp>
      <p:sp>
        <p:nvSpPr>
          <p:cNvPr id="15" name="Shape 13"/>
          <p:cNvSpPr/>
          <p:nvPr/>
        </p:nvSpPr>
        <p:spPr>
          <a:xfrm>
            <a:off x="822960" y="5056632"/>
            <a:ext cx="128016" cy="128016"/>
          </a:xfrm>
          <a:prstGeom prst="ellipse">
            <a:avLst/>
          </a:prstGeom>
          <a:solidFill>
            <a:srgbClr val="2563EB"/>
          </a:solidFill>
          <a:ln w="12700">
            <a:solidFill>
              <a:srgbClr val="2563EB"/>
            </a:solidFill>
            <a:prstDash val="solid"/>
          </a:ln>
        </p:spPr>
      </p:sp>
      <p:sp>
        <p:nvSpPr>
          <p:cNvPr id="16" name="Text 14"/>
          <p:cNvSpPr/>
          <p:nvPr/>
        </p:nvSpPr>
        <p:spPr>
          <a:xfrm>
            <a:off x="1115568" y="498348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Sign flips</a:t>
            </a:r>
            <a:endParaRPr lang="en-US" sz="1500" dirty="0"/>
          </a:p>
        </p:txBody>
      </p:sp>
      <p:sp>
        <p:nvSpPr>
          <p:cNvPr id="17" name="Text 15"/>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Datasets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Five labeled datasets test generalization.</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Annthyroid: 7,200 rows, 534 anomalies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KDDCup99 HTTP: 10,000-row sample, 376 attacks</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KDDCup99 SMTP: 9,571 rows, 3 attacks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Glass and Pendigits: derived rare-class labels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Baselines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compared with popular unsupervised models.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Isolation Forest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One-Class SVM</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Local Outlier Factor</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AutoAD+ ensemble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F1 Comparison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ranks first on the larger synthetic validation benchmark.</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3280867" cy="310896"/>
          </a:xfrm>
          <a:prstGeom prst="rect">
            <a:avLst/>
          </a:prstGeom>
          <a:solidFill>
            <a:srgbClr val="2563EB"/>
          </a:solidFill>
          <a:ln w="12700">
            <a:solidFill>
              <a:srgbClr val="2563EB"/>
            </a:solidFill>
            <a:prstDash val="solid"/>
          </a:ln>
        </p:spPr>
      </p:sp>
      <p:sp>
        <p:nvSpPr>
          <p:cNvPr id="8" name="Text 6"/>
          <p:cNvSpPr/>
          <p:nvPr/>
        </p:nvSpPr>
        <p:spPr>
          <a:xfrm>
            <a:off x="6179515"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0.552</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3084728" cy="310896"/>
          </a:xfrm>
          <a:prstGeom prst="rect">
            <a:avLst/>
          </a:prstGeom>
          <a:solidFill>
            <a:srgbClr val="2563EB"/>
          </a:solidFill>
          <a:ln w="12700">
            <a:solidFill>
              <a:srgbClr val="2563EB"/>
            </a:solidFill>
            <a:prstDash val="solid"/>
          </a:ln>
        </p:spPr>
      </p:sp>
      <p:sp>
        <p:nvSpPr>
          <p:cNvPr id="12" name="Text 10"/>
          <p:cNvSpPr/>
          <p:nvPr/>
        </p:nvSpPr>
        <p:spPr>
          <a:xfrm>
            <a:off x="5983376"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0.519</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2971800" cy="310896"/>
          </a:xfrm>
          <a:prstGeom prst="rect">
            <a:avLst/>
          </a:prstGeom>
          <a:solidFill>
            <a:srgbClr val="2563EB"/>
          </a:solidFill>
          <a:ln w="12700">
            <a:solidFill>
              <a:srgbClr val="2563EB"/>
            </a:solidFill>
            <a:prstDash val="solid"/>
          </a:ln>
        </p:spPr>
      </p:sp>
      <p:sp>
        <p:nvSpPr>
          <p:cNvPr id="16" name="Text 14"/>
          <p:cNvSpPr/>
          <p:nvPr/>
        </p:nvSpPr>
        <p:spPr>
          <a:xfrm>
            <a:off x="5870448"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0.500</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2211019" cy="310896"/>
          </a:xfrm>
          <a:prstGeom prst="rect">
            <a:avLst/>
          </a:prstGeom>
          <a:solidFill>
            <a:srgbClr val="2563EB"/>
          </a:solidFill>
          <a:ln w="12700">
            <a:solidFill>
              <a:srgbClr val="2563EB"/>
            </a:solidFill>
            <a:prstDash val="solid"/>
          </a:ln>
        </p:spPr>
      </p:sp>
      <p:sp>
        <p:nvSpPr>
          <p:cNvPr id="20" name="Text 18"/>
          <p:cNvSpPr/>
          <p:nvPr/>
        </p:nvSpPr>
        <p:spPr>
          <a:xfrm>
            <a:off x="5109667"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0.372</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across 54 runs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Synthetic ROC-AUC</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separates positives well in controlled tests.</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5420563" cy="310896"/>
          </a:xfrm>
          <a:prstGeom prst="rect">
            <a:avLst/>
          </a:prstGeom>
          <a:solidFill>
            <a:srgbClr val="2563EB"/>
          </a:solidFill>
          <a:ln w="12700">
            <a:solidFill>
              <a:srgbClr val="2563EB"/>
            </a:solidFill>
            <a:prstDash val="solid"/>
          </a:ln>
        </p:spPr>
      </p:sp>
      <p:sp>
        <p:nvSpPr>
          <p:cNvPr id="8" name="Text 6"/>
          <p:cNvSpPr/>
          <p:nvPr/>
        </p:nvSpPr>
        <p:spPr>
          <a:xfrm>
            <a:off x="8319211"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0.912</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4844034" cy="310896"/>
          </a:xfrm>
          <a:prstGeom prst="rect">
            <a:avLst/>
          </a:prstGeom>
          <a:solidFill>
            <a:srgbClr val="2563EB"/>
          </a:solidFill>
          <a:ln w="12700">
            <a:solidFill>
              <a:srgbClr val="2563EB"/>
            </a:solidFill>
            <a:prstDash val="solid"/>
          </a:ln>
        </p:spPr>
      </p:sp>
      <p:sp>
        <p:nvSpPr>
          <p:cNvPr id="12" name="Text 10"/>
          <p:cNvSpPr/>
          <p:nvPr/>
        </p:nvSpPr>
        <p:spPr>
          <a:xfrm>
            <a:off x="7742682"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0.815</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873752" cy="310896"/>
          </a:xfrm>
          <a:prstGeom prst="rect">
            <a:avLst/>
          </a:prstGeom>
          <a:solidFill>
            <a:srgbClr val="2563EB"/>
          </a:solidFill>
          <a:ln w="12700">
            <a:solidFill>
              <a:srgbClr val="2563EB"/>
            </a:solidFill>
            <a:prstDash val="solid"/>
          </a:ln>
        </p:spPr>
      </p:sp>
      <p:sp>
        <p:nvSpPr>
          <p:cNvPr id="16" name="Text 14"/>
          <p:cNvSpPr/>
          <p:nvPr/>
        </p:nvSpPr>
        <p:spPr>
          <a:xfrm>
            <a:off x="7772400"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0.820</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612234" cy="310896"/>
          </a:xfrm>
          <a:prstGeom prst="rect">
            <a:avLst/>
          </a:prstGeom>
          <a:solidFill>
            <a:srgbClr val="2563EB"/>
          </a:solidFill>
          <a:ln w="12700">
            <a:solidFill>
              <a:srgbClr val="2563EB"/>
            </a:solidFill>
            <a:prstDash val="solid"/>
          </a:ln>
        </p:spPr>
      </p:sp>
      <p:sp>
        <p:nvSpPr>
          <p:cNvPr id="20" name="Text 18"/>
          <p:cNvSpPr/>
          <p:nvPr/>
        </p:nvSpPr>
        <p:spPr>
          <a:xfrm>
            <a:off x="7510882"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0.776</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ROC-AUC</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F1 Comparison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Across five real datasets, default AutoAD+ ranks last by F1.</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1396746" cy="310896"/>
          </a:xfrm>
          <a:prstGeom prst="rect">
            <a:avLst/>
          </a:prstGeom>
          <a:solidFill>
            <a:srgbClr val="D97706"/>
          </a:solidFill>
          <a:ln w="12700">
            <a:solidFill>
              <a:srgbClr val="D97706"/>
            </a:solidFill>
            <a:prstDash val="solid"/>
          </a:ln>
        </p:spPr>
      </p:sp>
      <p:sp>
        <p:nvSpPr>
          <p:cNvPr id="8" name="Text 6"/>
          <p:cNvSpPr/>
          <p:nvPr/>
        </p:nvSpPr>
        <p:spPr>
          <a:xfrm>
            <a:off x="4295394"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0.235</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439826" cy="310896"/>
          </a:xfrm>
          <a:prstGeom prst="rect">
            <a:avLst/>
          </a:prstGeom>
          <a:solidFill>
            <a:srgbClr val="D97706"/>
          </a:solidFill>
          <a:ln w="12700">
            <a:solidFill>
              <a:srgbClr val="D97706"/>
            </a:solidFill>
            <a:prstDash val="solid"/>
          </a:ln>
        </p:spPr>
      </p:sp>
      <p:sp>
        <p:nvSpPr>
          <p:cNvPr id="12" name="Text 10"/>
          <p:cNvSpPr/>
          <p:nvPr/>
        </p:nvSpPr>
        <p:spPr>
          <a:xfrm>
            <a:off x="3338474"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0.074</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04165" cy="310896"/>
          </a:xfrm>
          <a:prstGeom prst="rect">
            <a:avLst/>
          </a:prstGeom>
          <a:solidFill>
            <a:srgbClr val="D97706"/>
          </a:solidFill>
          <a:ln w="12700">
            <a:solidFill>
              <a:srgbClr val="D97706"/>
            </a:solidFill>
            <a:prstDash val="solid"/>
          </a:ln>
        </p:spPr>
      </p:sp>
      <p:sp>
        <p:nvSpPr>
          <p:cNvPr id="16" name="Text 14"/>
          <p:cNvSpPr/>
          <p:nvPr/>
        </p:nvSpPr>
        <p:spPr>
          <a:xfrm>
            <a:off x="3302813"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0.068</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202082" cy="310896"/>
          </a:xfrm>
          <a:prstGeom prst="rect">
            <a:avLst/>
          </a:prstGeom>
          <a:solidFill>
            <a:srgbClr val="D97706"/>
          </a:solidFill>
          <a:ln w="12700">
            <a:solidFill>
              <a:srgbClr val="D97706"/>
            </a:solidFill>
            <a:prstDash val="solid"/>
          </a:ln>
        </p:spPr>
      </p:sp>
      <p:sp>
        <p:nvSpPr>
          <p:cNvPr id="20" name="Text 18"/>
          <p:cNvSpPr/>
          <p:nvPr/>
        </p:nvSpPr>
        <p:spPr>
          <a:xfrm>
            <a:off x="3100730"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0.034</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across five real datasets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Real-World ROC-AUC</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ranks reasonably, but thresholded F1 is weak.</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4101084" cy="310896"/>
          </a:xfrm>
          <a:prstGeom prst="rect">
            <a:avLst/>
          </a:prstGeom>
          <a:solidFill>
            <a:srgbClr val="D97706"/>
          </a:solidFill>
          <a:ln w="12700">
            <a:solidFill>
              <a:srgbClr val="D97706"/>
            </a:solidFill>
            <a:prstDash val="solid"/>
          </a:ln>
        </p:spPr>
      </p:sp>
      <p:sp>
        <p:nvSpPr>
          <p:cNvPr id="8" name="Text 6"/>
          <p:cNvSpPr/>
          <p:nvPr/>
        </p:nvSpPr>
        <p:spPr>
          <a:xfrm>
            <a:off x="6999732"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0.690</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3762299" cy="310896"/>
          </a:xfrm>
          <a:prstGeom prst="rect">
            <a:avLst/>
          </a:prstGeom>
          <a:solidFill>
            <a:srgbClr val="D97706"/>
          </a:solidFill>
          <a:ln w="12700">
            <a:solidFill>
              <a:srgbClr val="D97706"/>
            </a:solidFill>
            <a:prstDash val="solid"/>
          </a:ln>
        </p:spPr>
      </p:sp>
      <p:sp>
        <p:nvSpPr>
          <p:cNvPr id="12" name="Text 10"/>
          <p:cNvSpPr/>
          <p:nvPr/>
        </p:nvSpPr>
        <p:spPr>
          <a:xfrm>
            <a:off x="6660947"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0.633</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493362" cy="310896"/>
          </a:xfrm>
          <a:prstGeom prst="rect">
            <a:avLst/>
          </a:prstGeom>
          <a:solidFill>
            <a:srgbClr val="D97706"/>
          </a:solidFill>
          <a:ln w="12700">
            <a:solidFill>
              <a:srgbClr val="D97706"/>
            </a:solidFill>
            <a:prstDash val="solid"/>
          </a:ln>
        </p:spPr>
      </p:sp>
      <p:sp>
        <p:nvSpPr>
          <p:cNvPr id="16" name="Text 14"/>
          <p:cNvSpPr/>
          <p:nvPr/>
        </p:nvSpPr>
        <p:spPr>
          <a:xfrm>
            <a:off x="7392010"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0.756</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380433" cy="310896"/>
          </a:xfrm>
          <a:prstGeom prst="rect">
            <a:avLst/>
          </a:prstGeom>
          <a:solidFill>
            <a:srgbClr val="D97706"/>
          </a:solidFill>
          <a:ln w="12700">
            <a:solidFill>
              <a:srgbClr val="D97706"/>
            </a:solidFill>
            <a:prstDash val="solid"/>
          </a:ln>
        </p:spPr>
      </p:sp>
      <p:sp>
        <p:nvSpPr>
          <p:cNvPr id="20" name="Text 18"/>
          <p:cNvSpPr/>
          <p:nvPr/>
        </p:nvSpPr>
        <p:spPr>
          <a:xfrm>
            <a:off x="7279081"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0.737</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ROC-AUC across five real datasets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Calibration Helps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Annthyroid-calibrated AutoAD+ improves, but still trails OCSVM overall.</a:t>
            </a:r>
            <a:endParaRPr lang="en-US" sz="1600" dirty="0"/>
          </a:p>
        </p:txBody>
      </p:sp>
      <p:sp>
        <p:nvSpPr>
          <p:cNvPr id="5" name="Text 3"/>
          <p:cNvSpPr/>
          <p:nvPr/>
        </p:nvSpPr>
        <p:spPr>
          <a:xfrm>
            <a:off x="960120" y="184708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One-Class SVM</a:t>
            </a:r>
            <a:endParaRPr lang="en-US" sz="1050" dirty="0"/>
          </a:p>
        </p:txBody>
      </p:sp>
      <p:sp>
        <p:nvSpPr>
          <p:cNvPr id="6" name="Shape 4"/>
          <p:cNvSpPr/>
          <p:nvPr/>
        </p:nvSpPr>
        <p:spPr>
          <a:xfrm>
            <a:off x="2834640" y="1828800"/>
            <a:ext cx="5669280" cy="310896"/>
          </a:xfrm>
          <a:prstGeom prst="rect">
            <a:avLst/>
          </a:prstGeom>
          <a:solidFill>
            <a:srgbClr val="F4F7FB"/>
          </a:solidFill>
          <a:ln w="12700">
            <a:solidFill>
              <a:srgbClr val="D9E2EF"/>
            </a:solidFill>
            <a:prstDash val="solid"/>
          </a:ln>
        </p:spPr>
      </p:sp>
      <p:sp>
        <p:nvSpPr>
          <p:cNvPr id="7" name="Shape 5"/>
          <p:cNvSpPr/>
          <p:nvPr/>
        </p:nvSpPr>
        <p:spPr>
          <a:xfrm>
            <a:off x="2834640" y="1828800"/>
            <a:ext cx="1402690" cy="310896"/>
          </a:xfrm>
          <a:prstGeom prst="rect">
            <a:avLst/>
          </a:prstGeom>
          <a:solidFill>
            <a:srgbClr val="2563EB"/>
          </a:solidFill>
          <a:ln w="12700">
            <a:solidFill>
              <a:srgbClr val="2563EB"/>
            </a:solidFill>
            <a:prstDash val="solid"/>
          </a:ln>
        </p:spPr>
      </p:sp>
      <p:sp>
        <p:nvSpPr>
          <p:cNvPr id="8" name="Text 6"/>
          <p:cNvSpPr/>
          <p:nvPr/>
        </p:nvSpPr>
        <p:spPr>
          <a:xfrm>
            <a:off x="4301338" y="1856232"/>
            <a:ext cx="640080" cy="182880"/>
          </a:xfrm>
          <a:prstGeom prst="rect">
            <a:avLst/>
          </a:prstGeom>
          <a:noFill/>
          <a:ln/>
        </p:spPr>
        <p:txBody>
          <a:bodyPr wrap="square" lIns="0" tIns="0" rIns="0" bIns="0" rtlCol="0" anchor="ctr"/>
          <a:lstStyle/>
          <a:p>
            <a:pPr indent="0" marL="0">
              <a:buNone/>
            </a:pPr>
            <a:r>
              <a:rPr lang="en-US" sz="900" dirty="0">
                <a:solidFill>
                  <a:srgbClr val="16213A"/>
                </a:solidFill>
              </a:rPr>
              <a:t>0.236</a:t>
            </a:r>
            <a:endParaRPr lang="en-US" sz="900" dirty="0"/>
          </a:p>
        </p:txBody>
      </p:sp>
      <p:sp>
        <p:nvSpPr>
          <p:cNvPr id="9" name="Text 7"/>
          <p:cNvSpPr/>
          <p:nvPr/>
        </p:nvSpPr>
        <p:spPr>
          <a:xfrm>
            <a:off x="960120" y="260146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AutoAD calibrated</a:t>
            </a:r>
            <a:endParaRPr lang="en-US" sz="1050" dirty="0"/>
          </a:p>
        </p:txBody>
      </p:sp>
      <p:sp>
        <p:nvSpPr>
          <p:cNvPr id="10" name="Shape 8"/>
          <p:cNvSpPr/>
          <p:nvPr/>
        </p:nvSpPr>
        <p:spPr>
          <a:xfrm>
            <a:off x="2834640" y="2583180"/>
            <a:ext cx="5669280" cy="310896"/>
          </a:xfrm>
          <a:prstGeom prst="rect">
            <a:avLst/>
          </a:prstGeom>
          <a:solidFill>
            <a:srgbClr val="F4F7FB"/>
          </a:solidFill>
          <a:ln w="12700">
            <a:solidFill>
              <a:srgbClr val="D9E2EF"/>
            </a:solidFill>
            <a:prstDash val="solid"/>
          </a:ln>
        </p:spPr>
      </p:sp>
      <p:sp>
        <p:nvSpPr>
          <p:cNvPr id="11" name="Shape 9"/>
          <p:cNvSpPr/>
          <p:nvPr/>
        </p:nvSpPr>
        <p:spPr>
          <a:xfrm>
            <a:off x="2834640" y="2583180"/>
            <a:ext cx="707288" cy="310896"/>
          </a:xfrm>
          <a:prstGeom prst="rect">
            <a:avLst/>
          </a:prstGeom>
          <a:solidFill>
            <a:srgbClr val="2563EB"/>
          </a:solidFill>
          <a:ln w="12700">
            <a:solidFill>
              <a:srgbClr val="2563EB"/>
            </a:solidFill>
            <a:prstDash val="solid"/>
          </a:ln>
        </p:spPr>
      </p:sp>
      <p:sp>
        <p:nvSpPr>
          <p:cNvPr id="12" name="Text 10"/>
          <p:cNvSpPr/>
          <p:nvPr/>
        </p:nvSpPr>
        <p:spPr>
          <a:xfrm>
            <a:off x="3605936" y="2610612"/>
            <a:ext cx="640080" cy="182880"/>
          </a:xfrm>
          <a:prstGeom prst="rect">
            <a:avLst/>
          </a:prstGeom>
          <a:noFill/>
          <a:ln/>
        </p:spPr>
        <p:txBody>
          <a:bodyPr wrap="square" lIns="0" tIns="0" rIns="0" bIns="0" rtlCol="0" anchor="ctr"/>
          <a:lstStyle/>
          <a:p>
            <a:pPr indent="0" marL="0">
              <a:buNone/>
            </a:pPr>
            <a:r>
              <a:rPr lang="en-US" sz="900" dirty="0">
                <a:solidFill>
                  <a:srgbClr val="16213A"/>
                </a:solidFill>
              </a:rPr>
              <a:t>0.119</a:t>
            </a:r>
            <a:endParaRPr lang="en-US" sz="900" dirty="0"/>
          </a:p>
        </p:txBody>
      </p:sp>
      <p:sp>
        <p:nvSpPr>
          <p:cNvPr id="13" name="Text 11"/>
          <p:cNvSpPr/>
          <p:nvPr/>
        </p:nvSpPr>
        <p:spPr>
          <a:xfrm>
            <a:off x="960120" y="335584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LOF</a:t>
            </a:r>
            <a:endParaRPr lang="en-US" sz="1050" dirty="0"/>
          </a:p>
        </p:txBody>
      </p:sp>
      <p:sp>
        <p:nvSpPr>
          <p:cNvPr id="14" name="Shape 12"/>
          <p:cNvSpPr/>
          <p:nvPr/>
        </p:nvSpPr>
        <p:spPr>
          <a:xfrm>
            <a:off x="2834640" y="3337560"/>
            <a:ext cx="5669280" cy="310896"/>
          </a:xfrm>
          <a:prstGeom prst="rect">
            <a:avLst/>
          </a:prstGeom>
          <a:solidFill>
            <a:srgbClr val="F4F7FB"/>
          </a:solidFill>
          <a:ln w="12700">
            <a:solidFill>
              <a:srgbClr val="D9E2EF"/>
            </a:solidFill>
            <a:prstDash val="solid"/>
          </a:ln>
        </p:spPr>
      </p:sp>
      <p:sp>
        <p:nvSpPr>
          <p:cNvPr id="15" name="Shape 13"/>
          <p:cNvSpPr/>
          <p:nvPr/>
        </p:nvSpPr>
        <p:spPr>
          <a:xfrm>
            <a:off x="2834640" y="3337560"/>
            <a:ext cx="451714" cy="310896"/>
          </a:xfrm>
          <a:prstGeom prst="rect">
            <a:avLst/>
          </a:prstGeom>
          <a:solidFill>
            <a:srgbClr val="2563EB"/>
          </a:solidFill>
          <a:ln w="12700">
            <a:solidFill>
              <a:srgbClr val="2563EB"/>
            </a:solidFill>
            <a:prstDash val="solid"/>
          </a:ln>
        </p:spPr>
      </p:sp>
      <p:sp>
        <p:nvSpPr>
          <p:cNvPr id="16" name="Text 14"/>
          <p:cNvSpPr/>
          <p:nvPr/>
        </p:nvSpPr>
        <p:spPr>
          <a:xfrm>
            <a:off x="3350362" y="336499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0.076</a:t>
            </a:r>
            <a:endParaRPr lang="en-US" sz="900" dirty="0"/>
          </a:p>
        </p:txBody>
      </p:sp>
      <p:sp>
        <p:nvSpPr>
          <p:cNvPr id="17" name="Text 15"/>
          <p:cNvSpPr/>
          <p:nvPr/>
        </p:nvSpPr>
        <p:spPr>
          <a:xfrm>
            <a:off x="960120" y="41102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Isolation Forest</a:t>
            </a:r>
            <a:endParaRPr lang="en-US" sz="1050" dirty="0"/>
          </a:p>
        </p:txBody>
      </p:sp>
      <p:sp>
        <p:nvSpPr>
          <p:cNvPr id="18" name="Shape 16"/>
          <p:cNvSpPr/>
          <p:nvPr/>
        </p:nvSpPr>
        <p:spPr>
          <a:xfrm>
            <a:off x="2834640" y="4091940"/>
            <a:ext cx="5669280" cy="310896"/>
          </a:xfrm>
          <a:prstGeom prst="rect">
            <a:avLst/>
          </a:prstGeom>
          <a:solidFill>
            <a:srgbClr val="F4F7FB"/>
          </a:solidFill>
          <a:ln w="12700">
            <a:solidFill>
              <a:srgbClr val="D9E2EF"/>
            </a:solidFill>
            <a:prstDash val="solid"/>
          </a:ln>
        </p:spPr>
      </p:sp>
      <p:sp>
        <p:nvSpPr>
          <p:cNvPr id="19" name="Shape 17"/>
          <p:cNvSpPr/>
          <p:nvPr/>
        </p:nvSpPr>
        <p:spPr>
          <a:xfrm>
            <a:off x="2834640" y="4091940"/>
            <a:ext cx="421996" cy="310896"/>
          </a:xfrm>
          <a:prstGeom prst="rect">
            <a:avLst/>
          </a:prstGeom>
          <a:solidFill>
            <a:srgbClr val="2563EB"/>
          </a:solidFill>
          <a:ln w="12700">
            <a:solidFill>
              <a:srgbClr val="2563EB"/>
            </a:solidFill>
            <a:prstDash val="solid"/>
          </a:ln>
        </p:spPr>
      </p:sp>
      <p:sp>
        <p:nvSpPr>
          <p:cNvPr id="20" name="Text 18"/>
          <p:cNvSpPr/>
          <p:nvPr/>
        </p:nvSpPr>
        <p:spPr>
          <a:xfrm>
            <a:off x="3320644" y="4119372"/>
            <a:ext cx="640080" cy="182880"/>
          </a:xfrm>
          <a:prstGeom prst="rect">
            <a:avLst/>
          </a:prstGeom>
          <a:noFill/>
          <a:ln/>
        </p:spPr>
        <p:txBody>
          <a:bodyPr wrap="square" lIns="0" tIns="0" rIns="0" bIns="0" rtlCol="0" anchor="ctr"/>
          <a:lstStyle/>
          <a:p>
            <a:pPr indent="0" marL="0">
              <a:buNone/>
            </a:pPr>
            <a:r>
              <a:rPr lang="en-US" sz="900" dirty="0">
                <a:solidFill>
                  <a:srgbClr val="16213A"/>
                </a:solidFill>
              </a:rPr>
              <a:t>0.071</a:t>
            </a:r>
            <a:endParaRPr lang="en-US" sz="900" dirty="0"/>
          </a:p>
        </p:txBody>
      </p:sp>
      <p:sp>
        <p:nvSpPr>
          <p:cNvPr id="21" name="Text 19"/>
          <p:cNvSpPr/>
          <p:nvPr/>
        </p:nvSpPr>
        <p:spPr>
          <a:xfrm>
            <a:off x="960120" y="5212080"/>
            <a:ext cx="4937760" cy="228600"/>
          </a:xfrm>
          <a:prstGeom prst="rect">
            <a:avLst/>
          </a:prstGeom>
          <a:noFill/>
          <a:ln/>
        </p:spPr>
        <p:txBody>
          <a:bodyPr wrap="square" lIns="0" tIns="0" rIns="0" bIns="0" rtlCol="0" anchor="ctr"/>
          <a:lstStyle/>
          <a:p>
            <a:pPr indent="0" marL="0">
              <a:buNone/>
            </a:pPr>
            <a:r>
              <a:rPr lang="en-US" sz="1000" dirty="0">
                <a:solidFill>
                  <a:srgbClr val="5E6B7A"/>
                </a:solidFill>
              </a:rPr>
              <a:t>Average F1 after calibrated weights</a:t>
            </a:r>
            <a:endParaRPr lang="en-US" sz="1000" dirty="0"/>
          </a:p>
        </p:txBody>
      </p:sp>
      <p:sp>
        <p:nvSpPr>
          <p:cNvPr id="22" name="Text 20"/>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Where AutoAD+ Fails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Harder real and synthetic cases expose weakness.</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Previous-value dead sensors remain difficult</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KDD HTTP strongly favors OCSVM</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Default thresholding hurts real-data F1</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Calibration helps but is dataset-specific</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Overfitting Check</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earlier perfect score was too optimistic.</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Small 24-row benchmark produced inflated scores</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Larger synthetic validation reduced F1 to 0.552</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Five real datasets drop default AutoAD F1 to 0.034</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Conclusion: no general superiority claim yet</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Final Evidence Summary</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Synthetic results are promising; real-world results require calibration.</a:t>
            </a:r>
            <a:endParaRPr lang="en-US" sz="1600" dirty="0"/>
          </a:p>
        </p:txBody>
      </p:sp>
      <p:sp>
        <p:nvSpPr>
          <p:cNvPr id="5" name="Shape 3"/>
          <p:cNvSpPr/>
          <p:nvPr/>
        </p:nvSpPr>
        <p:spPr>
          <a:xfrm>
            <a:off x="713232" y="1856232"/>
            <a:ext cx="10652760" cy="512064"/>
          </a:xfrm>
          <a:prstGeom prst="rect">
            <a:avLst/>
          </a:prstGeom>
          <a:solidFill>
            <a:srgbClr val="16213A"/>
          </a:solidFill>
          <a:ln w="12700">
            <a:solidFill>
              <a:srgbClr val="D9E2EF"/>
            </a:solidFill>
            <a:prstDash val="solid"/>
          </a:ln>
        </p:spPr>
      </p:sp>
      <p:sp>
        <p:nvSpPr>
          <p:cNvPr id="6" name="Text 4"/>
          <p:cNvSpPr/>
          <p:nvPr/>
        </p:nvSpPr>
        <p:spPr>
          <a:xfrm>
            <a:off x="822960" y="1965960"/>
            <a:ext cx="219456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Test</a:t>
            </a:r>
            <a:endParaRPr lang="en-US" sz="1000" dirty="0"/>
          </a:p>
        </p:txBody>
      </p:sp>
      <p:sp>
        <p:nvSpPr>
          <p:cNvPr id="7" name="Text 5"/>
          <p:cNvSpPr/>
          <p:nvPr/>
        </p:nvSpPr>
        <p:spPr>
          <a:xfrm>
            <a:off x="3291840" y="1965960"/>
            <a:ext cx="146304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Winner</a:t>
            </a:r>
            <a:endParaRPr lang="en-US" sz="1000" dirty="0"/>
          </a:p>
        </p:txBody>
      </p:sp>
      <p:sp>
        <p:nvSpPr>
          <p:cNvPr id="8" name="Text 6"/>
          <p:cNvSpPr/>
          <p:nvPr/>
        </p:nvSpPr>
        <p:spPr>
          <a:xfrm>
            <a:off x="5120640" y="1965960"/>
            <a:ext cx="118872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AutoAD rank</a:t>
            </a:r>
            <a:endParaRPr lang="en-US" sz="1000" dirty="0"/>
          </a:p>
        </p:txBody>
      </p:sp>
      <p:sp>
        <p:nvSpPr>
          <p:cNvPr id="9" name="Text 7"/>
          <p:cNvSpPr/>
          <p:nvPr/>
        </p:nvSpPr>
        <p:spPr>
          <a:xfrm>
            <a:off x="6675120" y="1965960"/>
            <a:ext cx="4114800" cy="228600"/>
          </a:xfrm>
          <a:prstGeom prst="rect">
            <a:avLst/>
          </a:prstGeom>
          <a:noFill/>
          <a:ln/>
        </p:spPr>
        <p:txBody>
          <a:bodyPr wrap="square" lIns="0" tIns="0" rIns="0" bIns="0" rtlCol="0" anchor="ctr">
            <a:normAutofit/>
          </a:bodyPr>
          <a:lstStyle/>
          <a:p>
            <a:pPr indent="0" marL="0">
              <a:buNone/>
            </a:pPr>
            <a:r>
              <a:rPr lang="en-US" sz="1000" b="1" dirty="0">
                <a:solidFill>
                  <a:srgbClr val="FFFFFF"/>
                </a:solidFill>
              </a:rPr>
              <a:t>Meaning</a:t>
            </a:r>
            <a:endParaRPr lang="en-US" sz="1000" dirty="0"/>
          </a:p>
        </p:txBody>
      </p:sp>
      <p:sp>
        <p:nvSpPr>
          <p:cNvPr id="10" name="Shape 8"/>
          <p:cNvSpPr/>
          <p:nvPr/>
        </p:nvSpPr>
        <p:spPr>
          <a:xfrm>
            <a:off x="713232" y="2514600"/>
            <a:ext cx="10652760" cy="512064"/>
          </a:xfrm>
          <a:prstGeom prst="rect">
            <a:avLst/>
          </a:prstGeom>
          <a:solidFill>
            <a:srgbClr val="EEF6FF"/>
          </a:solidFill>
          <a:ln w="12700">
            <a:solidFill>
              <a:srgbClr val="D9E2EF"/>
            </a:solidFill>
            <a:prstDash val="solid"/>
          </a:ln>
        </p:spPr>
      </p:sp>
      <p:sp>
        <p:nvSpPr>
          <p:cNvPr id="11" name="Text 9"/>
          <p:cNvSpPr/>
          <p:nvPr/>
        </p:nvSpPr>
        <p:spPr>
          <a:xfrm>
            <a:off x="822960" y="2624328"/>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Synthetic validation</a:t>
            </a:r>
            <a:endParaRPr lang="en-US" sz="1150" dirty="0"/>
          </a:p>
        </p:txBody>
      </p:sp>
      <p:sp>
        <p:nvSpPr>
          <p:cNvPr id="12" name="Text 10"/>
          <p:cNvSpPr/>
          <p:nvPr/>
        </p:nvSpPr>
        <p:spPr>
          <a:xfrm>
            <a:off x="3291840" y="2624328"/>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AutoAD</a:t>
            </a:r>
            <a:endParaRPr lang="en-US" sz="1150" dirty="0"/>
          </a:p>
        </p:txBody>
      </p:sp>
      <p:sp>
        <p:nvSpPr>
          <p:cNvPr id="13" name="Text 11"/>
          <p:cNvSpPr/>
          <p:nvPr/>
        </p:nvSpPr>
        <p:spPr>
          <a:xfrm>
            <a:off x="5120640" y="2624328"/>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1st</a:t>
            </a:r>
            <a:endParaRPr lang="en-US" sz="1150" dirty="0"/>
          </a:p>
        </p:txBody>
      </p:sp>
      <p:sp>
        <p:nvSpPr>
          <p:cNvPr id="14" name="Text 12"/>
          <p:cNvSpPr/>
          <p:nvPr/>
        </p:nvSpPr>
        <p:spPr>
          <a:xfrm>
            <a:off x="6675120" y="2624328"/>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Promising on controlled anomalies</a:t>
            </a:r>
            <a:endParaRPr lang="en-US" sz="1150" dirty="0"/>
          </a:p>
        </p:txBody>
      </p:sp>
      <p:sp>
        <p:nvSpPr>
          <p:cNvPr id="15" name="Shape 13"/>
          <p:cNvSpPr/>
          <p:nvPr/>
        </p:nvSpPr>
        <p:spPr>
          <a:xfrm>
            <a:off x="713232" y="3172968"/>
            <a:ext cx="10652760" cy="512064"/>
          </a:xfrm>
          <a:prstGeom prst="rect">
            <a:avLst/>
          </a:prstGeom>
          <a:solidFill>
            <a:srgbClr val="FFF7ED"/>
          </a:solidFill>
          <a:ln w="12700">
            <a:solidFill>
              <a:srgbClr val="D9E2EF"/>
            </a:solidFill>
            <a:prstDash val="solid"/>
          </a:ln>
        </p:spPr>
      </p:sp>
      <p:sp>
        <p:nvSpPr>
          <p:cNvPr id="16" name="Text 14"/>
          <p:cNvSpPr/>
          <p:nvPr/>
        </p:nvSpPr>
        <p:spPr>
          <a:xfrm>
            <a:off x="822960" y="3282696"/>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Real default</a:t>
            </a:r>
            <a:endParaRPr lang="en-US" sz="1150" dirty="0"/>
          </a:p>
        </p:txBody>
      </p:sp>
      <p:sp>
        <p:nvSpPr>
          <p:cNvPr id="17" name="Text 15"/>
          <p:cNvSpPr/>
          <p:nvPr/>
        </p:nvSpPr>
        <p:spPr>
          <a:xfrm>
            <a:off x="3291840" y="3282696"/>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OCSVM</a:t>
            </a:r>
            <a:endParaRPr lang="en-US" sz="1150" dirty="0"/>
          </a:p>
        </p:txBody>
      </p:sp>
      <p:sp>
        <p:nvSpPr>
          <p:cNvPr id="18" name="Text 16"/>
          <p:cNvSpPr/>
          <p:nvPr/>
        </p:nvSpPr>
        <p:spPr>
          <a:xfrm>
            <a:off x="5120640" y="3282696"/>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4th</a:t>
            </a:r>
            <a:endParaRPr lang="en-US" sz="1150" dirty="0"/>
          </a:p>
        </p:txBody>
      </p:sp>
      <p:sp>
        <p:nvSpPr>
          <p:cNvPr id="19" name="Text 17"/>
          <p:cNvSpPr/>
          <p:nvPr/>
        </p:nvSpPr>
        <p:spPr>
          <a:xfrm>
            <a:off x="6675120" y="3282696"/>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Generalization gap remains</a:t>
            </a:r>
            <a:endParaRPr lang="en-US" sz="1150" dirty="0"/>
          </a:p>
        </p:txBody>
      </p:sp>
      <p:sp>
        <p:nvSpPr>
          <p:cNvPr id="20" name="Shape 18"/>
          <p:cNvSpPr/>
          <p:nvPr/>
        </p:nvSpPr>
        <p:spPr>
          <a:xfrm>
            <a:off x="713232" y="3831336"/>
            <a:ext cx="10652760" cy="512064"/>
          </a:xfrm>
          <a:prstGeom prst="rect">
            <a:avLst/>
          </a:prstGeom>
          <a:solidFill>
            <a:srgbClr val="FFF7ED"/>
          </a:solidFill>
          <a:ln w="12700">
            <a:solidFill>
              <a:srgbClr val="D9E2EF"/>
            </a:solidFill>
            <a:prstDash val="solid"/>
          </a:ln>
        </p:spPr>
      </p:sp>
      <p:sp>
        <p:nvSpPr>
          <p:cNvPr id="21" name="Text 19"/>
          <p:cNvSpPr/>
          <p:nvPr/>
        </p:nvSpPr>
        <p:spPr>
          <a:xfrm>
            <a:off x="822960" y="3941064"/>
            <a:ext cx="219456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Real calibrated</a:t>
            </a:r>
            <a:endParaRPr lang="en-US" sz="1150" dirty="0"/>
          </a:p>
        </p:txBody>
      </p:sp>
      <p:sp>
        <p:nvSpPr>
          <p:cNvPr id="22" name="Text 20"/>
          <p:cNvSpPr/>
          <p:nvPr/>
        </p:nvSpPr>
        <p:spPr>
          <a:xfrm>
            <a:off x="3291840" y="3941064"/>
            <a:ext cx="146304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OCSVM</a:t>
            </a:r>
            <a:endParaRPr lang="en-US" sz="1150" dirty="0"/>
          </a:p>
        </p:txBody>
      </p:sp>
      <p:sp>
        <p:nvSpPr>
          <p:cNvPr id="23" name="Text 21"/>
          <p:cNvSpPr/>
          <p:nvPr/>
        </p:nvSpPr>
        <p:spPr>
          <a:xfrm>
            <a:off x="5120640" y="3941064"/>
            <a:ext cx="118872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2nd</a:t>
            </a:r>
            <a:endParaRPr lang="en-US" sz="1150" dirty="0"/>
          </a:p>
        </p:txBody>
      </p:sp>
      <p:sp>
        <p:nvSpPr>
          <p:cNvPr id="24" name="Text 22"/>
          <p:cNvSpPr/>
          <p:nvPr/>
        </p:nvSpPr>
        <p:spPr>
          <a:xfrm>
            <a:off x="6675120" y="3941064"/>
            <a:ext cx="4114800" cy="228600"/>
          </a:xfrm>
          <a:prstGeom prst="rect">
            <a:avLst/>
          </a:prstGeom>
          <a:noFill/>
          <a:ln/>
        </p:spPr>
        <p:txBody>
          <a:bodyPr wrap="square" lIns="0" tIns="0" rIns="0" bIns="0" rtlCol="0" anchor="ctr">
            <a:normAutofit/>
          </a:bodyPr>
          <a:lstStyle/>
          <a:p>
            <a:pPr indent="0" marL="0">
              <a:buNone/>
            </a:pPr>
            <a:r>
              <a:rPr lang="en-US" sz="1150" dirty="0">
                <a:solidFill>
                  <a:srgbClr val="16213A"/>
                </a:solidFill>
              </a:rPr>
              <a:t>Calibration helps, not enough</a:t>
            </a:r>
            <a:endParaRPr lang="en-US" sz="1150" dirty="0"/>
          </a:p>
        </p:txBody>
      </p:sp>
      <p:sp>
        <p:nvSpPr>
          <p:cNvPr id="25" name="Text 23"/>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How To Run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repo includes reproducible scripts for both evaluation types.</a:t>
            </a:r>
            <a:endParaRPr lang="en-US" sz="1600" dirty="0"/>
          </a:p>
        </p:txBody>
      </p:sp>
      <p:sp>
        <p:nvSpPr>
          <p:cNvPr id="5" name="Shape 3"/>
          <p:cNvSpPr/>
          <p:nvPr/>
        </p:nvSpPr>
        <p:spPr>
          <a:xfrm>
            <a:off x="777240" y="1874520"/>
            <a:ext cx="10515600" cy="676656"/>
          </a:xfrm>
          <a:prstGeom prst="rect">
            <a:avLst/>
          </a:prstGeom>
          <a:solidFill>
            <a:srgbClr val="111827"/>
          </a:solidFill>
          <a:ln w="12700">
            <a:solidFill>
              <a:srgbClr val="111827"/>
            </a:solidFill>
            <a:prstDash val="solid"/>
          </a:ln>
        </p:spPr>
      </p:sp>
      <p:sp>
        <p:nvSpPr>
          <p:cNvPr id="6" name="Text 4"/>
          <p:cNvSpPr/>
          <p:nvPr/>
        </p:nvSpPr>
        <p:spPr>
          <a:xfrm>
            <a:off x="960120" y="208483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scripts\run_synthetic_benchmark.py --config configs\experiments\larger_validation.yaml</a:t>
            </a:r>
            <a:endParaRPr lang="en-US" sz="950" dirty="0"/>
          </a:p>
        </p:txBody>
      </p:sp>
      <p:sp>
        <p:nvSpPr>
          <p:cNvPr id="7" name="Shape 5"/>
          <p:cNvSpPr/>
          <p:nvPr/>
        </p:nvSpPr>
        <p:spPr>
          <a:xfrm>
            <a:off x="777240" y="2926080"/>
            <a:ext cx="10515600" cy="676656"/>
          </a:xfrm>
          <a:prstGeom prst="rect">
            <a:avLst/>
          </a:prstGeom>
          <a:solidFill>
            <a:srgbClr val="111827"/>
          </a:solidFill>
          <a:ln w="12700">
            <a:solidFill>
              <a:srgbClr val="111827"/>
            </a:solidFill>
            <a:prstDash val="solid"/>
          </a:ln>
        </p:spPr>
      </p:sp>
      <p:sp>
        <p:nvSpPr>
          <p:cNvPr id="8" name="Text 6"/>
          <p:cNvSpPr/>
          <p:nvPr/>
        </p:nvSpPr>
        <p:spPr>
          <a:xfrm>
            <a:off x="960120" y="313639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scripts\run_real_data_eval.py --dataset data\external\adb_annthyroid_21feat_normalised.csv::adb_annthyroid::ground_truth --max-rows 10000</a:t>
            </a:r>
            <a:endParaRPr lang="en-US" sz="950" dirty="0"/>
          </a:p>
        </p:txBody>
      </p:sp>
      <p:sp>
        <p:nvSpPr>
          <p:cNvPr id="9" name="Shape 7"/>
          <p:cNvSpPr/>
          <p:nvPr/>
        </p:nvSpPr>
        <p:spPr>
          <a:xfrm>
            <a:off x="777240" y="3977640"/>
            <a:ext cx="10515600" cy="676656"/>
          </a:xfrm>
          <a:prstGeom prst="rect">
            <a:avLst/>
          </a:prstGeom>
          <a:solidFill>
            <a:srgbClr val="111827"/>
          </a:solidFill>
          <a:ln w="12700">
            <a:solidFill>
              <a:srgbClr val="111827"/>
            </a:solidFill>
            <a:prstDash val="solid"/>
          </a:ln>
        </p:spPr>
      </p:sp>
      <p:sp>
        <p:nvSpPr>
          <p:cNvPr id="10" name="Text 8"/>
          <p:cNvSpPr/>
          <p:nvPr/>
        </p:nvSpPr>
        <p:spPr>
          <a:xfrm>
            <a:off x="960120" y="4187952"/>
            <a:ext cx="10149840" cy="201168"/>
          </a:xfrm>
          <a:prstGeom prst="rect">
            <a:avLst/>
          </a:prstGeom>
          <a:noFill/>
          <a:ln/>
        </p:spPr>
        <p:txBody>
          <a:bodyPr wrap="square" lIns="0" tIns="0" rIns="0" bIns="0" rtlCol="0" anchor="ctr">
            <a:normAutofit/>
          </a:bodyPr>
          <a:lstStyle/>
          <a:p>
            <a:pPr indent="0" marL="0">
              <a:buNone/>
            </a:pPr>
            <a:r>
              <a:rPr lang="en-US" sz="950" dirty="0">
                <a:solidFill>
                  <a:srgbClr val="FFFFFF"/>
                </a:solidFill>
                <a:latin typeface="Consolas" pitchFamily="34" charset="0"/>
                <a:ea typeface="Consolas" pitchFamily="34" charset="-122"/>
                <a:cs typeface="Consolas" pitchFamily="34" charset="-120"/>
              </a:rPr>
              <a:t>.venv\Scripts\python.exe scripts\calibrate_ensemble_weights.py --dataset data\external\adb_annthyroid_21feat_normalised.csv --label-column ground_truth</a:t>
            </a:r>
            <a:endParaRPr lang="en-US" sz="950" dirty="0"/>
          </a:p>
        </p:txBody>
      </p:sp>
      <p:sp>
        <p:nvSpPr>
          <p:cNvPr id="11" name="Text 9"/>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Next Improvements</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The clearest next step is dataset-aware meta-selection.</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Choose OCSVM/LOF/IForest when they fit the dataset better</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Learn calibration across many real datasets, not one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Improve thresholding for rare positives</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Keep synthetic and real benchmarks separate</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594360" y="347472"/>
            <a:ext cx="6217920" cy="365760"/>
          </a:xfrm>
          <a:prstGeom prst="rect">
            <a:avLst/>
          </a:prstGeom>
          <a:noFill/>
          <a:ln/>
        </p:spPr>
        <p:txBody>
          <a:bodyPr wrap="square" lIns="0" tIns="0" rIns="0" bIns="0" rtlCol="0" anchor="ctr"/>
          <a:lstStyle/>
          <a:p>
            <a:pPr indent="0" marL="0">
              <a:buNone/>
            </a:pPr>
            <a:r>
              <a:rPr lang="en-US" sz="2100" b="1" dirty="0">
                <a:solidFill>
                  <a:srgbClr val="16213A"/>
                </a:solidFill>
                <a:latin typeface="Aptos Display" pitchFamily="34" charset="0"/>
                <a:ea typeface="Aptos Display" pitchFamily="34" charset="-122"/>
                <a:cs typeface="Aptos Display" pitchFamily="34" charset="-120"/>
              </a:rPr>
              <a:t>Conclusion</a:t>
            </a:r>
            <a:endParaRPr lang="en-US" sz="2100" dirty="0"/>
          </a:p>
        </p:txBody>
      </p:sp>
      <p:sp>
        <p:nvSpPr>
          <p:cNvPr id="4" name="Text 2"/>
          <p:cNvSpPr/>
          <p:nvPr/>
        </p:nvSpPr>
        <p:spPr>
          <a:xfrm>
            <a:off x="594360" y="868680"/>
            <a:ext cx="7680960" cy="502920"/>
          </a:xfrm>
          <a:prstGeom prst="rect">
            <a:avLst/>
          </a:prstGeom>
          <a:noFill/>
          <a:ln/>
        </p:spPr>
        <p:txBody>
          <a:bodyPr wrap="square" lIns="0" tIns="0" rIns="0" bIns="0" rtlCol="0" anchor="ctr">
            <a:normAutofit/>
          </a:bodyPr>
          <a:lstStyle/>
          <a:p>
            <a:pPr indent="0" marL="0">
              <a:buNone/>
            </a:pPr>
            <a:r>
              <a:rPr lang="en-US" sz="1600" dirty="0">
                <a:solidFill>
                  <a:srgbClr val="5E6B7A"/>
                </a:solidFill>
                <a:latin typeface="Aptos" pitchFamily="34" charset="0"/>
                <a:ea typeface="Aptos" pitchFamily="34" charset="-122"/>
                <a:cs typeface="Aptos" pitchFamily="34" charset="-120"/>
              </a:rPr>
              <a:t>AutoAD+ is a strong project prototype, but not a finished universal detector.</a:t>
            </a:r>
            <a:endParaRPr lang="en-US" sz="1600" dirty="0"/>
          </a:p>
        </p:txBody>
      </p:sp>
      <p:sp>
        <p:nvSpPr>
          <p:cNvPr id="5" name="Shape 3"/>
          <p:cNvSpPr/>
          <p:nvPr/>
        </p:nvSpPr>
        <p:spPr>
          <a:xfrm>
            <a:off x="822960" y="1764792"/>
            <a:ext cx="128016" cy="128016"/>
          </a:xfrm>
          <a:prstGeom prst="ellipse">
            <a:avLst/>
          </a:prstGeom>
          <a:solidFill>
            <a:srgbClr val="2563EB"/>
          </a:solidFill>
          <a:ln w="12700">
            <a:solidFill>
              <a:srgbClr val="2563EB"/>
            </a:solidFill>
            <a:prstDash val="solid"/>
          </a:ln>
        </p:spPr>
      </p:sp>
      <p:sp>
        <p:nvSpPr>
          <p:cNvPr id="6" name="Text 4"/>
          <p:cNvSpPr/>
          <p:nvPr/>
        </p:nvSpPr>
        <p:spPr>
          <a:xfrm>
            <a:off x="1115568" y="1691640"/>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Pipeline is implemented end to end</a:t>
            </a:r>
            <a:endParaRPr lang="en-US" sz="1500" dirty="0"/>
          </a:p>
        </p:txBody>
      </p:sp>
      <p:sp>
        <p:nvSpPr>
          <p:cNvPr id="7" name="Shape 5"/>
          <p:cNvSpPr/>
          <p:nvPr/>
        </p:nvSpPr>
        <p:spPr>
          <a:xfrm>
            <a:off x="822960" y="2423160"/>
            <a:ext cx="128016" cy="128016"/>
          </a:xfrm>
          <a:prstGeom prst="ellipse">
            <a:avLst/>
          </a:prstGeom>
          <a:solidFill>
            <a:srgbClr val="2563EB"/>
          </a:solidFill>
          <a:ln w="12700">
            <a:solidFill>
              <a:srgbClr val="2563EB"/>
            </a:solidFill>
            <a:prstDash val="solid"/>
          </a:ln>
        </p:spPr>
      </p:sp>
      <p:sp>
        <p:nvSpPr>
          <p:cNvPr id="8" name="Text 6"/>
          <p:cNvSpPr/>
          <p:nvPr/>
        </p:nvSpPr>
        <p:spPr>
          <a:xfrm>
            <a:off x="1115568" y="2350008"/>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Synthetic evaluation shows a modest ensemble advantage</a:t>
            </a:r>
            <a:endParaRPr lang="en-US" sz="1500" dirty="0"/>
          </a:p>
        </p:txBody>
      </p:sp>
      <p:sp>
        <p:nvSpPr>
          <p:cNvPr id="9" name="Shape 7"/>
          <p:cNvSpPr/>
          <p:nvPr/>
        </p:nvSpPr>
        <p:spPr>
          <a:xfrm>
            <a:off x="822960" y="3081528"/>
            <a:ext cx="128016" cy="128016"/>
          </a:xfrm>
          <a:prstGeom prst="ellipse">
            <a:avLst/>
          </a:prstGeom>
          <a:solidFill>
            <a:srgbClr val="2563EB"/>
          </a:solidFill>
          <a:ln w="12700">
            <a:solidFill>
              <a:srgbClr val="2563EB"/>
            </a:solidFill>
            <a:prstDash val="solid"/>
          </a:ln>
        </p:spPr>
      </p:sp>
      <p:sp>
        <p:nvSpPr>
          <p:cNvPr id="10" name="Text 8"/>
          <p:cNvSpPr/>
          <p:nvPr/>
        </p:nvSpPr>
        <p:spPr>
          <a:xfrm>
            <a:off x="1115568" y="3008376"/>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Calibration improves real-data F1</a:t>
            </a:r>
            <a:endParaRPr lang="en-US" sz="1500" dirty="0"/>
          </a:p>
        </p:txBody>
      </p:sp>
      <p:sp>
        <p:nvSpPr>
          <p:cNvPr id="11" name="Shape 9"/>
          <p:cNvSpPr/>
          <p:nvPr/>
        </p:nvSpPr>
        <p:spPr>
          <a:xfrm>
            <a:off x="822960" y="3739896"/>
            <a:ext cx="128016" cy="128016"/>
          </a:xfrm>
          <a:prstGeom prst="ellipse">
            <a:avLst/>
          </a:prstGeom>
          <a:solidFill>
            <a:srgbClr val="2563EB"/>
          </a:solidFill>
          <a:ln w="12700">
            <a:solidFill>
              <a:srgbClr val="2563EB"/>
            </a:solidFill>
            <a:prstDash val="solid"/>
          </a:ln>
        </p:spPr>
      </p:sp>
      <p:sp>
        <p:nvSpPr>
          <p:cNvPr id="12" name="Text 10"/>
          <p:cNvSpPr/>
          <p:nvPr/>
        </p:nvSpPr>
        <p:spPr>
          <a:xfrm>
            <a:off x="1115568" y="3666744"/>
            <a:ext cx="7132320" cy="347472"/>
          </a:xfrm>
          <a:prstGeom prst="rect">
            <a:avLst/>
          </a:prstGeom>
          <a:noFill/>
          <a:ln/>
        </p:spPr>
        <p:txBody>
          <a:bodyPr wrap="square" lIns="0" tIns="0" rIns="0" bIns="0" rtlCol="0" anchor="ctr">
            <a:normAutofit/>
          </a:bodyPr>
          <a:lstStyle/>
          <a:p>
            <a:pPr indent="0" marL="0">
              <a:buNone/>
            </a:pPr>
            <a:r>
              <a:rPr lang="en-US" sz="1500" dirty="0">
                <a:solidFill>
                  <a:srgbClr val="16213A"/>
                </a:solidFill>
              </a:rPr>
              <a:t>OCSVM still wins across five real datasets</a:t>
            </a:r>
            <a:endParaRPr lang="en-US" sz="15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2563EB"/>
          </a:solidFill>
          <a:ln w="12700">
            <a:solidFill>
              <a:srgbClr val="2563EB"/>
            </a:solidFill>
            <a:prstDash val="solid"/>
          </a:ln>
        </p:spPr>
      </p:sp>
      <p:sp>
        <p:nvSpPr>
          <p:cNvPr id="3" name="Text 1"/>
          <p:cNvSpPr/>
          <p:nvPr/>
        </p:nvSpPr>
        <p:spPr>
          <a:xfrm>
            <a:off x="749808" y="2148840"/>
            <a:ext cx="4206240" cy="731520"/>
          </a:xfrm>
          <a:prstGeom prst="rect">
            <a:avLst/>
          </a:prstGeom>
          <a:noFill/>
          <a:ln/>
        </p:spPr>
        <p:txBody>
          <a:bodyPr wrap="square" lIns="0" tIns="0" rIns="0" bIns="0" rtlCol="0" anchor="ctr"/>
          <a:lstStyle/>
          <a:p>
            <a:pPr indent="0" marL="0">
              <a:buNone/>
            </a:pPr>
            <a:r>
              <a:rPr lang="en-US" sz="4800" b="1" dirty="0">
                <a:solidFill>
                  <a:srgbClr val="16213A"/>
                </a:solidFill>
              </a:rPr>
              <a:t>AutoAD+</a:t>
            </a:r>
            <a:endParaRPr lang="en-US" sz="4800" dirty="0"/>
          </a:p>
        </p:txBody>
      </p:sp>
      <p:sp>
        <p:nvSpPr>
          <p:cNvPr id="4" name="Text 2"/>
          <p:cNvSpPr/>
          <p:nvPr/>
        </p:nvSpPr>
        <p:spPr>
          <a:xfrm>
            <a:off x="786384" y="3063240"/>
            <a:ext cx="7132320" cy="320040"/>
          </a:xfrm>
          <a:prstGeom prst="rect">
            <a:avLst/>
          </a:prstGeom>
          <a:noFill/>
          <a:ln/>
        </p:spPr>
        <p:txBody>
          <a:bodyPr wrap="square" lIns="0" tIns="0" rIns="0" bIns="0" rtlCol="0" anchor="ctr"/>
          <a:lstStyle/>
          <a:p>
            <a:pPr indent="0" marL="0">
              <a:buNone/>
            </a:pPr>
            <a:r>
              <a:rPr lang="en-US" sz="1700" dirty="0">
                <a:solidFill>
                  <a:srgbClr val="2563EB"/>
                </a:solidFill>
              </a:rPr>
              <a:t>Self-configuring anomaly detection with reproducible evidence</a:t>
            </a:r>
            <a:endParaRPr lang="en-US" sz="1700" dirty="0"/>
          </a:p>
        </p:txBody>
      </p:sp>
      <p:sp>
        <p:nvSpPr>
          <p:cNvPr id="5" name="Text 3"/>
          <p:cNvSpPr/>
          <p:nvPr/>
        </p:nvSpPr>
        <p:spPr>
          <a:xfrm>
            <a:off x="7315200" y="21671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Synthetic</a:t>
            </a:r>
            <a:endParaRPr lang="en-US" sz="1050" dirty="0"/>
          </a:p>
        </p:txBody>
      </p:sp>
      <p:sp>
        <p:nvSpPr>
          <p:cNvPr id="6" name="Shape 4"/>
          <p:cNvSpPr/>
          <p:nvPr/>
        </p:nvSpPr>
        <p:spPr>
          <a:xfrm>
            <a:off x="9189720" y="2148840"/>
            <a:ext cx="1463040" cy="310896"/>
          </a:xfrm>
          <a:prstGeom prst="rect">
            <a:avLst/>
          </a:prstGeom>
          <a:solidFill>
            <a:srgbClr val="F4F7FB"/>
          </a:solidFill>
          <a:ln w="12700">
            <a:solidFill>
              <a:srgbClr val="D9E2EF"/>
            </a:solidFill>
            <a:prstDash val="solid"/>
          </a:ln>
        </p:spPr>
      </p:sp>
      <p:sp>
        <p:nvSpPr>
          <p:cNvPr id="7" name="Shape 5"/>
          <p:cNvSpPr/>
          <p:nvPr/>
        </p:nvSpPr>
        <p:spPr>
          <a:xfrm>
            <a:off x="9189720" y="2148840"/>
            <a:ext cx="959023" cy="310896"/>
          </a:xfrm>
          <a:prstGeom prst="rect">
            <a:avLst/>
          </a:prstGeom>
          <a:solidFill>
            <a:srgbClr val="0891B2"/>
          </a:solidFill>
          <a:ln w="12700">
            <a:solidFill>
              <a:srgbClr val="0891B2"/>
            </a:solidFill>
            <a:prstDash val="solid"/>
          </a:ln>
        </p:spPr>
      </p:sp>
      <p:sp>
        <p:nvSpPr>
          <p:cNvPr id="8" name="Text 6"/>
          <p:cNvSpPr/>
          <p:nvPr/>
        </p:nvSpPr>
        <p:spPr>
          <a:xfrm>
            <a:off x="10212751" y="2176272"/>
            <a:ext cx="640080" cy="182880"/>
          </a:xfrm>
          <a:prstGeom prst="rect">
            <a:avLst/>
          </a:prstGeom>
          <a:noFill/>
          <a:ln/>
        </p:spPr>
        <p:txBody>
          <a:bodyPr wrap="square" lIns="0" tIns="0" rIns="0" bIns="0" rtlCol="0" anchor="ctr"/>
          <a:lstStyle/>
          <a:p>
            <a:pPr indent="0" marL="0">
              <a:buNone/>
            </a:pPr>
            <a:r>
              <a:rPr lang="en-US" sz="900" dirty="0">
                <a:solidFill>
                  <a:srgbClr val="16213A"/>
                </a:solidFill>
              </a:rPr>
              <a:t>0.552</a:t>
            </a:r>
            <a:endParaRPr lang="en-US" sz="900" dirty="0"/>
          </a:p>
        </p:txBody>
      </p:sp>
      <p:sp>
        <p:nvSpPr>
          <p:cNvPr id="9" name="Text 7"/>
          <p:cNvSpPr/>
          <p:nvPr/>
        </p:nvSpPr>
        <p:spPr>
          <a:xfrm>
            <a:off x="7315200" y="2852928"/>
            <a:ext cx="1737360" cy="256032"/>
          </a:xfrm>
          <a:prstGeom prst="rect">
            <a:avLst/>
          </a:prstGeom>
          <a:noFill/>
          <a:ln/>
        </p:spPr>
        <p:txBody>
          <a:bodyPr wrap="square" lIns="0" tIns="0" rIns="0" bIns="0" rtlCol="0" anchor="ctr">
            <a:normAutofit/>
          </a:bodyPr>
          <a:lstStyle/>
          <a:p>
            <a:pPr indent="0" marL="0">
              <a:buNone/>
            </a:pPr>
            <a:r>
              <a:rPr lang="en-US" sz="1050" dirty="0">
                <a:solidFill>
                  <a:srgbClr val="16213A"/>
                </a:solidFill>
              </a:rPr>
              <a:t>Real calibrated</a:t>
            </a:r>
            <a:endParaRPr lang="en-US" sz="1050" dirty="0"/>
          </a:p>
        </p:txBody>
      </p:sp>
      <p:sp>
        <p:nvSpPr>
          <p:cNvPr id="10" name="Shape 8"/>
          <p:cNvSpPr/>
          <p:nvPr/>
        </p:nvSpPr>
        <p:spPr>
          <a:xfrm>
            <a:off x="9189720" y="2834640"/>
            <a:ext cx="1463040" cy="310896"/>
          </a:xfrm>
          <a:prstGeom prst="rect">
            <a:avLst/>
          </a:prstGeom>
          <a:solidFill>
            <a:srgbClr val="F4F7FB"/>
          </a:solidFill>
          <a:ln w="12700">
            <a:solidFill>
              <a:srgbClr val="D9E2EF"/>
            </a:solidFill>
            <a:prstDash val="solid"/>
          </a:ln>
        </p:spPr>
      </p:sp>
      <p:sp>
        <p:nvSpPr>
          <p:cNvPr id="11" name="Shape 9"/>
          <p:cNvSpPr/>
          <p:nvPr/>
        </p:nvSpPr>
        <p:spPr>
          <a:xfrm>
            <a:off x="9189720" y="2834640"/>
            <a:ext cx="206746" cy="310896"/>
          </a:xfrm>
          <a:prstGeom prst="rect">
            <a:avLst/>
          </a:prstGeom>
          <a:solidFill>
            <a:srgbClr val="0891B2"/>
          </a:solidFill>
          <a:ln w="12700">
            <a:solidFill>
              <a:srgbClr val="0891B2"/>
            </a:solidFill>
            <a:prstDash val="solid"/>
          </a:ln>
        </p:spPr>
      </p:sp>
      <p:sp>
        <p:nvSpPr>
          <p:cNvPr id="12" name="Text 10"/>
          <p:cNvSpPr/>
          <p:nvPr/>
        </p:nvSpPr>
        <p:spPr>
          <a:xfrm>
            <a:off x="9460474" y="2862072"/>
            <a:ext cx="640080" cy="182880"/>
          </a:xfrm>
          <a:prstGeom prst="rect">
            <a:avLst/>
          </a:prstGeom>
          <a:noFill/>
          <a:ln/>
        </p:spPr>
        <p:txBody>
          <a:bodyPr wrap="square" lIns="0" tIns="0" rIns="0" bIns="0" rtlCol="0" anchor="ctr"/>
          <a:lstStyle/>
          <a:p>
            <a:pPr indent="0" marL="0">
              <a:buNone/>
            </a:pPr>
            <a:r>
              <a:rPr lang="en-US" sz="900" dirty="0">
                <a:solidFill>
                  <a:srgbClr val="16213A"/>
                </a:solidFill>
              </a:rPr>
              <a:t>0.119</a:t>
            </a:r>
            <a:endParaRPr lang="en-US" sz="900" dirty="0"/>
          </a:p>
        </p:txBody>
      </p:sp>
      <p:sp>
        <p:nvSpPr>
          <p:cNvPr id="13" name="Text 11"/>
          <p:cNvSpPr/>
          <p:nvPr/>
        </p:nvSpPr>
        <p:spPr>
          <a:xfrm>
            <a:off x="594360" y="6473952"/>
            <a:ext cx="3200400" cy="182880"/>
          </a:xfrm>
          <a:prstGeom prst="rect">
            <a:avLst/>
          </a:prstGeom>
          <a:noFill/>
          <a:ln/>
        </p:spPr>
        <p:txBody>
          <a:bodyPr wrap="square" lIns="0" tIns="0" rIns="0" bIns="0" rtlCol="0" anchor="ctr"/>
          <a:lstStyle/>
          <a:p>
            <a:pPr indent="0" marL="0">
              <a:buNone/>
            </a:pPr>
            <a:r>
              <a:rPr lang="en-US" sz="700" dirty="0">
                <a:solidFill>
                  <a:srgbClr val="8A95A5"/>
                </a:solidFill>
              </a:rPr>
              <a:t>AutoAD+ project | 30</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CENG AI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AutoAD+ Project Presentation</dc:title>
  <dc:subject>AutoAD+ anomaly detection project presentation</dc:subject>
  <dc:creator>AutoAD+ project</dc:creator>
  <cp:lastModifiedBy>AutoAD+ project</cp:lastModifiedBy>
  <cp:revision>1</cp:revision>
  <dcterms:created xsi:type="dcterms:W3CDTF">2026-05-09T21:54:00Z</dcterms:created>
  <dcterms:modified xsi:type="dcterms:W3CDTF">2026-05-09T21:54:00Z</dcterms:modified>
</cp:coreProperties>
</file>