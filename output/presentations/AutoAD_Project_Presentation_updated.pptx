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AutoAD+ as an unsupervised anomaly detection project. The goal is not just to run one model, but to automatically analyze a dataset, choose detectors, combine their signals, and report anomalies with comparable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anomaly detection often looks good on one dataset and then fails on another. Point out that distance, density, tree, and temporal anomalies are different, so a single detector is rarely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proposal is about a self-configuring hybrid system. Emphasize the word self-configuring: the pipeline should inspect the data and then decide how to process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left to right. CSV or API data enters the system, numeric features are profiled, candidate models are selected, each model is tuned, scores are normalized, then the ensemble produces final anomaly scores and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labels are not used to train the model. In experiments, labels are held aside and only used to calculate F1, ROC-AUC, and PR-AUC.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layer lets the system make decisions from data properties. For example, a dataset with enough rows may use LOF, while larger or higher-dimensional datasets can activate neural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model menu. Isolation Forest, OCSVM, and LOF are the popular baselines. Autoencoder and LSTM are optional components when the dataset is large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optimization is unsupervised: the objective uses score spread or reconstruction loss, not ground-truth labels. This keeps the training process 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point is complementarity. A global spike, a local density break, and a temporal block may each be easier for a different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was added: the original model missed dead-sensor cases because median-like values can look normal to distance models. The domain detector helps, but it is gated so it does not always dominate.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algorithms output scores in different scales. If we simply average raw scores, one model can dominate by accident. Normalization and weighting make the ensemble more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the ensemble may not be exactly F1 at the 95th percentile. AutoAD now uses the data distribution to find a gap when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is not supervised anomaly training. Labels are used only in validation to learn which score source is best for a type of dataset. At runtime, the model still scores the uploaded data without row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latest implementation change. The older selector compared only dataset shape values. The new selector adds diagnostics from actual detector score distributions, then trains a Random Forest to predict which score source should be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why this should help in principle. If OCSVM creates a sharp high-score tail while the ensemble is flat, that is useful evidence for selecting OCSVM. The selector now has access to these score-shape clues.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designed to make results visible, not just return a black-box label. The API gives scores, labels, weights, and optional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model design to evaluation. Stress that synthetic tests show whether known anomaly types can be found, while multiple real datasets test whether the model generalizes beyond the designed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larger synthetic benchmark is not just the tiny 24-row smoke test. It repeats and jitters rows to create a larger controlled set, then varies seeds and anomaly strengths.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scenarios and explain the purpose. Dead sensor has multiple modes: median, zero, previous value, and random constant. This makes the evaluation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real evaluation is now broader than Annthyroid. KDD has native attack labels. Glass and Pendigits are not native anomaly datasets, so rare-class or one-vs-rest labels are derived for benchmark-style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right comparisons because they are widely used unsupervised anomaly detection methods and are also components inside AutoAD.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AutoAD reaches average F1 of 0.552. Isolation Forest is close at 0.519, OCSVM at 0.500, and LOF trails at 0.372. This is a modest synthetic advantage, not a broad superiority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synthetic ROC-AUC result is stronger: AutoAD scores 0.912, ahead of OCSVM, Isolation Forest, and LOF. This means ranking is good in controlled tests even when thresholded F1 is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honesty slide. Default AutoAD averages only 0.034 F1 across the five real datasets. OCSVM leads because it performs extremely well on KDDCup99 HTTP. The synthetic win does not transfer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AutoAD has average ROC-AUC of 0.737, close to Isolation Forest and above LOF. That means ranking is not terrible, but the final thresholding and ensemble weights do not convert ranking into good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calibrated weights and expected-contamination thresholding improves AutoAD average F1 from 0.034 to 0.119. This is a real improvement, but OCSVM remains best overall at 0.236. Calibration helps but does not fully generalize.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show maturity. The project does not hide failures. AutoAD is useful as a framework, but it still needs meta-selection and calibration that generalize across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overfitting concern directly. The model was improved after seeing failure cases, so broader validation was necessary. The broader results are more realistic and more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final evidence summary. It gives the audience a balanced conclusion: AutoAD wins the synthetic validation, calibrated AutoAD improves on real data, but OCSVM remains strongest overall across the five real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newest experiment. Emphasize that leave-one-dataset-out is stricter than in-sample evaluation because each dataset is hidden while the selector is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is the correct test for the meta-selector. In-sample results can look strong because the selector has already seen the answer for that dataset. LODO removes that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bars carefully. Learned in-sample F1 is about 0.317, nearly the same as the previous meta-selected result. But under leave-one-dataset-out it falls to 0.066, below the previous LODO result of 0.133.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learned selector also drops in ROC-AUC under LODO: about 0.528. This means the problem is not just thresholding. The selector is sometimes choosing the wrong score source for the hidden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the failure pattern. KDD HTTP is the clearest issue: it was matched to Annthyroid and selected the ensemble, but the dataset strongly favors OCSVM or freeze-style behavior. Pendigits also moved to LOF and lost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here. The right scientific conclusion is not that the learned selector is useless. It is that the current training set is too small. The method needs more datasets before it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recommendation. The code path is valuable, but the model selection policy should not switch to learned selector by default until it improves on LODO.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these commands reproduce the main reported results. The CSV outputs are written under the results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next step was to build dataset-aware meta-selection. That is now implemented. The updated next step is to feed it enough real validation datasets and tune it against leave-one-dataset-out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updated balanced message. The project satisfies the core proposal as a self-configuring hybrid anomaly detector with evaluation. The new learned-selector experiment is valuable because it shows what still does not generalize.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inviting questions. If asked what matters most, answer: the pipeline works, synthetic results are promising, calibration helps, but the broader real-data test shows that generalization is the main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713232" y="1325880"/>
            <a:ext cx="4937760" cy="822960"/>
          </a:xfrm>
          <a:prstGeom prst="rect">
            <a:avLst/>
          </a:prstGeom>
          <a:noFill/>
          <a:ln/>
        </p:spPr>
        <p:txBody>
          <a:bodyPr wrap="square" lIns="0" tIns="0" rIns="0" bIns="0" rtlCol="0" anchor="ctr"/>
          <a:lstStyle/>
          <a:p>
            <a:pPr indent="0" marL="0">
              <a:buNone/>
            </a:pPr>
            <a:r>
              <a:rPr lang="en-US" sz="5600" b="1" dirty="0">
                <a:solidFill>
                  <a:srgbClr val="16213A"/>
                </a:solidFill>
                <a:latin typeface="Aptos Display" pitchFamily="34" charset="0"/>
                <a:ea typeface="Aptos Display" pitchFamily="34" charset="-122"/>
                <a:cs typeface="Aptos Display" pitchFamily="34" charset="-120"/>
              </a:rPr>
              <a:t>AutoAD+</a:t>
            </a:r>
            <a:endParaRPr lang="en-US" sz="5600" dirty="0"/>
          </a:p>
        </p:txBody>
      </p:sp>
      <p:sp>
        <p:nvSpPr>
          <p:cNvPr id="4" name="Text 2"/>
          <p:cNvSpPr/>
          <p:nvPr/>
        </p:nvSpPr>
        <p:spPr>
          <a:xfrm>
            <a:off x="758952" y="2331720"/>
            <a:ext cx="6309360" cy="411480"/>
          </a:xfrm>
          <a:prstGeom prst="rect">
            <a:avLst/>
          </a:prstGeom>
          <a:noFill/>
          <a:ln/>
        </p:spPr>
        <p:txBody>
          <a:bodyPr wrap="square" lIns="0" tIns="0" rIns="0" bIns="0" rtlCol="0" anchor="ctr"/>
          <a:lstStyle/>
          <a:p>
            <a:pPr indent="0" marL="0">
              <a:buNone/>
            </a:pPr>
            <a:r>
              <a:rPr lang="en-US" sz="1900" dirty="0">
                <a:solidFill>
                  <a:srgbClr val="2563EB"/>
                </a:solidFill>
              </a:rPr>
              <a:t>A self-configuring hybrid anomaly detection system</a:t>
            </a:r>
            <a:endParaRPr lang="en-US" sz="1900" dirty="0"/>
          </a:p>
        </p:txBody>
      </p:sp>
      <p:sp>
        <p:nvSpPr>
          <p:cNvPr id="5" name="Text 3"/>
          <p:cNvSpPr/>
          <p:nvPr/>
        </p:nvSpPr>
        <p:spPr>
          <a:xfrm>
            <a:off x="777240" y="2971800"/>
            <a:ext cx="5303520" cy="384048"/>
          </a:xfrm>
          <a:prstGeom prst="rect">
            <a:avLst/>
          </a:prstGeom>
          <a:noFill/>
          <a:ln/>
        </p:spPr>
        <p:txBody>
          <a:bodyPr wrap="square" lIns="0" tIns="0" rIns="0" bIns="0" rtlCol="0" anchor="ctr"/>
          <a:lstStyle/>
          <a:p>
            <a:pPr indent="0" marL="0">
              <a:buNone/>
            </a:pPr>
            <a:r>
              <a:rPr lang="en-US" sz="1500" dirty="0">
                <a:solidFill>
                  <a:srgbClr val="5E6B7A"/>
                </a:solidFill>
              </a:rPr>
              <a:t>Model pipeline, datasets, and benchmark evidence</a:t>
            </a:r>
            <a:endParaRPr lang="en-US" sz="1500" dirty="0"/>
          </a:p>
        </p:txBody>
      </p:sp>
      <p:sp>
        <p:nvSpPr>
          <p:cNvPr id="6" name="Text 4"/>
          <p:cNvSpPr/>
          <p:nvPr/>
        </p:nvSpPr>
        <p:spPr>
          <a:xfrm>
            <a:off x="7360920" y="16184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Input</a:t>
            </a:r>
            <a:endParaRPr lang="en-US" sz="1050" dirty="0"/>
          </a:p>
        </p:txBody>
      </p:sp>
      <p:sp>
        <p:nvSpPr>
          <p:cNvPr id="7" name="Shape 5"/>
          <p:cNvSpPr/>
          <p:nvPr/>
        </p:nvSpPr>
        <p:spPr>
          <a:xfrm>
            <a:off x="9235440" y="1600200"/>
            <a:ext cx="1645920" cy="310896"/>
          </a:xfrm>
          <a:prstGeom prst="rect">
            <a:avLst/>
          </a:prstGeom>
          <a:solidFill>
            <a:srgbClr val="F4F7FB"/>
          </a:solidFill>
          <a:ln w="12700">
            <a:solidFill>
              <a:srgbClr val="D9E2EF"/>
            </a:solidFill>
            <a:prstDash val="solid"/>
          </a:ln>
        </p:spPr>
      </p:sp>
      <p:sp>
        <p:nvSpPr>
          <p:cNvPr id="8" name="Shape 6"/>
          <p:cNvSpPr/>
          <p:nvPr/>
        </p:nvSpPr>
        <p:spPr>
          <a:xfrm>
            <a:off x="9235440" y="1600200"/>
            <a:ext cx="1824228" cy="310896"/>
          </a:xfrm>
          <a:prstGeom prst="rect">
            <a:avLst/>
          </a:prstGeom>
          <a:solidFill>
            <a:srgbClr val="0891B2"/>
          </a:solidFill>
          <a:ln w="12700">
            <a:solidFill>
              <a:srgbClr val="0891B2"/>
            </a:solidFill>
            <a:prstDash val="solid"/>
          </a:ln>
        </p:spPr>
      </p:sp>
      <p:sp>
        <p:nvSpPr>
          <p:cNvPr id="9" name="Text 7"/>
          <p:cNvSpPr/>
          <p:nvPr/>
        </p:nvSpPr>
        <p:spPr>
          <a:xfrm>
            <a:off x="11123676" y="1627632"/>
            <a:ext cx="640080" cy="182880"/>
          </a:xfrm>
          <a:prstGeom prst="rect">
            <a:avLst/>
          </a:prstGeom>
          <a:noFill/>
          <a:ln/>
        </p:spPr>
        <p:txBody>
          <a:bodyPr wrap="square" lIns="0" tIns="0" rIns="0" bIns="0" rtlCol="0" anchor="ctr"/>
          <a:lstStyle/>
          <a:p>
            <a:pPr indent="0" marL="0">
              <a:buNone/>
            </a:pPr>
            <a:r>
              <a:rPr lang="en-US" sz="900" dirty="0">
                <a:solidFill>
                  <a:srgbClr val="16213A"/>
                </a:solidFill>
              </a:rPr>
              <a:t>0.950</a:t>
            </a:r>
            <a:endParaRPr lang="en-US" sz="900" dirty="0"/>
          </a:p>
        </p:txBody>
      </p:sp>
      <p:sp>
        <p:nvSpPr>
          <p:cNvPr id="10" name="Text 8"/>
          <p:cNvSpPr/>
          <p:nvPr/>
        </p:nvSpPr>
        <p:spPr>
          <a:xfrm>
            <a:off x="7360920" y="21899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Analyze</a:t>
            </a:r>
            <a:endParaRPr lang="en-US" sz="1050" dirty="0"/>
          </a:p>
        </p:txBody>
      </p:sp>
      <p:sp>
        <p:nvSpPr>
          <p:cNvPr id="11" name="Shape 9"/>
          <p:cNvSpPr/>
          <p:nvPr/>
        </p:nvSpPr>
        <p:spPr>
          <a:xfrm>
            <a:off x="9235440" y="2171700"/>
            <a:ext cx="1645920" cy="310896"/>
          </a:xfrm>
          <a:prstGeom prst="rect">
            <a:avLst/>
          </a:prstGeom>
          <a:solidFill>
            <a:srgbClr val="F4F7FB"/>
          </a:solidFill>
          <a:ln w="12700">
            <a:solidFill>
              <a:srgbClr val="D9E2EF"/>
            </a:solidFill>
            <a:prstDash val="solid"/>
          </a:ln>
        </p:spPr>
      </p:sp>
      <p:sp>
        <p:nvSpPr>
          <p:cNvPr id="12" name="Shape 10"/>
          <p:cNvSpPr/>
          <p:nvPr/>
        </p:nvSpPr>
        <p:spPr>
          <a:xfrm>
            <a:off x="9235440" y="2171700"/>
            <a:ext cx="1574597" cy="310896"/>
          </a:xfrm>
          <a:prstGeom prst="rect">
            <a:avLst/>
          </a:prstGeom>
          <a:solidFill>
            <a:srgbClr val="0891B2"/>
          </a:solidFill>
          <a:ln w="12700">
            <a:solidFill>
              <a:srgbClr val="0891B2"/>
            </a:solidFill>
            <a:prstDash val="solid"/>
          </a:ln>
        </p:spPr>
      </p:sp>
      <p:sp>
        <p:nvSpPr>
          <p:cNvPr id="13" name="Text 11"/>
          <p:cNvSpPr/>
          <p:nvPr/>
        </p:nvSpPr>
        <p:spPr>
          <a:xfrm>
            <a:off x="10874045" y="2199132"/>
            <a:ext cx="640080" cy="182880"/>
          </a:xfrm>
          <a:prstGeom prst="rect">
            <a:avLst/>
          </a:prstGeom>
          <a:noFill/>
          <a:ln/>
        </p:spPr>
        <p:txBody>
          <a:bodyPr wrap="square" lIns="0" tIns="0" rIns="0" bIns="0" rtlCol="0" anchor="ctr"/>
          <a:lstStyle/>
          <a:p>
            <a:pPr indent="0" marL="0">
              <a:buNone/>
            </a:pPr>
            <a:r>
              <a:rPr lang="en-US" sz="900" dirty="0">
                <a:solidFill>
                  <a:srgbClr val="16213A"/>
                </a:solidFill>
              </a:rPr>
              <a:t>0.820</a:t>
            </a:r>
            <a:endParaRPr lang="en-US" sz="900" dirty="0"/>
          </a:p>
        </p:txBody>
      </p:sp>
      <p:sp>
        <p:nvSpPr>
          <p:cNvPr id="14" name="Text 12"/>
          <p:cNvSpPr/>
          <p:nvPr/>
        </p:nvSpPr>
        <p:spPr>
          <a:xfrm>
            <a:off x="7360920" y="27614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Ensemble</a:t>
            </a:r>
            <a:endParaRPr lang="en-US" sz="1050" dirty="0"/>
          </a:p>
        </p:txBody>
      </p:sp>
      <p:sp>
        <p:nvSpPr>
          <p:cNvPr id="15" name="Shape 13"/>
          <p:cNvSpPr/>
          <p:nvPr/>
        </p:nvSpPr>
        <p:spPr>
          <a:xfrm>
            <a:off x="9235440" y="2743200"/>
            <a:ext cx="1645920" cy="310896"/>
          </a:xfrm>
          <a:prstGeom prst="rect">
            <a:avLst/>
          </a:prstGeom>
          <a:solidFill>
            <a:srgbClr val="F4F7FB"/>
          </a:solidFill>
          <a:ln w="12700">
            <a:solidFill>
              <a:srgbClr val="D9E2EF"/>
            </a:solidFill>
            <a:prstDash val="solid"/>
          </a:ln>
        </p:spPr>
      </p:sp>
      <p:sp>
        <p:nvSpPr>
          <p:cNvPr id="16" name="Shape 14"/>
          <p:cNvSpPr/>
          <p:nvPr/>
        </p:nvSpPr>
        <p:spPr>
          <a:xfrm>
            <a:off x="9235440" y="2743200"/>
            <a:ext cx="1459382" cy="310896"/>
          </a:xfrm>
          <a:prstGeom prst="rect">
            <a:avLst/>
          </a:prstGeom>
          <a:solidFill>
            <a:srgbClr val="0891B2"/>
          </a:solidFill>
          <a:ln w="12700">
            <a:solidFill>
              <a:srgbClr val="0891B2"/>
            </a:solidFill>
            <a:prstDash val="solid"/>
          </a:ln>
        </p:spPr>
      </p:sp>
      <p:sp>
        <p:nvSpPr>
          <p:cNvPr id="17" name="Text 15"/>
          <p:cNvSpPr/>
          <p:nvPr/>
        </p:nvSpPr>
        <p:spPr>
          <a:xfrm>
            <a:off x="10758830" y="2770632"/>
            <a:ext cx="640080" cy="182880"/>
          </a:xfrm>
          <a:prstGeom prst="rect">
            <a:avLst/>
          </a:prstGeom>
          <a:noFill/>
          <a:ln/>
        </p:spPr>
        <p:txBody>
          <a:bodyPr wrap="square" lIns="0" tIns="0" rIns="0" bIns="0" rtlCol="0" anchor="ctr"/>
          <a:lstStyle/>
          <a:p>
            <a:pPr indent="0" marL="0">
              <a:buNone/>
            </a:pPr>
            <a:r>
              <a:rPr lang="en-US" sz="900" dirty="0">
                <a:solidFill>
                  <a:srgbClr val="16213A"/>
                </a:solidFill>
              </a:rPr>
              <a:t>0.760</a:t>
            </a:r>
            <a:endParaRPr lang="en-US" sz="900" dirty="0"/>
          </a:p>
        </p:txBody>
      </p:sp>
      <p:sp>
        <p:nvSpPr>
          <p:cNvPr id="18" name="Text 16"/>
          <p:cNvSpPr/>
          <p:nvPr/>
        </p:nvSpPr>
        <p:spPr>
          <a:xfrm>
            <a:off x="7360920" y="33329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Evaluate</a:t>
            </a:r>
            <a:endParaRPr lang="en-US" sz="1050" dirty="0"/>
          </a:p>
        </p:txBody>
      </p:sp>
      <p:sp>
        <p:nvSpPr>
          <p:cNvPr id="19" name="Shape 17"/>
          <p:cNvSpPr/>
          <p:nvPr/>
        </p:nvSpPr>
        <p:spPr>
          <a:xfrm>
            <a:off x="9235440" y="3314700"/>
            <a:ext cx="1645920" cy="310896"/>
          </a:xfrm>
          <a:prstGeom prst="rect">
            <a:avLst/>
          </a:prstGeom>
          <a:solidFill>
            <a:srgbClr val="F4F7FB"/>
          </a:solidFill>
          <a:ln w="12700">
            <a:solidFill>
              <a:srgbClr val="D9E2EF"/>
            </a:solidFill>
            <a:prstDash val="solid"/>
          </a:ln>
        </p:spPr>
      </p:sp>
      <p:sp>
        <p:nvSpPr>
          <p:cNvPr id="20" name="Shape 18"/>
          <p:cNvSpPr/>
          <p:nvPr/>
        </p:nvSpPr>
        <p:spPr>
          <a:xfrm>
            <a:off x="9235440" y="3314700"/>
            <a:ext cx="1286561" cy="310896"/>
          </a:xfrm>
          <a:prstGeom prst="rect">
            <a:avLst/>
          </a:prstGeom>
          <a:solidFill>
            <a:srgbClr val="0891B2"/>
          </a:solidFill>
          <a:ln w="12700">
            <a:solidFill>
              <a:srgbClr val="0891B2"/>
            </a:solidFill>
            <a:prstDash val="solid"/>
          </a:ln>
        </p:spPr>
      </p:sp>
      <p:sp>
        <p:nvSpPr>
          <p:cNvPr id="21" name="Text 19"/>
          <p:cNvSpPr/>
          <p:nvPr/>
        </p:nvSpPr>
        <p:spPr>
          <a:xfrm>
            <a:off x="10586009" y="3342132"/>
            <a:ext cx="640080" cy="182880"/>
          </a:xfrm>
          <a:prstGeom prst="rect">
            <a:avLst/>
          </a:prstGeom>
          <a:noFill/>
          <a:ln/>
        </p:spPr>
        <p:txBody>
          <a:bodyPr wrap="square" lIns="0" tIns="0" rIns="0" bIns="0" rtlCol="0" anchor="ctr"/>
          <a:lstStyle/>
          <a:p>
            <a:pPr indent="0" marL="0">
              <a:buNone/>
            </a:pPr>
            <a:r>
              <a:rPr lang="en-US" sz="900" dirty="0">
                <a:solidFill>
                  <a:srgbClr val="16213A"/>
                </a:solidFill>
              </a:rPr>
              <a:t>0.670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The Problem</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Unsupervised anomaly detection is fragile when the data shape changes.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Different anomalies need different detectors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Thresholds are usually guessed</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Small demos can overstate performance</a:t>
            </a:r>
            <a:endParaRPr lang="en-US" sz="1500" dirty="0"/>
          </a:p>
        </p:txBody>
      </p:sp>
      <p:sp>
        <p:nvSpPr>
          <p:cNvPr id="11" name="Text 9"/>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Project Goal</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Build a model that adapts before it predicts.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Analyze the uploaded table</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Select suitable detectors</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Optimize and normalize model scores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Compare against known baselines</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System View</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is a layered pipeline, not a single algorithm.</a:t>
            </a:r>
            <a:endParaRPr lang="en-US" sz="1600" dirty="0"/>
          </a:p>
        </p:txBody>
      </p:sp>
      <p:sp>
        <p:nvSpPr>
          <p:cNvPr id="5" name="Shape 3"/>
          <p:cNvSpPr/>
          <p:nvPr/>
        </p:nvSpPr>
        <p:spPr>
          <a:xfrm>
            <a:off x="685800" y="2514600"/>
            <a:ext cx="1664208" cy="822960"/>
          </a:xfrm>
          <a:prstGeom prst="rect">
            <a:avLst>
              <a:gd name="adj" fmla="val 8889"/>
            </a:avLst>
          </a:prstGeom>
          <a:solidFill>
            <a:srgbClr val="E8F0FF"/>
          </a:solidFill>
          <a:ln w="12700">
            <a:solidFill>
              <a:srgbClr val="D9E2EF"/>
            </a:solidFill>
            <a:prstDash val="solid"/>
          </a:ln>
        </p:spPr>
      </p:sp>
      <p:sp>
        <p:nvSpPr>
          <p:cNvPr id="6" name="Text 4"/>
          <p:cNvSpPr/>
          <p:nvPr/>
        </p:nvSpPr>
        <p:spPr>
          <a:xfrm>
            <a:off x="795528" y="2779776"/>
            <a:ext cx="1444752" cy="219456"/>
          </a:xfrm>
          <a:prstGeom prst="rect">
            <a:avLst/>
          </a:prstGeom>
          <a:noFill/>
          <a:ln/>
        </p:spPr>
        <p:txBody>
          <a:bodyPr wrap="square" lIns="0" tIns="0" rIns="0" bIns="0" rtlCol="0" anchor="ctr">
            <a:normAutofit/>
          </a:bodyPr>
          <a:lstStyle/>
          <a:p>
            <a:pPr algn="ctr" indent="0" marL="0">
              <a:buNone/>
            </a:pPr>
            <a:r>
              <a:rPr lang="en-US" sz="1200" b="1" dirty="0">
                <a:solidFill>
                  <a:srgbClr val="16213A"/>
                </a:solidFill>
              </a:rPr>
              <a:t>Input</a:t>
            </a:r>
            <a:endParaRPr lang="en-US" sz="1200" dirty="0"/>
          </a:p>
        </p:txBody>
      </p:sp>
      <p:sp>
        <p:nvSpPr>
          <p:cNvPr id="7" name="Text 5"/>
          <p:cNvSpPr/>
          <p:nvPr/>
        </p:nvSpPr>
        <p:spPr>
          <a:xfrm>
            <a:off x="2386584" y="2761488"/>
            <a:ext cx="128016" cy="182880"/>
          </a:xfrm>
          <a:prstGeom prst="rect">
            <a:avLst/>
          </a:prstGeom>
          <a:noFill/>
          <a:ln/>
        </p:spPr>
        <p:txBody>
          <a:bodyPr wrap="square" lIns="0" tIns="0" rIns="0" bIns="0" rtlCol="0" anchor="ctr"/>
          <a:lstStyle/>
          <a:p>
            <a:pPr indent="0" marL="0">
              <a:buNone/>
            </a:pPr>
            <a:r>
              <a:rPr lang="en-US" sz="1400" dirty="0">
                <a:solidFill>
                  <a:srgbClr val="5E6B7A"/>
                </a:solidFill>
              </a:rPr>
              <a:t>&gt;</a:t>
            </a:r>
            <a:endParaRPr lang="en-US" sz="1400" dirty="0"/>
          </a:p>
        </p:txBody>
      </p:sp>
      <p:sp>
        <p:nvSpPr>
          <p:cNvPr id="8" name="Shape 6"/>
          <p:cNvSpPr/>
          <p:nvPr/>
        </p:nvSpPr>
        <p:spPr>
          <a:xfrm>
            <a:off x="2514600" y="2514600"/>
            <a:ext cx="1664208" cy="822960"/>
          </a:xfrm>
          <a:prstGeom prst="rect">
            <a:avLst>
              <a:gd name="adj" fmla="val 8889"/>
            </a:avLst>
          </a:prstGeom>
          <a:solidFill>
            <a:srgbClr val="E0F2FE"/>
          </a:solidFill>
          <a:ln w="12700">
            <a:solidFill>
              <a:srgbClr val="D9E2EF"/>
            </a:solidFill>
            <a:prstDash val="solid"/>
          </a:ln>
        </p:spPr>
      </p:sp>
      <p:sp>
        <p:nvSpPr>
          <p:cNvPr id="9" name="Text 7"/>
          <p:cNvSpPr/>
          <p:nvPr/>
        </p:nvSpPr>
        <p:spPr>
          <a:xfrm>
            <a:off x="2624328" y="2779776"/>
            <a:ext cx="1444752" cy="219456"/>
          </a:xfrm>
          <a:prstGeom prst="rect">
            <a:avLst/>
          </a:prstGeom>
          <a:noFill/>
          <a:ln/>
        </p:spPr>
        <p:txBody>
          <a:bodyPr wrap="square" lIns="0" tIns="0" rIns="0" bIns="0" rtlCol="0" anchor="ctr">
            <a:normAutofit/>
          </a:bodyPr>
          <a:lstStyle/>
          <a:p>
            <a:pPr algn="ctr" indent="0" marL="0">
              <a:buNone/>
            </a:pPr>
            <a:r>
              <a:rPr lang="en-US" sz="1200" b="1" dirty="0">
                <a:solidFill>
                  <a:srgbClr val="16213A"/>
                </a:solidFill>
              </a:rPr>
              <a:t>Analysis</a:t>
            </a:r>
            <a:endParaRPr lang="en-US" sz="1200" dirty="0"/>
          </a:p>
        </p:txBody>
      </p:sp>
      <p:sp>
        <p:nvSpPr>
          <p:cNvPr id="10" name="Text 8"/>
          <p:cNvSpPr/>
          <p:nvPr/>
        </p:nvSpPr>
        <p:spPr>
          <a:xfrm>
            <a:off x="4215384" y="2761488"/>
            <a:ext cx="128016" cy="182880"/>
          </a:xfrm>
          <a:prstGeom prst="rect">
            <a:avLst/>
          </a:prstGeom>
          <a:noFill/>
          <a:ln/>
        </p:spPr>
        <p:txBody>
          <a:bodyPr wrap="square" lIns="0" tIns="0" rIns="0" bIns="0" rtlCol="0" anchor="ctr"/>
          <a:lstStyle/>
          <a:p>
            <a:pPr indent="0" marL="0">
              <a:buNone/>
            </a:pPr>
            <a:r>
              <a:rPr lang="en-US" sz="1400" dirty="0">
                <a:solidFill>
                  <a:srgbClr val="5E6B7A"/>
                </a:solidFill>
              </a:rPr>
              <a:t>&gt;</a:t>
            </a:r>
            <a:endParaRPr lang="en-US" sz="1400" dirty="0"/>
          </a:p>
        </p:txBody>
      </p:sp>
      <p:sp>
        <p:nvSpPr>
          <p:cNvPr id="11" name="Shape 9"/>
          <p:cNvSpPr/>
          <p:nvPr/>
        </p:nvSpPr>
        <p:spPr>
          <a:xfrm>
            <a:off x="4343400" y="2514600"/>
            <a:ext cx="1664208" cy="822960"/>
          </a:xfrm>
          <a:prstGeom prst="rect">
            <a:avLst>
              <a:gd name="adj" fmla="val 8889"/>
            </a:avLst>
          </a:prstGeom>
          <a:solidFill>
            <a:srgbClr val="E8F0FF"/>
          </a:solidFill>
          <a:ln w="12700">
            <a:solidFill>
              <a:srgbClr val="D9E2EF"/>
            </a:solidFill>
            <a:prstDash val="solid"/>
          </a:ln>
        </p:spPr>
      </p:sp>
      <p:sp>
        <p:nvSpPr>
          <p:cNvPr id="12" name="Text 10"/>
          <p:cNvSpPr/>
          <p:nvPr/>
        </p:nvSpPr>
        <p:spPr>
          <a:xfrm>
            <a:off x="4453128" y="2779776"/>
            <a:ext cx="1444752" cy="219456"/>
          </a:xfrm>
          <a:prstGeom prst="rect">
            <a:avLst/>
          </a:prstGeom>
          <a:noFill/>
          <a:ln/>
        </p:spPr>
        <p:txBody>
          <a:bodyPr wrap="square" lIns="0" tIns="0" rIns="0" bIns="0" rtlCol="0" anchor="ctr">
            <a:normAutofit/>
          </a:bodyPr>
          <a:lstStyle/>
          <a:p>
            <a:pPr algn="ctr" indent="0" marL="0">
              <a:buNone/>
            </a:pPr>
            <a:r>
              <a:rPr lang="en-US" sz="1200" b="1" dirty="0">
                <a:solidFill>
                  <a:srgbClr val="16213A"/>
                </a:solidFill>
              </a:rPr>
              <a:t>Optimization</a:t>
            </a:r>
            <a:endParaRPr lang="en-US" sz="1200" dirty="0"/>
          </a:p>
        </p:txBody>
      </p:sp>
      <p:sp>
        <p:nvSpPr>
          <p:cNvPr id="13" name="Text 11"/>
          <p:cNvSpPr/>
          <p:nvPr/>
        </p:nvSpPr>
        <p:spPr>
          <a:xfrm>
            <a:off x="6044184" y="2761488"/>
            <a:ext cx="128016" cy="182880"/>
          </a:xfrm>
          <a:prstGeom prst="rect">
            <a:avLst/>
          </a:prstGeom>
          <a:noFill/>
          <a:ln/>
        </p:spPr>
        <p:txBody>
          <a:bodyPr wrap="square" lIns="0" tIns="0" rIns="0" bIns="0" rtlCol="0" anchor="ctr"/>
          <a:lstStyle/>
          <a:p>
            <a:pPr indent="0" marL="0">
              <a:buNone/>
            </a:pPr>
            <a:r>
              <a:rPr lang="en-US" sz="1400" dirty="0">
                <a:solidFill>
                  <a:srgbClr val="5E6B7A"/>
                </a:solidFill>
              </a:rPr>
              <a:t>&gt;</a:t>
            </a:r>
            <a:endParaRPr lang="en-US" sz="1400" dirty="0"/>
          </a:p>
        </p:txBody>
      </p:sp>
      <p:sp>
        <p:nvSpPr>
          <p:cNvPr id="14" name="Shape 12"/>
          <p:cNvSpPr/>
          <p:nvPr/>
        </p:nvSpPr>
        <p:spPr>
          <a:xfrm>
            <a:off x="6172200" y="2514600"/>
            <a:ext cx="1664208" cy="822960"/>
          </a:xfrm>
          <a:prstGeom prst="rect">
            <a:avLst>
              <a:gd name="adj" fmla="val 8889"/>
            </a:avLst>
          </a:prstGeom>
          <a:solidFill>
            <a:srgbClr val="E0F2FE"/>
          </a:solidFill>
          <a:ln w="12700">
            <a:solidFill>
              <a:srgbClr val="D9E2EF"/>
            </a:solidFill>
            <a:prstDash val="solid"/>
          </a:ln>
        </p:spPr>
      </p:sp>
      <p:sp>
        <p:nvSpPr>
          <p:cNvPr id="15" name="Text 13"/>
          <p:cNvSpPr/>
          <p:nvPr/>
        </p:nvSpPr>
        <p:spPr>
          <a:xfrm>
            <a:off x="6281928" y="2779776"/>
            <a:ext cx="1444752" cy="219456"/>
          </a:xfrm>
          <a:prstGeom prst="rect">
            <a:avLst/>
          </a:prstGeom>
          <a:noFill/>
          <a:ln/>
        </p:spPr>
        <p:txBody>
          <a:bodyPr wrap="square" lIns="0" tIns="0" rIns="0" bIns="0" rtlCol="0" anchor="ctr">
            <a:normAutofit/>
          </a:bodyPr>
          <a:lstStyle/>
          <a:p>
            <a:pPr algn="ctr" indent="0" marL="0">
              <a:buNone/>
            </a:pPr>
            <a:r>
              <a:rPr lang="en-US" sz="1200" b="1" dirty="0">
                <a:solidFill>
                  <a:srgbClr val="16213A"/>
                </a:solidFill>
              </a:rPr>
              <a:t>Core Models</a:t>
            </a:r>
            <a:endParaRPr lang="en-US" sz="1200" dirty="0"/>
          </a:p>
        </p:txBody>
      </p:sp>
      <p:sp>
        <p:nvSpPr>
          <p:cNvPr id="16" name="Text 14"/>
          <p:cNvSpPr/>
          <p:nvPr/>
        </p:nvSpPr>
        <p:spPr>
          <a:xfrm>
            <a:off x="7872984" y="2761488"/>
            <a:ext cx="128016" cy="182880"/>
          </a:xfrm>
          <a:prstGeom prst="rect">
            <a:avLst/>
          </a:prstGeom>
          <a:noFill/>
          <a:ln/>
        </p:spPr>
        <p:txBody>
          <a:bodyPr wrap="square" lIns="0" tIns="0" rIns="0" bIns="0" rtlCol="0" anchor="ctr"/>
          <a:lstStyle/>
          <a:p>
            <a:pPr indent="0" marL="0">
              <a:buNone/>
            </a:pPr>
            <a:r>
              <a:rPr lang="en-US" sz="1400" dirty="0">
                <a:solidFill>
                  <a:srgbClr val="5E6B7A"/>
                </a:solidFill>
              </a:rPr>
              <a:t>&gt;</a:t>
            </a:r>
            <a:endParaRPr lang="en-US" sz="1400" dirty="0"/>
          </a:p>
        </p:txBody>
      </p:sp>
      <p:sp>
        <p:nvSpPr>
          <p:cNvPr id="17" name="Shape 15"/>
          <p:cNvSpPr/>
          <p:nvPr/>
        </p:nvSpPr>
        <p:spPr>
          <a:xfrm>
            <a:off x="8001000" y="2514600"/>
            <a:ext cx="1664208" cy="822960"/>
          </a:xfrm>
          <a:prstGeom prst="rect">
            <a:avLst>
              <a:gd name="adj" fmla="val 8889"/>
            </a:avLst>
          </a:prstGeom>
          <a:solidFill>
            <a:srgbClr val="E8F0FF"/>
          </a:solidFill>
          <a:ln w="12700">
            <a:solidFill>
              <a:srgbClr val="D9E2EF"/>
            </a:solidFill>
            <a:prstDash val="solid"/>
          </a:ln>
        </p:spPr>
      </p:sp>
      <p:sp>
        <p:nvSpPr>
          <p:cNvPr id="18" name="Text 16"/>
          <p:cNvSpPr/>
          <p:nvPr/>
        </p:nvSpPr>
        <p:spPr>
          <a:xfrm>
            <a:off x="8110728" y="2779776"/>
            <a:ext cx="1444752" cy="219456"/>
          </a:xfrm>
          <a:prstGeom prst="rect">
            <a:avLst/>
          </a:prstGeom>
          <a:noFill/>
          <a:ln/>
        </p:spPr>
        <p:txBody>
          <a:bodyPr wrap="square" lIns="0" tIns="0" rIns="0" bIns="0" rtlCol="0" anchor="ctr">
            <a:normAutofit/>
          </a:bodyPr>
          <a:lstStyle/>
          <a:p>
            <a:pPr algn="ctr" indent="0" marL="0">
              <a:buNone/>
            </a:pPr>
            <a:r>
              <a:rPr lang="en-US" sz="1200" b="1" dirty="0">
                <a:solidFill>
                  <a:srgbClr val="16213A"/>
                </a:solidFill>
              </a:rPr>
              <a:t>Ensemble</a:t>
            </a:r>
            <a:endParaRPr lang="en-US" sz="1200" dirty="0"/>
          </a:p>
        </p:txBody>
      </p:sp>
      <p:sp>
        <p:nvSpPr>
          <p:cNvPr id="19" name="Text 17"/>
          <p:cNvSpPr/>
          <p:nvPr/>
        </p:nvSpPr>
        <p:spPr>
          <a:xfrm>
            <a:off x="9701784" y="2761488"/>
            <a:ext cx="128016" cy="182880"/>
          </a:xfrm>
          <a:prstGeom prst="rect">
            <a:avLst/>
          </a:prstGeom>
          <a:noFill/>
          <a:ln/>
        </p:spPr>
        <p:txBody>
          <a:bodyPr wrap="square" lIns="0" tIns="0" rIns="0" bIns="0" rtlCol="0" anchor="ctr"/>
          <a:lstStyle/>
          <a:p>
            <a:pPr indent="0" marL="0">
              <a:buNone/>
            </a:pPr>
            <a:r>
              <a:rPr lang="en-US" sz="1400" dirty="0">
                <a:solidFill>
                  <a:srgbClr val="5E6B7A"/>
                </a:solidFill>
              </a:rPr>
              <a:t>&gt;</a:t>
            </a:r>
            <a:endParaRPr lang="en-US" sz="1400" dirty="0"/>
          </a:p>
        </p:txBody>
      </p:sp>
      <p:sp>
        <p:nvSpPr>
          <p:cNvPr id="20" name="Shape 18"/>
          <p:cNvSpPr/>
          <p:nvPr/>
        </p:nvSpPr>
        <p:spPr>
          <a:xfrm>
            <a:off x="9829800" y="2514600"/>
            <a:ext cx="1664208" cy="822960"/>
          </a:xfrm>
          <a:prstGeom prst="rect">
            <a:avLst>
              <a:gd name="adj" fmla="val 8889"/>
            </a:avLst>
          </a:prstGeom>
          <a:solidFill>
            <a:srgbClr val="E0F2FE"/>
          </a:solidFill>
          <a:ln w="12700">
            <a:solidFill>
              <a:srgbClr val="D9E2EF"/>
            </a:solidFill>
            <a:prstDash val="solid"/>
          </a:ln>
        </p:spPr>
      </p:sp>
      <p:sp>
        <p:nvSpPr>
          <p:cNvPr id="21" name="Text 19"/>
          <p:cNvSpPr/>
          <p:nvPr/>
        </p:nvSpPr>
        <p:spPr>
          <a:xfrm>
            <a:off x="9939528" y="2779776"/>
            <a:ext cx="1444752" cy="219456"/>
          </a:xfrm>
          <a:prstGeom prst="rect">
            <a:avLst/>
          </a:prstGeom>
          <a:noFill/>
          <a:ln/>
        </p:spPr>
        <p:txBody>
          <a:bodyPr wrap="square" lIns="0" tIns="0" rIns="0" bIns="0" rtlCol="0" anchor="ctr">
            <a:normAutofit/>
          </a:bodyPr>
          <a:lstStyle/>
          <a:p>
            <a:pPr algn="ctr" indent="0" marL="0">
              <a:buNone/>
            </a:pPr>
            <a:r>
              <a:rPr lang="en-US" sz="1200" b="1" dirty="0">
                <a:solidFill>
                  <a:srgbClr val="16213A"/>
                </a:solidFill>
              </a:rPr>
              <a:t>Results</a:t>
            </a:r>
            <a:endParaRPr lang="en-US" sz="1200" dirty="0"/>
          </a:p>
        </p:txBody>
      </p:sp>
      <p:sp>
        <p:nvSpPr>
          <p:cNvPr id="22" name="Text 20"/>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Input Layer</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system accepts tabular data and keeps the model unsupervised.</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CSV, API, or database source</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Numeric features are extracted</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Known label columns are excluded from training</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Labels are used only for evaluation</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Analysis Layer</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Before modeling, AutoAD+ measures the dataset.</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Rows and numeric feature count</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Missing rate and zero rate</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Variance, skewness, kurtosis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Correlation and entropy signals</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Model Selection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Candidate detectors are chosen from the data profile.</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Isolation Forest for global outliers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One-Class SVM for boundary learning</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LOF for local density anomalies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Autoencoder and LSTM when data size supports them</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Optimization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Each detector is tuned automatically with Optuna.</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Isolation Forest: tree count and sample fraction</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OCSVM: nu and gamma</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LOF: neighbor count and distance metric</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Neural models: hidden size and learning rate</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Core Detectors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model combines complementary views of abnormality.</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Tree isolation score</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Kernel boundary score</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Local density score</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Reconstruction error</a:t>
            </a:r>
            <a:endParaRPr lang="en-US" sz="1500" dirty="0"/>
          </a:p>
        </p:txBody>
      </p:sp>
      <p:sp>
        <p:nvSpPr>
          <p:cNvPr id="13" name="Shape 11"/>
          <p:cNvSpPr/>
          <p:nvPr/>
        </p:nvSpPr>
        <p:spPr>
          <a:xfrm>
            <a:off x="822960" y="4398264"/>
            <a:ext cx="128016" cy="128016"/>
          </a:xfrm>
          <a:prstGeom prst="ellipse">
            <a:avLst/>
          </a:prstGeom>
          <a:solidFill>
            <a:srgbClr val="2563EB"/>
          </a:solidFill>
          <a:ln w="12700">
            <a:solidFill>
              <a:srgbClr val="2563EB"/>
            </a:solidFill>
            <a:prstDash val="solid"/>
          </a:ln>
        </p:spPr>
      </p:sp>
      <p:sp>
        <p:nvSpPr>
          <p:cNvPr id="14" name="Text 12"/>
          <p:cNvSpPr/>
          <p:nvPr/>
        </p:nvSpPr>
        <p:spPr>
          <a:xfrm>
            <a:off x="1115568" y="4325112"/>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Sequence reconstruction error</a:t>
            </a:r>
            <a:endParaRPr lang="en-US" sz="1500" dirty="0"/>
          </a:p>
        </p:txBody>
      </p:sp>
      <p:sp>
        <p:nvSpPr>
          <p:cNvPr id="15" name="Text 13"/>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Domain Detectors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latest version adds targeted signals for sensor-style failures.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Flatline / dead-sensor score</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Temporal-change score</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Median-centrality and repeated-value evidence</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Detector gating to avoid false dominance</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Score Normalization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Raw detector scores are not directly comparable.</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Scores are clipped at robust percentiles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Each score stream is scaled to a common range</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The ensemble uses reliability-weighted contributions</a:t>
            </a:r>
            <a:endParaRPr lang="en-US" sz="1500" dirty="0"/>
          </a:p>
        </p:txBody>
      </p:sp>
      <p:sp>
        <p:nvSpPr>
          <p:cNvPr id="11" name="Text 9"/>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Adaptive Thresholding</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final label is produced by an adaptive score-gap threshold.</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Searches for separation near top scores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Falls back to percentile behavior when separation is weak</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Reports threshold metadata to the API/UI</a:t>
            </a:r>
            <a:endParaRPr lang="en-US" sz="1500" dirty="0"/>
          </a:p>
        </p:txBody>
      </p:sp>
      <p:sp>
        <p:nvSpPr>
          <p:cNvPr id="11" name="Text 9"/>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Meta-Selection Layer</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can switch from the ensemble to the detector that best fits a dataset.</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Profiles are learned from labeled validation results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Candidate sources include ensemble, IForest, OCSVM, LOF, and temporal-change</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The selected source also supplies expected-contamination thresholding</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The selector records which training dataset it matched</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Learned Selector Upgrade</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newest version replaces nearest-profile matching with a small classifier.</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Runtime trains a Random Forest selector from profile rows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Feature vector combines dataset shape and score diagnostics</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Each detector contributes distribution statistics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Fallback remains nearest-profile matching when learned vectors are unavailable</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Selector Features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learned selector uses richer evidence than row and column counts.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Dataset shape: rows, features, sparsity, correlations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Score spread: mean, standard deviation, percentiles</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Tail behavior: top-one-percent gap and max-to-p99 gap</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Skewness: whether scores form a heavy anomaly tail</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Output</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result is both a prediction and an explanation surface.</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Anomaly score per row</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Binary anomaly flag</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Model weights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Per-model normalized scores</a:t>
            </a:r>
            <a:endParaRPr lang="en-US" sz="1500" dirty="0"/>
          </a:p>
        </p:txBody>
      </p:sp>
      <p:sp>
        <p:nvSpPr>
          <p:cNvPr id="13" name="Shape 11"/>
          <p:cNvSpPr/>
          <p:nvPr/>
        </p:nvSpPr>
        <p:spPr>
          <a:xfrm>
            <a:off x="822960" y="4398264"/>
            <a:ext cx="128016" cy="128016"/>
          </a:xfrm>
          <a:prstGeom prst="ellipse">
            <a:avLst/>
          </a:prstGeom>
          <a:solidFill>
            <a:srgbClr val="2563EB"/>
          </a:solidFill>
          <a:ln w="12700">
            <a:solidFill>
              <a:srgbClr val="2563EB"/>
            </a:solidFill>
            <a:prstDash val="solid"/>
          </a:ln>
        </p:spPr>
      </p:sp>
      <p:sp>
        <p:nvSpPr>
          <p:cNvPr id="14" name="Text 12"/>
          <p:cNvSpPr/>
          <p:nvPr/>
        </p:nvSpPr>
        <p:spPr>
          <a:xfrm>
            <a:off x="1115568" y="4325112"/>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Evaluation metrics when labels exist</a:t>
            </a:r>
            <a:endParaRPr lang="en-US" sz="1500" dirty="0"/>
          </a:p>
        </p:txBody>
      </p:sp>
      <p:sp>
        <p:nvSpPr>
          <p:cNvPr id="15" name="Text 13"/>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1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731520" y="2103120"/>
            <a:ext cx="8686800" cy="594360"/>
          </a:xfrm>
          <a:prstGeom prst="rect">
            <a:avLst/>
          </a:prstGeom>
          <a:noFill/>
          <a:ln/>
        </p:spPr>
        <p:txBody>
          <a:bodyPr wrap="square" lIns="0" tIns="0" rIns="0" bIns="0" rtlCol="0" anchor="ctr"/>
          <a:lstStyle/>
          <a:p>
            <a:pPr indent="0" marL="0">
              <a:buNone/>
            </a:pPr>
            <a:r>
              <a:rPr lang="en-US" sz="3800" b="1" dirty="0">
                <a:solidFill>
                  <a:srgbClr val="FFFFFF"/>
                </a:solidFill>
              </a:rPr>
              <a:t>Datasets</a:t>
            </a:r>
            <a:endParaRPr lang="en-US" sz="3800" dirty="0"/>
          </a:p>
        </p:txBody>
      </p:sp>
      <p:sp>
        <p:nvSpPr>
          <p:cNvPr id="4" name="Text 2"/>
          <p:cNvSpPr/>
          <p:nvPr/>
        </p:nvSpPr>
        <p:spPr>
          <a:xfrm>
            <a:off x="768096" y="2880360"/>
            <a:ext cx="7589520" cy="347472"/>
          </a:xfrm>
          <a:prstGeom prst="rect">
            <a:avLst/>
          </a:prstGeom>
          <a:noFill/>
          <a:ln/>
        </p:spPr>
        <p:txBody>
          <a:bodyPr wrap="square" lIns="0" tIns="0" rIns="0" bIns="0" rtlCol="0" anchor="ctr"/>
          <a:lstStyle/>
          <a:p>
            <a:pPr indent="0" marL="0">
              <a:buNone/>
            </a:pPr>
            <a:r>
              <a:rPr lang="en-US" sz="1600" dirty="0">
                <a:solidFill>
                  <a:srgbClr val="D8E4F8"/>
                </a:solidFill>
              </a:rPr>
              <a:t>The project uses controlled synthetic tests and multiple real labeled benchmarks.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Synthetic Dataset</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Controlled anomalies are injected into server-metric data.</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Base: server metrics CSV</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Expanded to 120 rows with small jitter</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54 validation runs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Three random seeds</a:t>
            </a:r>
            <a:endParaRPr lang="en-US" sz="1500" dirty="0"/>
          </a:p>
        </p:txBody>
      </p:sp>
      <p:sp>
        <p:nvSpPr>
          <p:cNvPr id="13" name="Shape 11"/>
          <p:cNvSpPr/>
          <p:nvPr/>
        </p:nvSpPr>
        <p:spPr>
          <a:xfrm>
            <a:off x="822960" y="4398264"/>
            <a:ext cx="128016" cy="128016"/>
          </a:xfrm>
          <a:prstGeom prst="ellipse">
            <a:avLst/>
          </a:prstGeom>
          <a:solidFill>
            <a:srgbClr val="2563EB"/>
          </a:solidFill>
          <a:ln w="12700">
            <a:solidFill>
              <a:srgbClr val="2563EB"/>
            </a:solidFill>
            <a:prstDash val="solid"/>
          </a:ln>
        </p:spPr>
      </p:sp>
      <p:sp>
        <p:nvSpPr>
          <p:cNvPr id="14" name="Text 12"/>
          <p:cNvSpPr/>
          <p:nvPr/>
        </p:nvSpPr>
        <p:spPr>
          <a:xfrm>
            <a:off x="1115568" y="4325112"/>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Multiple contamination levels</a:t>
            </a:r>
            <a:endParaRPr lang="en-US" sz="1500" dirty="0"/>
          </a:p>
        </p:txBody>
      </p:sp>
      <p:sp>
        <p:nvSpPr>
          <p:cNvPr id="15" name="Text 13"/>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Synthetic Scenarios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benchmark checks multiple anomaly families.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Single-feature spikes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Joint shifts</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Scale bursts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Temporal blocks</a:t>
            </a:r>
            <a:endParaRPr lang="en-US" sz="1500" dirty="0"/>
          </a:p>
        </p:txBody>
      </p:sp>
      <p:sp>
        <p:nvSpPr>
          <p:cNvPr id="13" name="Shape 11"/>
          <p:cNvSpPr/>
          <p:nvPr/>
        </p:nvSpPr>
        <p:spPr>
          <a:xfrm>
            <a:off x="822960" y="4398264"/>
            <a:ext cx="128016" cy="128016"/>
          </a:xfrm>
          <a:prstGeom prst="ellipse">
            <a:avLst/>
          </a:prstGeom>
          <a:solidFill>
            <a:srgbClr val="2563EB"/>
          </a:solidFill>
          <a:ln w="12700">
            <a:solidFill>
              <a:srgbClr val="2563EB"/>
            </a:solidFill>
            <a:prstDash val="solid"/>
          </a:ln>
        </p:spPr>
      </p:sp>
      <p:sp>
        <p:nvSpPr>
          <p:cNvPr id="14" name="Text 12"/>
          <p:cNvSpPr/>
          <p:nvPr/>
        </p:nvSpPr>
        <p:spPr>
          <a:xfrm>
            <a:off x="1115568" y="4325112"/>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Dead sensor variants</a:t>
            </a:r>
            <a:endParaRPr lang="en-US" sz="1500" dirty="0"/>
          </a:p>
        </p:txBody>
      </p:sp>
      <p:sp>
        <p:nvSpPr>
          <p:cNvPr id="15" name="Shape 13"/>
          <p:cNvSpPr/>
          <p:nvPr/>
        </p:nvSpPr>
        <p:spPr>
          <a:xfrm>
            <a:off x="822960" y="5056632"/>
            <a:ext cx="128016" cy="128016"/>
          </a:xfrm>
          <a:prstGeom prst="ellipse">
            <a:avLst/>
          </a:prstGeom>
          <a:solidFill>
            <a:srgbClr val="2563EB"/>
          </a:solidFill>
          <a:ln w="12700">
            <a:solidFill>
              <a:srgbClr val="2563EB"/>
            </a:solidFill>
            <a:prstDash val="solid"/>
          </a:ln>
        </p:spPr>
      </p:sp>
      <p:sp>
        <p:nvSpPr>
          <p:cNvPr id="16" name="Text 14"/>
          <p:cNvSpPr/>
          <p:nvPr/>
        </p:nvSpPr>
        <p:spPr>
          <a:xfrm>
            <a:off x="1115568" y="498348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Sign flips</a:t>
            </a:r>
            <a:endParaRPr lang="en-US" sz="1500" dirty="0"/>
          </a:p>
        </p:txBody>
      </p:sp>
      <p:sp>
        <p:nvSpPr>
          <p:cNvPr id="17" name="Text 15"/>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Real-World Datasets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Five labeled datasets test generalization.</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Annthyroid: 7,200 rows, 534 anomalies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KDDCup99 HTTP: 10,000-row sample, 376 attacks</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KDDCup99 SMTP: 9,571 rows, 3 attacks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Glass and Pendigits: derived rare-class labels</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Baselines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is compared with popular unsupervised models.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Isolation Forest</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One-Class SVM</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Local Outlier Factor</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AutoAD+ ensemble</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Synthetic F1 Comparison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ranks first on the larger synthetic validation benchmark.</a:t>
            </a:r>
            <a:endParaRPr lang="en-US" sz="1600" dirty="0"/>
          </a:p>
        </p:txBody>
      </p:sp>
      <p:sp>
        <p:nvSpPr>
          <p:cNvPr id="5" name="Text 3"/>
          <p:cNvSpPr/>
          <p:nvPr/>
        </p:nvSpPr>
        <p:spPr>
          <a:xfrm>
            <a:off x="960120" y="18470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AutoAD</a:t>
            </a:r>
            <a:endParaRPr lang="en-US" sz="1050" dirty="0"/>
          </a:p>
        </p:txBody>
      </p:sp>
      <p:sp>
        <p:nvSpPr>
          <p:cNvPr id="6" name="Shape 4"/>
          <p:cNvSpPr/>
          <p:nvPr/>
        </p:nvSpPr>
        <p:spPr>
          <a:xfrm>
            <a:off x="2834640" y="1828800"/>
            <a:ext cx="5669280" cy="310896"/>
          </a:xfrm>
          <a:prstGeom prst="rect">
            <a:avLst/>
          </a:prstGeom>
          <a:solidFill>
            <a:srgbClr val="F4F7FB"/>
          </a:solidFill>
          <a:ln w="12700">
            <a:solidFill>
              <a:srgbClr val="D9E2EF"/>
            </a:solidFill>
            <a:prstDash val="solid"/>
          </a:ln>
        </p:spPr>
      </p:sp>
      <p:sp>
        <p:nvSpPr>
          <p:cNvPr id="7" name="Shape 5"/>
          <p:cNvSpPr/>
          <p:nvPr/>
        </p:nvSpPr>
        <p:spPr>
          <a:xfrm>
            <a:off x="2834640" y="1828800"/>
            <a:ext cx="3280867" cy="310896"/>
          </a:xfrm>
          <a:prstGeom prst="rect">
            <a:avLst/>
          </a:prstGeom>
          <a:solidFill>
            <a:srgbClr val="2563EB"/>
          </a:solidFill>
          <a:ln w="12700">
            <a:solidFill>
              <a:srgbClr val="2563EB"/>
            </a:solidFill>
            <a:prstDash val="solid"/>
          </a:ln>
        </p:spPr>
      </p:sp>
      <p:sp>
        <p:nvSpPr>
          <p:cNvPr id="8" name="Text 6"/>
          <p:cNvSpPr/>
          <p:nvPr/>
        </p:nvSpPr>
        <p:spPr>
          <a:xfrm>
            <a:off x="6179515" y="1856232"/>
            <a:ext cx="640080" cy="182880"/>
          </a:xfrm>
          <a:prstGeom prst="rect">
            <a:avLst/>
          </a:prstGeom>
          <a:noFill/>
          <a:ln/>
        </p:spPr>
        <p:txBody>
          <a:bodyPr wrap="square" lIns="0" tIns="0" rIns="0" bIns="0" rtlCol="0" anchor="ctr"/>
          <a:lstStyle/>
          <a:p>
            <a:pPr indent="0" marL="0">
              <a:buNone/>
            </a:pPr>
            <a:r>
              <a:rPr lang="en-US" sz="900" dirty="0">
                <a:solidFill>
                  <a:srgbClr val="16213A"/>
                </a:solidFill>
              </a:rPr>
              <a:t>0.552</a:t>
            </a:r>
            <a:endParaRPr lang="en-US" sz="900" dirty="0"/>
          </a:p>
        </p:txBody>
      </p:sp>
      <p:sp>
        <p:nvSpPr>
          <p:cNvPr id="9" name="Text 7"/>
          <p:cNvSpPr/>
          <p:nvPr/>
        </p:nvSpPr>
        <p:spPr>
          <a:xfrm>
            <a:off x="960120" y="260146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Isolation Forest</a:t>
            </a:r>
            <a:endParaRPr lang="en-US" sz="1050" dirty="0"/>
          </a:p>
        </p:txBody>
      </p:sp>
      <p:sp>
        <p:nvSpPr>
          <p:cNvPr id="10" name="Shape 8"/>
          <p:cNvSpPr/>
          <p:nvPr/>
        </p:nvSpPr>
        <p:spPr>
          <a:xfrm>
            <a:off x="2834640" y="2583180"/>
            <a:ext cx="5669280" cy="310896"/>
          </a:xfrm>
          <a:prstGeom prst="rect">
            <a:avLst/>
          </a:prstGeom>
          <a:solidFill>
            <a:srgbClr val="F4F7FB"/>
          </a:solidFill>
          <a:ln w="12700">
            <a:solidFill>
              <a:srgbClr val="D9E2EF"/>
            </a:solidFill>
            <a:prstDash val="solid"/>
          </a:ln>
        </p:spPr>
      </p:sp>
      <p:sp>
        <p:nvSpPr>
          <p:cNvPr id="11" name="Shape 9"/>
          <p:cNvSpPr/>
          <p:nvPr/>
        </p:nvSpPr>
        <p:spPr>
          <a:xfrm>
            <a:off x="2834640" y="2583180"/>
            <a:ext cx="3084728" cy="310896"/>
          </a:xfrm>
          <a:prstGeom prst="rect">
            <a:avLst/>
          </a:prstGeom>
          <a:solidFill>
            <a:srgbClr val="2563EB"/>
          </a:solidFill>
          <a:ln w="12700">
            <a:solidFill>
              <a:srgbClr val="2563EB"/>
            </a:solidFill>
            <a:prstDash val="solid"/>
          </a:ln>
        </p:spPr>
      </p:sp>
      <p:sp>
        <p:nvSpPr>
          <p:cNvPr id="12" name="Text 10"/>
          <p:cNvSpPr/>
          <p:nvPr/>
        </p:nvSpPr>
        <p:spPr>
          <a:xfrm>
            <a:off x="5983376" y="2610612"/>
            <a:ext cx="640080" cy="182880"/>
          </a:xfrm>
          <a:prstGeom prst="rect">
            <a:avLst/>
          </a:prstGeom>
          <a:noFill/>
          <a:ln/>
        </p:spPr>
        <p:txBody>
          <a:bodyPr wrap="square" lIns="0" tIns="0" rIns="0" bIns="0" rtlCol="0" anchor="ctr"/>
          <a:lstStyle/>
          <a:p>
            <a:pPr indent="0" marL="0">
              <a:buNone/>
            </a:pPr>
            <a:r>
              <a:rPr lang="en-US" sz="900" dirty="0">
                <a:solidFill>
                  <a:srgbClr val="16213A"/>
                </a:solidFill>
              </a:rPr>
              <a:t>0.519</a:t>
            </a:r>
            <a:endParaRPr lang="en-US" sz="900" dirty="0"/>
          </a:p>
        </p:txBody>
      </p:sp>
      <p:sp>
        <p:nvSpPr>
          <p:cNvPr id="13" name="Text 11"/>
          <p:cNvSpPr/>
          <p:nvPr/>
        </p:nvSpPr>
        <p:spPr>
          <a:xfrm>
            <a:off x="960120" y="335584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One-Class SVM</a:t>
            </a:r>
            <a:endParaRPr lang="en-US" sz="1050" dirty="0"/>
          </a:p>
        </p:txBody>
      </p:sp>
      <p:sp>
        <p:nvSpPr>
          <p:cNvPr id="14" name="Shape 12"/>
          <p:cNvSpPr/>
          <p:nvPr/>
        </p:nvSpPr>
        <p:spPr>
          <a:xfrm>
            <a:off x="2834640" y="3337560"/>
            <a:ext cx="5669280" cy="310896"/>
          </a:xfrm>
          <a:prstGeom prst="rect">
            <a:avLst/>
          </a:prstGeom>
          <a:solidFill>
            <a:srgbClr val="F4F7FB"/>
          </a:solidFill>
          <a:ln w="12700">
            <a:solidFill>
              <a:srgbClr val="D9E2EF"/>
            </a:solidFill>
            <a:prstDash val="solid"/>
          </a:ln>
        </p:spPr>
      </p:sp>
      <p:sp>
        <p:nvSpPr>
          <p:cNvPr id="15" name="Shape 13"/>
          <p:cNvSpPr/>
          <p:nvPr/>
        </p:nvSpPr>
        <p:spPr>
          <a:xfrm>
            <a:off x="2834640" y="3337560"/>
            <a:ext cx="2971800" cy="310896"/>
          </a:xfrm>
          <a:prstGeom prst="rect">
            <a:avLst/>
          </a:prstGeom>
          <a:solidFill>
            <a:srgbClr val="2563EB"/>
          </a:solidFill>
          <a:ln w="12700">
            <a:solidFill>
              <a:srgbClr val="2563EB"/>
            </a:solidFill>
            <a:prstDash val="solid"/>
          </a:ln>
        </p:spPr>
      </p:sp>
      <p:sp>
        <p:nvSpPr>
          <p:cNvPr id="16" name="Text 14"/>
          <p:cNvSpPr/>
          <p:nvPr/>
        </p:nvSpPr>
        <p:spPr>
          <a:xfrm>
            <a:off x="5870448" y="3364992"/>
            <a:ext cx="640080" cy="182880"/>
          </a:xfrm>
          <a:prstGeom prst="rect">
            <a:avLst/>
          </a:prstGeom>
          <a:noFill/>
          <a:ln/>
        </p:spPr>
        <p:txBody>
          <a:bodyPr wrap="square" lIns="0" tIns="0" rIns="0" bIns="0" rtlCol="0" anchor="ctr"/>
          <a:lstStyle/>
          <a:p>
            <a:pPr indent="0" marL="0">
              <a:buNone/>
            </a:pPr>
            <a:r>
              <a:rPr lang="en-US" sz="900" dirty="0">
                <a:solidFill>
                  <a:srgbClr val="16213A"/>
                </a:solidFill>
              </a:rPr>
              <a:t>0.500</a:t>
            </a:r>
            <a:endParaRPr lang="en-US" sz="900" dirty="0"/>
          </a:p>
        </p:txBody>
      </p:sp>
      <p:sp>
        <p:nvSpPr>
          <p:cNvPr id="17" name="Text 15"/>
          <p:cNvSpPr/>
          <p:nvPr/>
        </p:nvSpPr>
        <p:spPr>
          <a:xfrm>
            <a:off x="960120" y="41102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LOF</a:t>
            </a:r>
            <a:endParaRPr lang="en-US" sz="1050" dirty="0"/>
          </a:p>
        </p:txBody>
      </p:sp>
      <p:sp>
        <p:nvSpPr>
          <p:cNvPr id="18" name="Shape 16"/>
          <p:cNvSpPr/>
          <p:nvPr/>
        </p:nvSpPr>
        <p:spPr>
          <a:xfrm>
            <a:off x="2834640" y="4091940"/>
            <a:ext cx="5669280" cy="310896"/>
          </a:xfrm>
          <a:prstGeom prst="rect">
            <a:avLst/>
          </a:prstGeom>
          <a:solidFill>
            <a:srgbClr val="F4F7FB"/>
          </a:solidFill>
          <a:ln w="12700">
            <a:solidFill>
              <a:srgbClr val="D9E2EF"/>
            </a:solidFill>
            <a:prstDash val="solid"/>
          </a:ln>
        </p:spPr>
      </p:sp>
      <p:sp>
        <p:nvSpPr>
          <p:cNvPr id="19" name="Shape 17"/>
          <p:cNvSpPr/>
          <p:nvPr/>
        </p:nvSpPr>
        <p:spPr>
          <a:xfrm>
            <a:off x="2834640" y="4091940"/>
            <a:ext cx="2211019" cy="310896"/>
          </a:xfrm>
          <a:prstGeom prst="rect">
            <a:avLst/>
          </a:prstGeom>
          <a:solidFill>
            <a:srgbClr val="2563EB"/>
          </a:solidFill>
          <a:ln w="12700">
            <a:solidFill>
              <a:srgbClr val="2563EB"/>
            </a:solidFill>
            <a:prstDash val="solid"/>
          </a:ln>
        </p:spPr>
      </p:sp>
      <p:sp>
        <p:nvSpPr>
          <p:cNvPr id="20" name="Text 18"/>
          <p:cNvSpPr/>
          <p:nvPr/>
        </p:nvSpPr>
        <p:spPr>
          <a:xfrm>
            <a:off x="5109667" y="4119372"/>
            <a:ext cx="640080" cy="182880"/>
          </a:xfrm>
          <a:prstGeom prst="rect">
            <a:avLst/>
          </a:prstGeom>
          <a:noFill/>
          <a:ln/>
        </p:spPr>
        <p:txBody>
          <a:bodyPr wrap="square" lIns="0" tIns="0" rIns="0" bIns="0" rtlCol="0" anchor="ctr"/>
          <a:lstStyle/>
          <a:p>
            <a:pPr indent="0" marL="0">
              <a:buNone/>
            </a:pPr>
            <a:r>
              <a:rPr lang="en-US" sz="900" dirty="0">
                <a:solidFill>
                  <a:srgbClr val="16213A"/>
                </a:solidFill>
              </a:rPr>
              <a:t>0.372</a:t>
            </a:r>
            <a:endParaRPr lang="en-US" sz="900" dirty="0"/>
          </a:p>
        </p:txBody>
      </p:sp>
      <p:sp>
        <p:nvSpPr>
          <p:cNvPr id="21" name="Text 19"/>
          <p:cNvSpPr/>
          <p:nvPr/>
        </p:nvSpPr>
        <p:spPr>
          <a:xfrm>
            <a:off x="960120" y="5212080"/>
            <a:ext cx="4937760" cy="228600"/>
          </a:xfrm>
          <a:prstGeom prst="rect">
            <a:avLst/>
          </a:prstGeom>
          <a:noFill/>
          <a:ln/>
        </p:spPr>
        <p:txBody>
          <a:bodyPr wrap="square" lIns="0" tIns="0" rIns="0" bIns="0" rtlCol="0" anchor="ctr"/>
          <a:lstStyle/>
          <a:p>
            <a:pPr indent="0" marL="0">
              <a:buNone/>
            </a:pPr>
            <a:r>
              <a:rPr lang="en-US" sz="1000" dirty="0">
                <a:solidFill>
                  <a:srgbClr val="5E6B7A"/>
                </a:solidFill>
              </a:rPr>
              <a:t>Average F1 across 54 runs</a:t>
            </a:r>
            <a:endParaRPr lang="en-US" sz="1000" dirty="0"/>
          </a:p>
        </p:txBody>
      </p:sp>
      <p:sp>
        <p:nvSpPr>
          <p:cNvPr id="22" name="Text 20"/>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Synthetic ROC-AUC</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separates positives well in controlled tests.</a:t>
            </a:r>
            <a:endParaRPr lang="en-US" sz="1600" dirty="0"/>
          </a:p>
        </p:txBody>
      </p:sp>
      <p:sp>
        <p:nvSpPr>
          <p:cNvPr id="5" name="Text 3"/>
          <p:cNvSpPr/>
          <p:nvPr/>
        </p:nvSpPr>
        <p:spPr>
          <a:xfrm>
            <a:off x="960120" y="18470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AutoAD</a:t>
            </a:r>
            <a:endParaRPr lang="en-US" sz="1050" dirty="0"/>
          </a:p>
        </p:txBody>
      </p:sp>
      <p:sp>
        <p:nvSpPr>
          <p:cNvPr id="6" name="Shape 4"/>
          <p:cNvSpPr/>
          <p:nvPr/>
        </p:nvSpPr>
        <p:spPr>
          <a:xfrm>
            <a:off x="2834640" y="1828800"/>
            <a:ext cx="5669280" cy="310896"/>
          </a:xfrm>
          <a:prstGeom prst="rect">
            <a:avLst/>
          </a:prstGeom>
          <a:solidFill>
            <a:srgbClr val="F4F7FB"/>
          </a:solidFill>
          <a:ln w="12700">
            <a:solidFill>
              <a:srgbClr val="D9E2EF"/>
            </a:solidFill>
            <a:prstDash val="solid"/>
          </a:ln>
        </p:spPr>
      </p:sp>
      <p:sp>
        <p:nvSpPr>
          <p:cNvPr id="7" name="Shape 5"/>
          <p:cNvSpPr/>
          <p:nvPr/>
        </p:nvSpPr>
        <p:spPr>
          <a:xfrm>
            <a:off x="2834640" y="1828800"/>
            <a:ext cx="5420563" cy="310896"/>
          </a:xfrm>
          <a:prstGeom prst="rect">
            <a:avLst/>
          </a:prstGeom>
          <a:solidFill>
            <a:srgbClr val="2563EB"/>
          </a:solidFill>
          <a:ln w="12700">
            <a:solidFill>
              <a:srgbClr val="2563EB"/>
            </a:solidFill>
            <a:prstDash val="solid"/>
          </a:ln>
        </p:spPr>
      </p:sp>
      <p:sp>
        <p:nvSpPr>
          <p:cNvPr id="8" name="Text 6"/>
          <p:cNvSpPr/>
          <p:nvPr/>
        </p:nvSpPr>
        <p:spPr>
          <a:xfrm>
            <a:off x="8319211" y="1856232"/>
            <a:ext cx="640080" cy="182880"/>
          </a:xfrm>
          <a:prstGeom prst="rect">
            <a:avLst/>
          </a:prstGeom>
          <a:noFill/>
          <a:ln/>
        </p:spPr>
        <p:txBody>
          <a:bodyPr wrap="square" lIns="0" tIns="0" rIns="0" bIns="0" rtlCol="0" anchor="ctr"/>
          <a:lstStyle/>
          <a:p>
            <a:pPr indent="0" marL="0">
              <a:buNone/>
            </a:pPr>
            <a:r>
              <a:rPr lang="en-US" sz="900" dirty="0">
                <a:solidFill>
                  <a:srgbClr val="16213A"/>
                </a:solidFill>
              </a:rPr>
              <a:t>0.912</a:t>
            </a:r>
            <a:endParaRPr lang="en-US" sz="900" dirty="0"/>
          </a:p>
        </p:txBody>
      </p:sp>
      <p:sp>
        <p:nvSpPr>
          <p:cNvPr id="9" name="Text 7"/>
          <p:cNvSpPr/>
          <p:nvPr/>
        </p:nvSpPr>
        <p:spPr>
          <a:xfrm>
            <a:off x="960120" y="260146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Isolation Forest</a:t>
            </a:r>
            <a:endParaRPr lang="en-US" sz="1050" dirty="0"/>
          </a:p>
        </p:txBody>
      </p:sp>
      <p:sp>
        <p:nvSpPr>
          <p:cNvPr id="10" name="Shape 8"/>
          <p:cNvSpPr/>
          <p:nvPr/>
        </p:nvSpPr>
        <p:spPr>
          <a:xfrm>
            <a:off x="2834640" y="2583180"/>
            <a:ext cx="5669280" cy="310896"/>
          </a:xfrm>
          <a:prstGeom prst="rect">
            <a:avLst/>
          </a:prstGeom>
          <a:solidFill>
            <a:srgbClr val="F4F7FB"/>
          </a:solidFill>
          <a:ln w="12700">
            <a:solidFill>
              <a:srgbClr val="D9E2EF"/>
            </a:solidFill>
            <a:prstDash val="solid"/>
          </a:ln>
        </p:spPr>
      </p:sp>
      <p:sp>
        <p:nvSpPr>
          <p:cNvPr id="11" name="Shape 9"/>
          <p:cNvSpPr/>
          <p:nvPr/>
        </p:nvSpPr>
        <p:spPr>
          <a:xfrm>
            <a:off x="2834640" y="2583180"/>
            <a:ext cx="4844034" cy="310896"/>
          </a:xfrm>
          <a:prstGeom prst="rect">
            <a:avLst/>
          </a:prstGeom>
          <a:solidFill>
            <a:srgbClr val="2563EB"/>
          </a:solidFill>
          <a:ln w="12700">
            <a:solidFill>
              <a:srgbClr val="2563EB"/>
            </a:solidFill>
            <a:prstDash val="solid"/>
          </a:ln>
        </p:spPr>
      </p:sp>
      <p:sp>
        <p:nvSpPr>
          <p:cNvPr id="12" name="Text 10"/>
          <p:cNvSpPr/>
          <p:nvPr/>
        </p:nvSpPr>
        <p:spPr>
          <a:xfrm>
            <a:off x="7742682" y="2610612"/>
            <a:ext cx="640080" cy="182880"/>
          </a:xfrm>
          <a:prstGeom prst="rect">
            <a:avLst/>
          </a:prstGeom>
          <a:noFill/>
          <a:ln/>
        </p:spPr>
        <p:txBody>
          <a:bodyPr wrap="square" lIns="0" tIns="0" rIns="0" bIns="0" rtlCol="0" anchor="ctr"/>
          <a:lstStyle/>
          <a:p>
            <a:pPr indent="0" marL="0">
              <a:buNone/>
            </a:pPr>
            <a:r>
              <a:rPr lang="en-US" sz="900" dirty="0">
                <a:solidFill>
                  <a:srgbClr val="16213A"/>
                </a:solidFill>
              </a:rPr>
              <a:t>0.815</a:t>
            </a:r>
            <a:endParaRPr lang="en-US" sz="900" dirty="0"/>
          </a:p>
        </p:txBody>
      </p:sp>
      <p:sp>
        <p:nvSpPr>
          <p:cNvPr id="13" name="Text 11"/>
          <p:cNvSpPr/>
          <p:nvPr/>
        </p:nvSpPr>
        <p:spPr>
          <a:xfrm>
            <a:off x="960120" y="335584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One-Class SVM</a:t>
            </a:r>
            <a:endParaRPr lang="en-US" sz="1050" dirty="0"/>
          </a:p>
        </p:txBody>
      </p:sp>
      <p:sp>
        <p:nvSpPr>
          <p:cNvPr id="14" name="Shape 12"/>
          <p:cNvSpPr/>
          <p:nvPr/>
        </p:nvSpPr>
        <p:spPr>
          <a:xfrm>
            <a:off x="2834640" y="3337560"/>
            <a:ext cx="5669280" cy="310896"/>
          </a:xfrm>
          <a:prstGeom prst="rect">
            <a:avLst/>
          </a:prstGeom>
          <a:solidFill>
            <a:srgbClr val="F4F7FB"/>
          </a:solidFill>
          <a:ln w="12700">
            <a:solidFill>
              <a:srgbClr val="D9E2EF"/>
            </a:solidFill>
            <a:prstDash val="solid"/>
          </a:ln>
        </p:spPr>
      </p:sp>
      <p:sp>
        <p:nvSpPr>
          <p:cNvPr id="15" name="Shape 13"/>
          <p:cNvSpPr/>
          <p:nvPr/>
        </p:nvSpPr>
        <p:spPr>
          <a:xfrm>
            <a:off x="2834640" y="3337560"/>
            <a:ext cx="4873752" cy="310896"/>
          </a:xfrm>
          <a:prstGeom prst="rect">
            <a:avLst/>
          </a:prstGeom>
          <a:solidFill>
            <a:srgbClr val="2563EB"/>
          </a:solidFill>
          <a:ln w="12700">
            <a:solidFill>
              <a:srgbClr val="2563EB"/>
            </a:solidFill>
            <a:prstDash val="solid"/>
          </a:ln>
        </p:spPr>
      </p:sp>
      <p:sp>
        <p:nvSpPr>
          <p:cNvPr id="16" name="Text 14"/>
          <p:cNvSpPr/>
          <p:nvPr/>
        </p:nvSpPr>
        <p:spPr>
          <a:xfrm>
            <a:off x="7772400" y="3364992"/>
            <a:ext cx="640080" cy="182880"/>
          </a:xfrm>
          <a:prstGeom prst="rect">
            <a:avLst/>
          </a:prstGeom>
          <a:noFill/>
          <a:ln/>
        </p:spPr>
        <p:txBody>
          <a:bodyPr wrap="square" lIns="0" tIns="0" rIns="0" bIns="0" rtlCol="0" anchor="ctr"/>
          <a:lstStyle/>
          <a:p>
            <a:pPr indent="0" marL="0">
              <a:buNone/>
            </a:pPr>
            <a:r>
              <a:rPr lang="en-US" sz="900" dirty="0">
                <a:solidFill>
                  <a:srgbClr val="16213A"/>
                </a:solidFill>
              </a:rPr>
              <a:t>0.820</a:t>
            </a:r>
            <a:endParaRPr lang="en-US" sz="900" dirty="0"/>
          </a:p>
        </p:txBody>
      </p:sp>
      <p:sp>
        <p:nvSpPr>
          <p:cNvPr id="17" name="Text 15"/>
          <p:cNvSpPr/>
          <p:nvPr/>
        </p:nvSpPr>
        <p:spPr>
          <a:xfrm>
            <a:off x="960120" y="41102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LOF</a:t>
            </a:r>
            <a:endParaRPr lang="en-US" sz="1050" dirty="0"/>
          </a:p>
        </p:txBody>
      </p:sp>
      <p:sp>
        <p:nvSpPr>
          <p:cNvPr id="18" name="Shape 16"/>
          <p:cNvSpPr/>
          <p:nvPr/>
        </p:nvSpPr>
        <p:spPr>
          <a:xfrm>
            <a:off x="2834640" y="4091940"/>
            <a:ext cx="5669280" cy="310896"/>
          </a:xfrm>
          <a:prstGeom prst="rect">
            <a:avLst/>
          </a:prstGeom>
          <a:solidFill>
            <a:srgbClr val="F4F7FB"/>
          </a:solidFill>
          <a:ln w="12700">
            <a:solidFill>
              <a:srgbClr val="D9E2EF"/>
            </a:solidFill>
            <a:prstDash val="solid"/>
          </a:ln>
        </p:spPr>
      </p:sp>
      <p:sp>
        <p:nvSpPr>
          <p:cNvPr id="19" name="Shape 17"/>
          <p:cNvSpPr/>
          <p:nvPr/>
        </p:nvSpPr>
        <p:spPr>
          <a:xfrm>
            <a:off x="2834640" y="4091940"/>
            <a:ext cx="4612234" cy="310896"/>
          </a:xfrm>
          <a:prstGeom prst="rect">
            <a:avLst/>
          </a:prstGeom>
          <a:solidFill>
            <a:srgbClr val="2563EB"/>
          </a:solidFill>
          <a:ln w="12700">
            <a:solidFill>
              <a:srgbClr val="2563EB"/>
            </a:solidFill>
            <a:prstDash val="solid"/>
          </a:ln>
        </p:spPr>
      </p:sp>
      <p:sp>
        <p:nvSpPr>
          <p:cNvPr id="20" name="Text 18"/>
          <p:cNvSpPr/>
          <p:nvPr/>
        </p:nvSpPr>
        <p:spPr>
          <a:xfrm>
            <a:off x="7510882" y="4119372"/>
            <a:ext cx="640080" cy="182880"/>
          </a:xfrm>
          <a:prstGeom prst="rect">
            <a:avLst/>
          </a:prstGeom>
          <a:noFill/>
          <a:ln/>
        </p:spPr>
        <p:txBody>
          <a:bodyPr wrap="square" lIns="0" tIns="0" rIns="0" bIns="0" rtlCol="0" anchor="ctr"/>
          <a:lstStyle/>
          <a:p>
            <a:pPr indent="0" marL="0">
              <a:buNone/>
            </a:pPr>
            <a:r>
              <a:rPr lang="en-US" sz="900" dirty="0">
                <a:solidFill>
                  <a:srgbClr val="16213A"/>
                </a:solidFill>
              </a:rPr>
              <a:t>0.776</a:t>
            </a:r>
            <a:endParaRPr lang="en-US" sz="900" dirty="0"/>
          </a:p>
        </p:txBody>
      </p:sp>
      <p:sp>
        <p:nvSpPr>
          <p:cNvPr id="21" name="Text 19"/>
          <p:cNvSpPr/>
          <p:nvPr/>
        </p:nvSpPr>
        <p:spPr>
          <a:xfrm>
            <a:off x="960120" y="5212080"/>
            <a:ext cx="4937760" cy="228600"/>
          </a:xfrm>
          <a:prstGeom prst="rect">
            <a:avLst/>
          </a:prstGeom>
          <a:noFill/>
          <a:ln/>
        </p:spPr>
        <p:txBody>
          <a:bodyPr wrap="square" lIns="0" tIns="0" rIns="0" bIns="0" rtlCol="0" anchor="ctr"/>
          <a:lstStyle/>
          <a:p>
            <a:pPr indent="0" marL="0">
              <a:buNone/>
            </a:pPr>
            <a:r>
              <a:rPr lang="en-US" sz="1000" dirty="0">
                <a:solidFill>
                  <a:srgbClr val="5E6B7A"/>
                </a:solidFill>
              </a:rPr>
              <a:t>Average ROC-AUC</a:t>
            </a:r>
            <a:endParaRPr lang="en-US" sz="1000" dirty="0"/>
          </a:p>
        </p:txBody>
      </p:sp>
      <p:sp>
        <p:nvSpPr>
          <p:cNvPr id="22" name="Text 20"/>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Real-World F1 Comparison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Across five real datasets, default AutoAD+ ranks last by F1.</a:t>
            </a:r>
            <a:endParaRPr lang="en-US" sz="1600" dirty="0"/>
          </a:p>
        </p:txBody>
      </p:sp>
      <p:sp>
        <p:nvSpPr>
          <p:cNvPr id="5" name="Text 3"/>
          <p:cNvSpPr/>
          <p:nvPr/>
        </p:nvSpPr>
        <p:spPr>
          <a:xfrm>
            <a:off x="960120" y="18470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One-Class SVM</a:t>
            </a:r>
            <a:endParaRPr lang="en-US" sz="1050" dirty="0"/>
          </a:p>
        </p:txBody>
      </p:sp>
      <p:sp>
        <p:nvSpPr>
          <p:cNvPr id="6" name="Shape 4"/>
          <p:cNvSpPr/>
          <p:nvPr/>
        </p:nvSpPr>
        <p:spPr>
          <a:xfrm>
            <a:off x="2834640" y="1828800"/>
            <a:ext cx="5669280" cy="310896"/>
          </a:xfrm>
          <a:prstGeom prst="rect">
            <a:avLst/>
          </a:prstGeom>
          <a:solidFill>
            <a:srgbClr val="F4F7FB"/>
          </a:solidFill>
          <a:ln w="12700">
            <a:solidFill>
              <a:srgbClr val="D9E2EF"/>
            </a:solidFill>
            <a:prstDash val="solid"/>
          </a:ln>
        </p:spPr>
      </p:sp>
      <p:sp>
        <p:nvSpPr>
          <p:cNvPr id="7" name="Shape 5"/>
          <p:cNvSpPr/>
          <p:nvPr/>
        </p:nvSpPr>
        <p:spPr>
          <a:xfrm>
            <a:off x="2834640" y="1828800"/>
            <a:ext cx="1396746" cy="310896"/>
          </a:xfrm>
          <a:prstGeom prst="rect">
            <a:avLst/>
          </a:prstGeom>
          <a:solidFill>
            <a:srgbClr val="D97706"/>
          </a:solidFill>
          <a:ln w="12700">
            <a:solidFill>
              <a:srgbClr val="D97706"/>
            </a:solidFill>
            <a:prstDash val="solid"/>
          </a:ln>
        </p:spPr>
      </p:sp>
      <p:sp>
        <p:nvSpPr>
          <p:cNvPr id="8" name="Text 6"/>
          <p:cNvSpPr/>
          <p:nvPr/>
        </p:nvSpPr>
        <p:spPr>
          <a:xfrm>
            <a:off x="4295394" y="1856232"/>
            <a:ext cx="640080" cy="182880"/>
          </a:xfrm>
          <a:prstGeom prst="rect">
            <a:avLst/>
          </a:prstGeom>
          <a:noFill/>
          <a:ln/>
        </p:spPr>
        <p:txBody>
          <a:bodyPr wrap="square" lIns="0" tIns="0" rIns="0" bIns="0" rtlCol="0" anchor="ctr"/>
          <a:lstStyle/>
          <a:p>
            <a:pPr indent="0" marL="0">
              <a:buNone/>
            </a:pPr>
            <a:r>
              <a:rPr lang="en-US" sz="900" dirty="0">
                <a:solidFill>
                  <a:srgbClr val="16213A"/>
                </a:solidFill>
              </a:rPr>
              <a:t>0.235</a:t>
            </a:r>
            <a:endParaRPr lang="en-US" sz="900" dirty="0"/>
          </a:p>
        </p:txBody>
      </p:sp>
      <p:sp>
        <p:nvSpPr>
          <p:cNvPr id="9" name="Text 7"/>
          <p:cNvSpPr/>
          <p:nvPr/>
        </p:nvSpPr>
        <p:spPr>
          <a:xfrm>
            <a:off x="960120" y="260146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LOF</a:t>
            </a:r>
            <a:endParaRPr lang="en-US" sz="1050" dirty="0"/>
          </a:p>
        </p:txBody>
      </p:sp>
      <p:sp>
        <p:nvSpPr>
          <p:cNvPr id="10" name="Shape 8"/>
          <p:cNvSpPr/>
          <p:nvPr/>
        </p:nvSpPr>
        <p:spPr>
          <a:xfrm>
            <a:off x="2834640" y="2583180"/>
            <a:ext cx="5669280" cy="310896"/>
          </a:xfrm>
          <a:prstGeom prst="rect">
            <a:avLst/>
          </a:prstGeom>
          <a:solidFill>
            <a:srgbClr val="F4F7FB"/>
          </a:solidFill>
          <a:ln w="12700">
            <a:solidFill>
              <a:srgbClr val="D9E2EF"/>
            </a:solidFill>
            <a:prstDash val="solid"/>
          </a:ln>
        </p:spPr>
      </p:sp>
      <p:sp>
        <p:nvSpPr>
          <p:cNvPr id="11" name="Shape 9"/>
          <p:cNvSpPr/>
          <p:nvPr/>
        </p:nvSpPr>
        <p:spPr>
          <a:xfrm>
            <a:off x="2834640" y="2583180"/>
            <a:ext cx="439826" cy="310896"/>
          </a:xfrm>
          <a:prstGeom prst="rect">
            <a:avLst/>
          </a:prstGeom>
          <a:solidFill>
            <a:srgbClr val="D97706"/>
          </a:solidFill>
          <a:ln w="12700">
            <a:solidFill>
              <a:srgbClr val="D97706"/>
            </a:solidFill>
            <a:prstDash val="solid"/>
          </a:ln>
        </p:spPr>
      </p:sp>
      <p:sp>
        <p:nvSpPr>
          <p:cNvPr id="12" name="Text 10"/>
          <p:cNvSpPr/>
          <p:nvPr/>
        </p:nvSpPr>
        <p:spPr>
          <a:xfrm>
            <a:off x="3338474" y="2610612"/>
            <a:ext cx="640080" cy="182880"/>
          </a:xfrm>
          <a:prstGeom prst="rect">
            <a:avLst/>
          </a:prstGeom>
          <a:noFill/>
          <a:ln/>
        </p:spPr>
        <p:txBody>
          <a:bodyPr wrap="square" lIns="0" tIns="0" rIns="0" bIns="0" rtlCol="0" anchor="ctr"/>
          <a:lstStyle/>
          <a:p>
            <a:pPr indent="0" marL="0">
              <a:buNone/>
            </a:pPr>
            <a:r>
              <a:rPr lang="en-US" sz="900" dirty="0">
                <a:solidFill>
                  <a:srgbClr val="16213A"/>
                </a:solidFill>
              </a:rPr>
              <a:t>0.074</a:t>
            </a:r>
            <a:endParaRPr lang="en-US" sz="900" dirty="0"/>
          </a:p>
        </p:txBody>
      </p:sp>
      <p:sp>
        <p:nvSpPr>
          <p:cNvPr id="13" name="Text 11"/>
          <p:cNvSpPr/>
          <p:nvPr/>
        </p:nvSpPr>
        <p:spPr>
          <a:xfrm>
            <a:off x="960120" y="335584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Isolation Forest</a:t>
            </a:r>
            <a:endParaRPr lang="en-US" sz="1050" dirty="0"/>
          </a:p>
        </p:txBody>
      </p:sp>
      <p:sp>
        <p:nvSpPr>
          <p:cNvPr id="14" name="Shape 12"/>
          <p:cNvSpPr/>
          <p:nvPr/>
        </p:nvSpPr>
        <p:spPr>
          <a:xfrm>
            <a:off x="2834640" y="3337560"/>
            <a:ext cx="5669280" cy="310896"/>
          </a:xfrm>
          <a:prstGeom prst="rect">
            <a:avLst/>
          </a:prstGeom>
          <a:solidFill>
            <a:srgbClr val="F4F7FB"/>
          </a:solidFill>
          <a:ln w="12700">
            <a:solidFill>
              <a:srgbClr val="D9E2EF"/>
            </a:solidFill>
            <a:prstDash val="solid"/>
          </a:ln>
        </p:spPr>
      </p:sp>
      <p:sp>
        <p:nvSpPr>
          <p:cNvPr id="15" name="Shape 13"/>
          <p:cNvSpPr/>
          <p:nvPr/>
        </p:nvSpPr>
        <p:spPr>
          <a:xfrm>
            <a:off x="2834640" y="3337560"/>
            <a:ext cx="404165" cy="310896"/>
          </a:xfrm>
          <a:prstGeom prst="rect">
            <a:avLst/>
          </a:prstGeom>
          <a:solidFill>
            <a:srgbClr val="D97706"/>
          </a:solidFill>
          <a:ln w="12700">
            <a:solidFill>
              <a:srgbClr val="D97706"/>
            </a:solidFill>
            <a:prstDash val="solid"/>
          </a:ln>
        </p:spPr>
      </p:sp>
      <p:sp>
        <p:nvSpPr>
          <p:cNvPr id="16" name="Text 14"/>
          <p:cNvSpPr/>
          <p:nvPr/>
        </p:nvSpPr>
        <p:spPr>
          <a:xfrm>
            <a:off x="3302813" y="3364992"/>
            <a:ext cx="640080" cy="182880"/>
          </a:xfrm>
          <a:prstGeom prst="rect">
            <a:avLst/>
          </a:prstGeom>
          <a:noFill/>
          <a:ln/>
        </p:spPr>
        <p:txBody>
          <a:bodyPr wrap="square" lIns="0" tIns="0" rIns="0" bIns="0" rtlCol="0" anchor="ctr"/>
          <a:lstStyle/>
          <a:p>
            <a:pPr indent="0" marL="0">
              <a:buNone/>
            </a:pPr>
            <a:r>
              <a:rPr lang="en-US" sz="900" dirty="0">
                <a:solidFill>
                  <a:srgbClr val="16213A"/>
                </a:solidFill>
              </a:rPr>
              <a:t>0.068</a:t>
            </a:r>
            <a:endParaRPr lang="en-US" sz="900" dirty="0"/>
          </a:p>
        </p:txBody>
      </p:sp>
      <p:sp>
        <p:nvSpPr>
          <p:cNvPr id="17" name="Text 15"/>
          <p:cNvSpPr/>
          <p:nvPr/>
        </p:nvSpPr>
        <p:spPr>
          <a:xfrm>
            <a:off x="960120" y="41102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AutoAD</a:t>
            </a:r>
            <a:endParaRPr lang="en-US" sz="1050" dirty="0"/>
          </a:p>
        </p:txBody>
      </p:sp>
      <p:sp>
        <p:nvSpPr>
          <p:cNvPr id="18" name="Shape 16"/>
          <p:cNvSpPr/>
          <p:nvPr/>
        </p:nvSpPr>
        <p:spPr>
          <a:xfrm>
            <a:off x="2834640" y="4091940"/>
            <a:ext cx="5669280" cy="310896"/>
          </a:xfrm>
          <a:prstGeom prst="rect">
            <a:avLst/>
          </a:prstGeom>
          <a:solidFill>
            <a:srgbClr val="F4F7FB"/>
          </a:solidFill>
          <a:ln w="12700">
            <a:solidFill>
              <a:srgbClr val="D9E2EF"/>
            </a:solidFill>
            <a:prstDash val="solid"/>
          </a:ln>
        </p:spPr>
      </p:sp>
      <p:sp>
        <p:nvSpPr>
          <p:cNvPr id="19" name="Shape 17"/>
          <p:cNvSpPr/>
          <p:nvPr/>
        </p:nvSpPr>
        <p:spPr>
          <a:xfrm>
            <a:off x="2834640" y="4091940"/>
            <a:ext cx="202082" cy="310896"/>
          </a:xfrm>
          <a:prstGeom prst="rect">
            <a:avLst/>
          </a:prstGeom>
          <a:solidFill>
            <a:srgbClr val="D97706"/>
          </a:solidFill>
          <a:ln w="12700">
            <a:solidFill>
              <a:srgbClr val="D97706"/>
            </a:solidFill>
            <a:prstDash val="solid"/>
          </a:ln>
        </p:spPr>
      </p:sp>
      <p:sp>
        <p:nvSpPr>
          <p:cNvPr id="20" name="Text 18"/>
          <p:cNvSpPr/>
          <p:nvPr/>
        </p:nvSpPr>
        <p:spPr>
          <a:xfrm>
            <a:off x="3100730" y="4119372"/>
            <a:ext cx="640080" cy="182880"/>
          </a:xfrm>
          <a:prstGeom prst="rect">
            <a:avLst/>
          </a:prstGeom>
          <a:noFill/>
          <a:ln/>
        </p:spPr>
        <p:txBody>
          <a:bodyPr wrap="square" lIns="0" tIns="0" rIns="0" bIns="0" rtlCol="0" anchor="ctr"/>
          <a:lstStyle/>
          <a:p>
            <a:pPr indent="0" marL="0">
              <a:buNone/>
            </a:pPr>
            <a:r>
              <a:rPr lang="en-US" sz="900" dirty="0">
                <a:solidFill>
                  <a:srgbClr val="16213A"/>
                </a:solidFill>
              </a:rPr>
              <a:t>0.034</a:t>
            </a:r>
            <a:endParaRPr lang="en-US" sz="900" dirty="0"/>
          </a:p>
        </p:txBody>
      </p:sp>
      <p:sp>
        <p:nvSpPr>
          <p:cNvPr id="21" name="Text 19"/>
          <p:cNvSpPr/>
          <p:nvPr/>
        </p:nvSpPr>
        <p:spPr>
          <a:xfrm>
            <a:off x="960120" y="5212080"/>
            <a:ext cx="4937760" cy="228600"/>
          </a:xfrm>
          <a:prstGeom prst="rect">
            <a:avLst/>
          </a:prstGeom>
          <a:noFill/>
          <a:ln/>
        </p:spPr>
        <p:txBody>
          <a:bodyPr wrap="square" lIns="0" tIns="0" rIns="0" bIns="0" rtlCol="0" anchor="ctr"/>
          <a:lstStyle/>
          <a:p>
            <a:pPr indent="0" marL="0">
              <a:buNone/>
            </a:pPr>
            <a:r>
              <a:rPr lang="en-US" sz="1000" dirty="0">
                <a:solidFill>
                  <a:srgbClr val="5E6B7A"/>
                </a:solidFill>
              </a:rPr>
              <a:t>Average F1 across five real datasets</a:t>
            </a:r>
            <a:endParaRPr lang="en-US" sz="1000" dirty="0"/>
          </a:p>
        </p:txBody>
      </p:sp>
      <p:sp>
        <p:nvSpPr>
          <p:cNvPr id="22" name="Text 20"/>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Real-World ROC-AUC</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ranks reasonably, but thresholded F1 is weak.</a:t>
            </a:r>
            <a:endParaRPr lang="en-US" sz="1600" dirty="0"/>
          </a:p>
        </p:txBody>
      </p:sp>
      <p:sp>
        <p:nvSpPr>
          <p:cNvPr id="5" name="Text 3"/>
          <p:cNvSpPr/>
          <p:nvPr/>
        </p:nvSpPr>
        <p:spPr>
          <a:xfrm>
            <a:off x="960120" y="18470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One-Class SVM</a:t>
            </a:r>
            <a:endParaRPr lang="en-US" sz="1050" dirty="0"/>
          </a:p>
        </p:txBody>
      </p:sp>
      <p:sp>
        <p:nvSpPr>
          <p:cNvPr id="6" name="Shape 4"/>
          <p:cNvSpPr/>
          <p:nvPr/>
        </p:nvSpPr>
        <p:spPr>
          <a:xfrm>
            <a:off x="2834640" y="1828800"/>
            <a:ext cx="5669280" cy="310896"/>
          </a:xfrm>
          <a:prstGeom prst="rect">
            <a:avLst/>
          </a:prstGeom>
          <a:solidFill>
            <a:srgbClr val="F4F7FB"/>
          </a:solidFill>
          <a:ln w="12700">
            <a:solidFill>
              <a:srgbClr val="D9E2EF"/>
            </a:solidFill>
            <a:prstDash val="solid"/>
          </a:ln>
        </p:spPr>
      </p:sp>
      <p:sp>
        <p:nvSpPr>
          <p:cNvPr id="7" name="Shape 5"/>
          <p:cNvSpPr/>
          <p:nvPr/>
        </p:nvSpPr>
        <p:spPr>
          <a:xfrm>
            <a:off x="2834640" y="1828800"/>
            <a:ext cx="4101084" cy="310896"/>
          </a:xfrm>
          <a:prstGeom prst="rect">
            <a:avLst/>
          </a:prstGeom>
          <a:solidFill>
            <a:srgbClr val="D97706"/>
          </a:solidFill>
          <a:ln w="12700">
            <a:solidFill>
              <a:srgbClr val="D97706"/>
            </a:solidFill>
            <a:prstDash val="solid"/>
          </a:ln>
        </p:spPr>
      </p:sp>
      <p:sp>
        <p:nvSpPr>
          <p:cNvPr id="8" name="Text 6"/>
          <p:cNvSpPr/>
          <p:nvPr/>
        </p:nvSpPr>
        <p:spPr>
          <a:xfrm>
            <a:off x="6999732" y="1856232"/>
            <a:ext cx="640080" cy="182880"/>
          </a:xfrm>
          <a:prstGeom prst="rect">
            <a:avLst/>
          </a:prstGeom>
          <a:noFill/>
          <a:ln/>
        </p:spPr>
        <p:txBody>
          <a:bodyPr wrap="square" lIns="0" tIns="0" rIns="0" bIns="0" rtlCol="0" anchor="ctr"/>
          <a:lstStyle/>
          <a:p>
            <a:pPr indent="0" marL="0">
              <a:buNone/>
            </a:pPr>
            <a:r>
              <a:rPr lang="en-US" sz="900" dirty="0">
                <a:solidFill>
                  <a:srgbClr val="16213A"/>
                </a:solidFill>
              </a:rPr>
              <a:t>0.690</a:t>
            </a:r>
            <a:endParaRPr lang="en-US" sz="900" dirty="0"/>
          </a:p>
        </p:txBody>
      </p:sp>
      <p:sp>
        <p:nvSpPr>
          <p:cNvPr id="9" name="Text 7"/>
          <p:cNvSpPr/>
          <p:nvPr/>
        </p:nvSpPr>
        <p:spPr>
          <a:xfrm>
            <a:off x="960120" y="260146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LOF</a:t>
            </a:r>
            <a:endParaRPr lang="en-US" sz="1050" dirty="0"/>
          </a:p>
        </p:txBody>
      </p:sp>
      <p:sp>
        <p:nvSpPr>
          <p:cNvPr id="10" name="Shape 8"/>
          <p:cNvSpPr/>
          <p:nvPr/>
        </p:nvSpPr>
        <p:spPr>
          <a:xfrm>
            <a:off x="2834640" y="2583180"/>
            <a:ext cx="5669280" cy="310896"/>
          </a:xfrm>
          <a:prstGeom prst="rect">
            <a:avLst/>
          </a:prstGeom>
          <a:solidFill>
            <a:srgbClr val="F4F7FB"/>
          </a:solidFill>
          <a:ln w="12700">
            <a:solidFill>
              <a:srgbClr val="D9E2EF"/>
            </a:solidFill>
            <a:prstDash val="solid"/>
          </a:ln>
        </p:spPr>
      </p:sp>
      <p:sp>
        <p:nvSpPr>
          <p:cNvPr id="11" name="Shape 9"/>
          <p:cNvSpPr/>
          <p:nvPr/>
        </p:nvSpPr>
        <p:spPr>
          <a:xfrm>
            <a:off x="2834640" y="2583180"/>
            <a:ext cx="3762299" cy="310896"/>
          </a:xfrm>
          <a:prstGeom prst="rect">
            <a:avLst/>
          </a:prstGeom>
          <a:solidFill>
            <a:srgbClr val="D97706"/>
          </a:solidFill>
          <a:ln w="12700">
            <a:solidFill>
              <a:srgbClr val="D97706"/>
            </a:solidFill>
            <a:prstDash val="solid"/>
          </a:ln>
        </p:spPr>
      </p:sp>
      <p:sp>
        <p:nvSpPr>
          <p:cNvPr id="12" name="Text 10"/>
          <p:cNvSpPr/>
          <p:nvPr/>
        </p:nvSpPr>
        <p:spPr>
          <a:xfrm>
            <a:off x="6660947" y="2610612"/>
            <a:ext cx="640080" cy="182880"/>
          </a:xfrm>
          <a:prstGeom prst="rect">
            <a:avLst/>
          </a:prstGeom>
          <a:noFill/>
          <a:ln/>
        </p:spPr>
        <p:txBody>
          <a:bodyPr wrap="square" lIns="0" tIns="0" rIns="0" bIns="0" rtlCol="0" anchor="ctr"/>
          <a:lstStyle/>
          <a:p>
            <a:pPr indent="0" marL="0">
              <a:buNone/>
            </a:pPr>
            <a:r>
              <a:rPr lang="en-US" sz="900" dirty="0">
                <a:solidFill>
                  <a:srgbClr val="16213A"/>
                </a:solidFill>
              </a:rPr>
              <a:t>0.633</a:t>
            </a:r>
            <a:endParaRPr lang="en-US" sz="900" dirty="0"/>
          </a:p>
        </p:txBody>
      </p:sp>
      <p:sp>
        <p:nvSpPr>
          <p:cNvPr id="13" name="Text 11"/>
          <p:cNvSpPr/>
          <p:nvPr/>
        </p:nvSpPr>
        <p:spPr>
          <a:xfrm>
            <a:off x="960120" y="335584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Isolation Forest</a:t>
            </a:r>
            <a:endParaRPr lang="en-US" sz="1050" dirty="0"/>
          </a:p>
        </p:txBody>
      </p:sp>
      <p:sp>
        <p:nvSpPr>
          <p:cNvPr id="14" name="Shape 12"/>
          <p:cNvSpPr/>
          <p:nvPr/>
        </p:nvSpPr>
        <p:spPr>
          <a:xfrm>
            <a:off x="2834640" y="3337560"/>
            <a:ext cx="5669280" cy="310896"/>
          </a:xfrm>
          <a:prstGeom prst="rect">
            <a:avLst/>
          </a:prstGeom>
          <a:solidFill>
            <a:srgbClr val="F4F7FB"/>
          </a:solidFill>
          <a:ln w="12700">
            <a:solidFill>
              <a:srgbClr val="D9E2EF"/>
            </a:solidFill>
            <a:prstDash val="solid"/>
          </a:ln>
        </p:spPr>
      </p:sp>
      <p:sp>
        <p:nvSpPr>
          <p:cNvPr id="15" name="Shape 13"/>
          <p:cNvSpPr/>
          <p:nvPr/>
        </p:nvSpPr>
        <p:spPr>
          <a:xfrm>
            <a:off x="2834640" y="3337560"/>
            <a:ext cx="4493362" cy="310896"/>
          </a:xfrm>
          <a:prstGeom prst="rect">
            <a:avLst/>
          </a:prstGeom>
          <a:solidFill>
            <a:srgbClr val="D97706"/>
          </a:solidFill>
          <a:ln w="12700">
            <a:solidFill>
              <a:srgbClr val="D97706"/>
            </a:solidFill>
            <a:prstDash val="solid"/>
          </a:ln>
        </p:spPr>
      </p:sp>
      <p:sp>
        <p:nvSpPr>
          <p:cNvPr id="16" name="Text 14"/>
          <p:cNvSpPr/>
          <p:nvPr/>
        </p:nvSpPr>
        <p:spPr>
          <a:xfrm>
            <a:off x="7392010" y="3364992"/>
            <a:ext cx="640080" cy="182880"/>
          </a:xfrm>
          <a:prstGeom prst="rect">
            <a:avLst/>
          </a:prstGeom>
          <a:noFill/>
          <a:ln/>
        </p:spPr>
        <p:txBody>
          <a:bodyPr wrap="square" lIns="0" tIns="0" rIns="0" bIns="0" rtlCol="0" anchor="ctr"/>
          <a:lstStyle/>
          <a:p>
            <a:pPr indent="0" marL="0">
              <a:buNone/>
            </a:pPr>
            <a:r>
              <a:rPr lang="en-US" sz="900" dirty="0">
                <a:solidFill>
                  <a:srgbClr val="16213A"/>
                </a:solidFill>
              </a:rPr>
              <a:t>0.756</a:t>
            </a:r>
            <a:endParaRPr lang="en-US" sz="900" dirty="0"/>
          </a:p>
        </p:txBody>
      </p:sp>
      <p:sp>
        <p:nvSpPr>
          <p:cNvPr id="17" name="Text 15"/>
          <p:cNvSpPr/>
          <p:nvPr/>
        </p:nvSpPr>
        <p:spPr>
          <a:xfrm>
            <a:off x="960120" y="41102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AutoAD</a:t>
            </a:r>
            <a:endParaRPr lang="en-US" sz="1050" dirty="0"/>
          </a:p>
        </p:txBody>
      </p:sp>
      <p:sp>
        <p:nvSpPr>
          <p:cNvPr id="18" name="Shape 16"/>
          <p:cNvSpPr/>
          <p:nvPr/>
        </p:nvSpPr>
        <p:spPr>
          <a:xfrm>
            <a:off x="2834640" y="4091940"/>
            <a:ext cx="5669280" cy="310896"/>
          </a:xfrm>
          <a:prstGeom prst="rect">
            <a:avLst/>
          </a:prstGeom>
          <a:solidFill>
            <a:srgbClr val="F4F7FB"/>
          </a:solidFill>
          <a:ln w="12700">
            <a:solidFill>
              <a:srgbClr val="D9E2EF"/>
            </a:solidFill>
            <a:prstDash val="solid"/>
          </a:ln>
        </p:spPr>
      </p:sp>
      <p:sp>
        <p:nvSpPr>
          <p:cNvPr id="19" name="Shape 17"/>
          <p:cNvSpPr/>
          <p:nvPr/>
        </p:nvSpPr>
        <p:spPr>
          <a:xfrm>
            <a:off x="2834640" y="4091940"/>
            <a:ext cx="4380433" cy="310896"/>
          </a:xfrm>
          <a:prstGeom prst="rect">
            <a:avLst/>
          </a:prstGeom>
          <a:solidFill>
            <a:srgbClr val="D97706"/>
          </a:solidFill>
          <a:ln w="12700">
            <a:solidFill>
              <a:srgbClr val="D97706"/>
            </a:solidFill>
            <a:prstDash val="solid"/>
          </a:ln>
        </p:spPr>
      </p:sp>
      <p:sp>
        <p:nvSpPr>
          <p:cNvPr id="20" name="Text 18"/>
          <p:cNvSpPr/>
          <p:nvPr/>
        </p:nvSpPr>
        <p:spPr>
          <a:xfrm>
            <a:off x="7279081" y="4119372"/>
            <a:ext cx="640080" cy="182880"/>
          </a:xfrm>
          <a:prstGeom prst="rect">
            <a:avLst/>
          </a:prstGeom>
          <a:noFill/>
          <a:ln/>
        </p:spPr>
        <p:txBody>
          <a:bodyPr wrap="square" lIns="0" tIns="0" rIns="0" bIns="0" rtlCol="0" anchor="ctr"/>
          <a:lstStyle/>
          <a:p>
            <a:pPr indent="0" marL="0">
              <a:buNone/>
            </a:pPr>
            <a:r>
              <a:rPr lang="en-US" sz="900" dirty="0">
                <a:solidFill>
                  <a:srgbClr val="16213A"/>
                </a:solidFill>
              </a:rPr>
              <a:t>0.737</a:t>
            </a:r>
            <a:endParaRPr lang="en-US" sz="900" dirty="0"/>
          </a:p>
        </p:txBody>
      </p:sp>
      <p:sp>
        <p:nvSpPr>
          <p:cNvPr id="21" name="Text 19"/>
          <p:cNvSpPr/>
          <p:nvPr/>
        </p:nvSpPr>
        <p:spPr>
          <a:xfrm>
            <a:off x="960120" y="5212080"/>
            <a:ext cx="4937760" cy="228600"/>
          </a:xfrm>
          <a:prstGeom prst="rect">
            <a:avLst/>
          </a:prstGeom>
          <a:noFill/>
          <a:ln/>
        </p:spPr>
        <p:txBody>
          <a:bodyPr wrap="square" lIns="0" tIns="0" rIns="0" bIns="0" rtlCol="0" anchor="ctr"/>
          <a:lstStyle/>
          <a:p>
            <a:pPr indent="0" marL="0">
              <a:buNone/>
            </a:pPr>
            <a:r>
              <a:rPr lang="en-US" sz="1000" dirty="0">
                <a:solidFill>
                  <a:srgbClr val="5E6B7A"/>
                </a:solidFill>
              </a:rPr>
              <a:t>Average ROC-AUC across five real datasets</a:t>
            </a:r>
            <a:endParaRPr lang="en-US" sz="1000" dirty="0"/>
          </a:p>
        </p:txBody>
      </p:sp>
      <p:sp>
        <p:nvSpPr>
          <p:cNvPr id="22" name="Text 20"/>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Calibration Helps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Annthyroid-calibrated AutoAD+ improves, but still trails OCSVM overall.</a:t>
            </a:r>
            <a:endParaRPr lang="en-US" sz="1600" dirty="0"/>
          </a:p>
        </p:txBody>
      </p:sp>
      <p:sp>
        <p:nvSpPr>
          <p:cNvPr id="5" name="Text 3"/>
          <p:cNvSpPr/>
          <p:nvPr/>
        </p:nvSpPr>
        <p:spPr>
          <a:xfrm>
            <a:off x="960120" y="18470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One-Class SVM</a:t>
            </a:r>
            <a:endParaRPr lang="en-US" sz="1050" dirty="0"/>
          </a:p>
        </p:txBody>
      </p:sp>
      <p:sp>
        <p:nvSpPr>
          <p:cNvPr id="6" name="Shape 4"/>
          <p:cNvSpPr/>
          <p:nvPr/>
        </p:nvSpPr>
        <p:spPr>
          <a:xfrm>
            <a:off x="2834640" y="1828800"/>
            <a:ext cx="5669280" cy="310896"/>
          </a:xfrm>
          <a:prstGeom prst="rect">
            <a:avLst/>
          </a:prstGeom>
          <a:solidFill>
            <a:srgbClr val="F4F7FB"/>
          </a:solidFill>
          <a:ln w="12700">
            <a:solidFill>
              <a:srgbClr val="D9E2EF"/>
            </a:solidFill>
            <a:prstDash val="solid"/>
          </a:ln>
        </p:spPr>
      </p:sp>
      <p:sp>
        <p:nvSpPr>
          <p:cNvPr id="7" name="Shape 5"/>
          <p:cNvSpPr/>
          <p:nvPr/>
        </p:nvSpPr>
        <p:spPr>
          <a:xfrm>
            <a:off x="2834640" y="1828800"/>
            <a:ext cx="1402690" cy="310896"/>
          </a:xfrm>
          <a:prstGeom prst="rect">
            <a:avLst/>
          </a:prstGeom>
          <a:solidFill>
            <a:srgbClr val="2563EB"/>
          </a:solidFill>
          <a:ln w="12700">
            <a:solidFill>
              <a:srgbClr val="2563EB"/>
            </a:solidFill>
            <a:prstDash val="solid"/>
          </a:ln>
        </p:spPr>
      </p:sp>
      <p:sp>
        <p:nvSpPr>
          <p:cNvPr id="8" name="Text 6"/>
          <p:cNvSpPr/>
          <p:nvPr/>
        </p:nvSpPr>
        <p:spPr>
          <a:xfrm>
            <a:off x="4301338" y="1856232"/>
            <a:ext cx="640080" cy="182880"/>
          </a:xfrm>
          <a:prstGeom prst="rect">
            <a:avLst/>
          </a:prstGeom>
          <a:noFill/>
          <a:ln/>
        </p:spPr>
        <p:txBody>
          <a:bodyPr wrap="square" lIns="0" tIns="0" rIns="0" bIns="0" rtlCol="0" anchor="ctr"/>
          <a:lstStyle/>
          <a:p>
            <a:pPr indent="0" marL="0">
              <a:buNone/>
            </a:pPr>
            <a:r>
              <a:rPr lang="en-US" sz="900" dirty="0">
                <a:solidFill>
                  <a:srgbClr val="16213A"/>
                </a:solidFill>
              </a:rPr>
              <a:t>0.236</a:t>
            </a:r>
            <a:endParaRPr lang="en-US" sz="900" dirty="0"/>
          </a:p>
        </p:txBody>
      </p:sp>
      <p:sp>
        <p:nvSpPr>
          <p:cNvPr id="9" name="Text 7"/>
          <p:cNvSpPr/>
          <p:nvPr/>
        </p:nvSpPr>
        <p:spPr>
          <a:xfrm>
            <a:off x="960120" y="260146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AutoAD calibrated</a:t>
            </a:r>
            <a:endParaRPr lang="en-US" sz="1050" dirty="0"/>
          </a:p>
        </p:txBody>
      </p:sp>
      <p:sp>
        <p:nvSpPr>
          <p:cNvPr id="10" name="Shape 8"/>
          <p:cNvSpPr/>
          <p:nvPr/>
        </p:nvSpPr>
        <p:spPr>
          <a:xfrm>
            <a:off x="2834640" y="2583180"/>
            <a:ext cx="5669280" cy="310896"/>
          </a:xfrm>
          <a:prstGeom prst="rect">
            <a:avLst/>
          </a:prstGeom>
          <a:solidFill>
            <a:srgbClr val="F4F7FB"/>
          </a:solidFill>
          <a:ln w="12700">
            <a:solidFill>
              <a:srgbClr val="D9E2EF"/>
            </a:solidFill>
            <a:prstDash val="solid"/>
          </a:ln>
        </p:spPr>
      </p:sp>
      <p:sp>
        <p:nvSpPr>
          <p:cNvPr id="11" name="Shape 9"/>
          <p:cNvSpPr/>
          <p:nvPr/>
        </p:nvSpPr>
        <p:spPr>
          <a:xfrm>
            <a:off x="2834640" y="2583180"/>
            <a:ext cx="707288" cy="310896"/>
          </a:xfrm>
          <a:prstGeom prst="rect">
            <a:avLst/>
          </a:prstGeom>
          <a:solidFill>
            <a:srgbClr val="2563EB"/>
          </a:solidFill>
          <a:ln w="12700">
            <a:solidFill>
              <a:srgbClr val="2563EB"/>
            </a:solidFill>
            <a:prstDash val="solid"/>
          </a:ln>
        </p:spPr>
      </p:sp>
      <p:sp>
        <p:nvSpPr>
          <p:cNvPr id="12" name="Text 10"/>
          <p:cNvSpPr/>
          <p:nvPr/>
        </p:nvSpPr>
        <p:spPr>
          <a:xfrm>
            <a:off x="3605936" y="2610612"/>
            <a:ext cx="640080" cy="182880"/>
          </a:xfrm>
          <a:prstGeom prst="rect">
            <a:avLst/>
          </a:prstGeom>
          <a:noFill/>
          <a:ln/>
        </p:spPr>
        <p:txBody>
          <a:bodyPr wrap="square" lIns="0" tIns="0" rIns="0" bIns="0" rtlCol="0" anchor="ctr"/>
          <a:lstStyle/>
          <a:p>
            <a:pPr indent="0" marL="0">
              <a:buNone/>
            </a:pPr>
            <a:r>
              <a:rPr lang="en-US" sz="900" dirty="0">
                <a:solidFill>
                  <a:srgbClr val="16213A"/>
                </a:solidFill>
              </a:rPr>
              <a:t>0.119</a:t>
            </a:r>
            <a:endParaRPr lang="en-US" sz="900" dirty="0"/>
          </a:p>
        </p:txBody>
      </p:sp>
      <p:sp>
        <p:nvSpPr>
          <p:cNvPr id="13" name="Text 11"/>
          <p:cNvSpPr/>
          <p:nvPr/>
        </p:nvSpPr>
        <p:spPr>
          <a:xfrm>
            <a:off x="960120" y="335584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LOF</a:t>
            </a:r>
            <a:endParaRPr lang="en-US" sz="1050" dirty="0"/>
          </a:p>
        </p:txBody>
      </p:sp>
      <p:sp>
        <p:nvSpPr>
          <p:cNvPr id="14" name="Shape 12"/>
          <p:cNvSpPr/>
          <p:nvPr/>
        </p:nvSpPr>
        <p:spPr>
          <a:xfrm>
            <a:off x="2834640" y="3337560"/>
            <a:ext cx="5669280" cy="310896"/>
          </a:xfrm>
          <a:prstGeom prst="rect">
            <a:avLst/>
          </a:prstGeom>
          <a:solidFill>
            <a:srgbClr val="F4F7FB"/>
          </a:solidFill>
          <a:ln w="12700">
            <a:solidFill>
              <a:srgbClr val="D9E2EF"/>
            </a:solidFill>
            <a:prstDash val="solid"/>
          </a:ln>
        </p:spPr>
      </p:sp>
      <p:sp>
        <p:nvSpPr>
          <p:cNvPr id="15" name="Shape 13"/>
          <p:cNvSpPr/>
          <p:nvPr/>
        </p:nvSpPr>
        <p:spPr>
          <a:xfrm>
            <a:off x="2834640" y="3337560"/>
            <a:ext cx="451714" cy="310896"/>
          </a:xfrm>
          <a:prstGeom prst="rect">
            <a:avLst/>
          </a:prstGeom>
          <a:solidFill>
            <a:srgbClr val="2563EB"/>
          </a:solidFill>
          <a:ln w="12700">
            <a:solidFill>
              <a:srgbClr val="2563EB"/>
            </a:solidFill>
            <a:prstDash val="solid"/>
          </a:ln>
        </p:spPr>
      </p:sp>
      <p:sp>
        <p:nvSpPr>
          <p:cNvPr id="16" name="Text 14"/>
          <p:cNvSpPr/>
          <p:nvPr/>
        </p:nvSpPr>
        <p:spPr>
          <a:xfrm>
            <a:off x="3350362" y="3364992"/>
            <a:ext cx="640080" cy="182880"/>
          </a:xfrm>
          <a:prstGeom prst="rect">
            <a:avLst/>
          </a:prstGeom>
          <a:noFill/>
          <a:ln/>
        </p:spPr>
        <p:txBody>
          <a:bodyPr wrap="square" lIns="0" tIns="0" rIns="0" bIns="0" rtlCol="0" anchor="ctr"/>
          <a:lstStyle/>
          <a:p>
            <a:pPr indent="0" marL="0">
              <a:buNone/>
            </a:pPr>
            <a:r>
              <a:rPr lang="en-US" sz="900" dirty="0">
                <a:solidFill>
                  <a:srgbClr val="16213A"/>
                </a:solidFill>
              </a:rPr>
              <a:t>0.076</a:t>
            </a:r>
            <a:endParaRPr lang="en-US" sz="900" dirty="0"/>
          </a:p>
        </p:txBody>
      </p:sp>
      <p:sp>
        <p:nvSpPr>
          <p:cNvPr id="17" name="Text 15"/>
          <p:cNvSpPr/>
          <p:nvPr/>
        </p:nvSpPr>
        <p:spPr>
          <a:xfrm>
            <a:off x="960120" y="41102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Isolation Forest</a:t>
            </a:r>
            <a:endParaRPr lang="en-US" sz="1050" dirty="0"/>
          </a:p>
        </p:txBody>
      </p:sp>
      <p:sp>
        <p:nvSpPr>
          <p:cNvPr id="18" name="Shape 16"/>
          <p:cNvSpPr/>
          <p:nvPr/>
        </p:nvSpPr>
        <p:spPr>
          <a:xfrm>
            <a:off x="2834640" y="4091940"/>
            <a:ext cx="5669280" cy="310896"/>
          </a:xfrm>
          <a:prstGeom prst="rect">
            <a:avLst/>
          </a:prstGeom>
          <a:solidFill>
            <a:srgbClr val="F4F7FB"/>
          </a:solidFill>
          <a:ln w="12700">
            <a:solidFill>
              <a:srgbClr val="D9E2EF"/>
            </a:solidFill>
            <a:prstDash val="solid"/>
          </a:ln>
        </p:spPr>
      </p:sp>
      <p:sp>
        <p:nvSpPr>
          <p:cNvPr id="19" name="Shape 17"/>
          <p:cNvSpPr/>
          <p:nvPr/>
        </p:nvSpPr>
        <p:spPr>
          <a:xfrm>
            <a:off x="2834640" y="4091940"/>
            <a:ext cx="421996" cy="310896"/>
          </a:xfrm>
          <a:prstGeom prst="rect">
            <a:avLst/>
          </a:prstGeom>
          <a:solidFill>
            <a:srgbClr val="2563EB"/>
          </a:solidFill>
          <a:ln w="12700">
            <a:solidFill>
              <a:srgbClr val="2563EB"/>
            </a:solidFill>
            <a:prstDash val="solid"/>
          </a:ln>
        </p:spPr>
      </p:sp>
      <p:sp>
        <p:nvSpPr>
          <p:cNvPr id="20" name="Text 18"/>
          <p:cNvSpPr/>
          <p:nvPr/>
        </p:nvSpPr>
        <p:spPr>
          <a:xfrm>
            <a:off x="3320644" y="4119372"/>
            <a:ext cx="640080" cy="182880"/>
          </a:xfrm>
          <a:prstGeom prst="rect">
            <a:avLst/>
          </a:prstGeom>
          <a:noFill/>
          <a:ln/>
        </p:spPr>
        <p:txBody>
          <a:bodyPr wrap="square" lIns="0" tIns="0" rIns="0" bIns="0" rtlCol="0" anchor="ctr"/>
          <a:lstStyle/>
          <a:p>
            <a:pPr indent="0" marL="0">
              <a:buNone/>
            </a:pPr>
            <a:r>
              <a:rPr lang="en-US" sz="900" dirty="0">
                <a:solidFill>
                  <a:srgbClr val="16213A"/>
                </a:solidFill>
              </a:rPr>
              <a:t>0.071</a:t>
            </a:r>
            <a:endParaRPr lang="en-US" sz="900" dirty="0"/>
          </a:p>
        </p:txBody>
      </p:sp>
      <p:sp>
        <p:nvSpPr>
          <p:cNvPr id="21" name="Text 19"/>
          <p:cNvSpPr/>
          <p:nvPr/>
        </p:nvSpPr>
        <p:spPr>
          <a:xfrm>
            <a:off x="960120" y="5212080"/>
            <a:ext cx="4937760" cy="228600"/>
          </a:xfrm>
          <a:prstGeom prst="rect">
            <a:avLst/>
          </a:prstGeom>
          <a:noFill/>
          <a:ln/>
        </p:spPr>
        <p:txBody>
          <a:bodyPr wrap="square" lIns="0" tIns="0" rIns="0" bIns="0" rtlCol="0" anchor="ctr"/>
          <a:lstStyle/>
          <a:p>
            <a:pPr indent="0" marL="0">
              <a:buNone/>
            </a:pPr>
            <a:r>
              <a:rPr lang="en-US" sz="1000" dirty="0">
                <a:solidFill>
                  <a:srgbClr val="5E6B7A"/>
                </a:solidFill>
              </a:rPr>
              <a:t>Average F1 after calibrated weights</a:t>
            </a:r>
            <a:endParaRPr lang="en-US" sz="1000" dirty="0"/>
          </a:p>
        </p:txBody>
      </p:sp>
      <p:sp>
        <p:nvSpPr>
          <p:cNvPr id="22" name="Text 20"/>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Where AutoAD+ Fails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Harder real and synthetic cases expose weakness.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Previous-value dead sensors remain difficult</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KDD HTTP strongly favors OCSVM</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Default thresholding hurts real-data F1</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Calibration helps but is dataset-specific</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Overfitting Check</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earlier perfect score was too optimistic.</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Small 24-row benchmark produced inflated scores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Larger synthetic validation reduced F1 to 0.552</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Five real datasets drop default AutoAD F1 to 0.034</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Conclusion: no general superiority claim yet</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Final Evidence Summary</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Synthetic results are promising; real-world results require calibration.</a:t>
            </a:r>
            <a:endParaRPr lang="en-US" sz="1600" dirty="0"/>
          </a:p>
        </p:txBody>
      </p:sp>
      <p:sp>
        <p:nvSpPr>
          <p:cNvPr id="5" name="Shape 3"/>
          <p:cNvSpPr/>
          <p:nvPr/>
        </p:nvSpPr>
        <p:spPr>
          <a:xfrm>
            <a:off x="713232" y="1856232"/>
            <a:ext cx="10652760" cy="512064"/>
          </a:xfrm>
          <a:prstGeom prst="rect">
            <a:avLst/>
          </a:prstGeom>
          <a:solidFill>
            <a:srgbClr val="16213A"/>
          </a:solidFill>
          <a:ln w="12700">
            <a:solidFill>
              <a:srgbClr val="D9E2EF"/>
            </a:solidFill>
            <a:prstDash val="solid"/>
          </a:ln>
        </p:spPr>
      </p:sp>
      <p:sp>
        <p:nvSpPr>
          <p:cNvPr id="6" name="Text 4"/>
          <p:cNvSpPr/>
          <p:nvPr/>
        </p:nvSpPr>
        <p:spPr>
          <a:xfrm>
            <a:off x="822960" y="1965960"/>
            <a:ext cx="2194560" cy="228600"/>
          </a:xfrm>
          <a:prstGeom prst="rect">
            <a:avLst/>
          </a:prstGeom>
          <a:noFill/>
          <a:ln/>
        </p:spPr>
        <p:txBody>
          <a:bodyPr wrap="square" lIns="0" tIns="0" rIns="0" bIns="0" rtlCol="0" anchor="ctr">
            <a:normAutofit/>
          </a:bodyPr>
          <a:lstStyle/>
          <a:p>
            <a:pPr indent="0" marL="0">
              <a:buNone/>
            </a:pPr>
            <a:r>
              <a:rPr lang="en-US" sz="1000" b="1" dirty="0">
                <a:solidFill>
                  <a:srgbClr val="FFFFFF"/>
                </a:solidFill>
              </a:rPr>
              <a:t>Test</a:t>
            </a:r>
            <a:endParaRPr lang="en-US" sz="1000" dirty="0"/>
          </a:p>
        </p:txBody>
      </p:sp>
      <p:sp>
        <p:nvSpPr>
          <p:cNvPr id="7" name="Text 5"/>
          <p:cNvSpPr/>
          <p:nvPr/>
        </p:nvSpPr>
        <p:spPr>
          <a:xfrm>
            <a:off x="3291840" y="1965960"/>
            <a:ext cx="1463040" cy="228600"/>
          </a:xfrm>
          <a:prstGeom prst="rect">
            <a:avLst/>
          </a:prstGeom>
          <a:noFill/>
          <a:ln/>
        </p:spPr>
        <p:txBody>
          <a:bodyPr wrap="square" lIns="0" tIns="0" rIns="0" bIns="0" rtlCol="0" anchor="ctr">
            <a:normAutofit/>
          </a:bodyPr>
          <a:lstStyle/>
          <a:p>
            <a:pPr indent="0" marL="0">
              <a:buNone/>
            </a:pPr>
            <a:r>
              <a:rPr lang="en-US" sz="1000" b="1" dirty="0">
                <a:solidFill>
                  <a:srgbClr val="FFFFFF"/>
                </a:solidFill>
              </a:rPr>
              <a:t>Winner</a:t>
            </a:r>
            <a:endParaRPr lang="en-US" sz="1000" dirty="0"/>
          </a:p>
        </p:txBody>
      </p:sp>
      <p:sp>
        <p:nvSpPr>
          <p:cNvPr id="8" name="Text 6"/>
          <p:cNvSpPr/>
          <p:nvPr/>
        </p:nvSpPr>
        <p:spPr>
          <a:xfrm>
            <a:off x="5120640" y="1965960"/>
            <a:ext cx="1188720" cy="228600"/>
          </a:xfrm>
          <a:prstGeom prst="rect">
            <a:avLst/>
          </a:prstGeom>
          <a:noFill/>
          <a:ln/>
        </p:spPr>
        <p:txBody>
          <a:bodyPr wrap="square" lIns="0" tIns="0" rIns="0" bIns="0" rtlCol="0" anchor="ctr">
            <a:normAutofit/>
          </a:bodyPr>
          <a:lstStyle/>
          <a:p>
            <a:pPr indent="0" marL="0">
              <a:buNone/>
            </a:pPr>
            <a:r>
              <a:rPr lang="en-US" sz="1000" b="1" dirty="0">
                <a:solidFill>
                  <a:srgbClr val="FFFFFF"/>
                </a:solidFill>
              </a:rPr>
              <a:t>AutoAD rank</a:t>
            </a:r>
            <a:endParaRPr lang="en-US" sz="1000" dirty="0"/>
          </a:p>
        </p:txBody>
      </p:sp>
      <p:sp>
        <p:nvSpPr>
          <p:cNvPr id="9" name="Text 7"/>
          <p:cNvSpPr/>
          <p:nvPr/>
        </p:nvSpPr>
        <p:spPr>
          <a:xfrm>
            <a:off x="6675120" y="1965960"/>
            <a:ext cx="4114800" cy="228600"/>
          </a:xfrm>
          <a:prstGeom prst="rect">
            <a:avLst/>
          </a:prstGeom>
          <a:noFill/>
          <a:ln/>
        </p:spPr>
        <p:txBody>
          <a:bodyPr wrap="square" lIns="0" tIns="0" rIns="0" bIns="0" rtlCol="0" anchor="ctr">
            <a:normAutofit/>
          </a:bodyPr>
          <a:lstStyle/>
          <a:p>
            <a:pPr indent="0" marL="0">
              <a:buNone/>
            </a:pPr>
            <a:r>
              <a:rPr lang="en-US" sz="1000" b="1" dirty="0">
                <a:solidFill>
                  <a:srgbClr val="FFFFFF"/>
                </a:solidFill>
              </a:rPr>
              <a:t>Meaning</a:t>
            </a:r>
            <a:endParaRPr lang="en-US" sz="1000" dirty="0"/>
          </a:p>
        </p:txBody>
      </p:sp>
      <p:sp>
        <p:nvSpPr>
          <p:cNvPr id="10" name="Shape 8"/>
          <p:cNvSpPr/>
          <p:nvPr/>
        </p:nvSpPr>
        <p:spPr>
          <a:xfrm>
            <a:off x="713232" y="2514600"/>
            <a:ext cx="10652760" cy="512064"/>
          </a:xfrm>
          <a:prstGeom prst="rect">
            <a:avLst/>
          </a:prstGeom>
          <a:solidFill>
            <a:srgbClr val="EEF6FF"/>
          </a:solidFill>
          <a:ln w="12700">
            <a:solidFill>
              <a:srgbClr val="D9E2EF"/>
            </a:solidFill>
            <a:prstDash val="solid"/>
          </a:ln>
        </p:spPr>
      </p:sp>
      <p:sp>
        <p:nvSpPr>
          <p:cNvPr id="11" name="Text 9"/>
          <p:cNvSpPr/>
          <p:nvPr/>
        </p:nvSpPr>
        <p:spPr>
          <a:xfrm>
            <a:off x="822960" y="2624328"/>
            <a:ext cx="219456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Synthetic validation</a:t>
            </a:r>
            <a:endParaRPr lang="en-US" sz="1150" dirty="0"/>
          </a:p>
        </p:txBody>
      </p:sp>
      <p:sp>
        <p:nvSpPr>
          <p:cNvPr id="12" name="Text 10"/>
          <p:cNvSpPr/>
          <p:nvPr/>
        </p:nvSpPr>
        <p:spPr>
          <a:xfrm>
            <a:off x="3291840" y="2624328"/>
            <a:ext cx="146304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AutoAD</a:t>
            </a:r>
            <a:endParaRPr lang="en-US" sz="1150" dirty="0"/>
          </a:p>
        </p:txBody>
      </p:sp>
      <p:sp>
        <p:nvSpPr>
          <p:cNvPr id="13" name="Text 11"/>
          <p:cNvSpPr/>
          <p:nvPr/>
        </p:nvSpPr>
        <p:spPr>
          <a:xfrm>
            <a:off x="5120640" y="2624328"/>
            <a:ext cx="118872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1st</a:t>
            </a:r>
            <a:endParaRPr lang="en-US" sz="1150" dirty="0"/>
          </a:p>
        </p:txBody>
      </p:sp>
      <p:sp>
        <p:nvSpPr>
          <p:cNvPr id="14" name="Text 12"/>
          <p:cNvSpPr/>
          <p:nvPr/>
        </p:nvSpPr>
        <p:spPr>
          <a:xfrm>
            <a:off x="6675120" y="2624328"/>
            <a:ext cx="411480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Promising on controlled anomalies</a:t>
            </a:r>
            <a:endParaRPr lang="en-US" sz="1150" dirty="0"/>
          </a:p>
        </p:txBody>
      </p:sp>
      <p:sp>
        <p:nvSpPr>
          <p:cNvPr id="15" name="Shape 13"/>
          <p:cNvSpPr/>
          <p:nvPr/>
        </p:nvSpPr>
        <p:spPr>
          <a:xfrm>
            <a:off x="713232" y="3172968"/>
            <a:ext cx="10652760" cy="512064"/>
          </a:xfrm>
          <a:prstGeom prst="rect">
            <a:avLst/>
          </a:prstGeom>
          <a:solidFill>
            <a:srgbClr val="FFF7ED"/>
          </a:solidFill>
          <a:ln w="12700">
            <a:solidFill>
              <a:srgbClr val="D9E2EF"/>
            </a:solidFill>
            <a:prstDash val="solid"/>
          </a:ln>
        </p:spPr>
      </p:sp>
      <p:sp>
        <p:nvSpPr>
          <p:cNvPr id="16" name="Text 14"/>
          <p:cNvSpPr/>
          <p:nvPr/>
        </p:nvSpPr>
        <p:spPr>
          <a:xfrm>
            <a:off x="822960" y="3282696"/>
            <a:ext cx="219456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Real default</a:t>
            </a:r>
            <a:endParaRPr lang="en-US" sz="1150" dirty="0"/>
          </a:p>
        </p:txBody>
      </p:sp>
      <p:sp>
        <p:nvSpPr>
          <p:cNvPr id="17" name="Text 15"/>
          <p:cNvSpPr/>
          <p:nvPr/>
        </p:nvSpPr>
        <p:spPr>
          <a:xfrm>
            <a:off x="3291840" y="3282696"/>
            <a:ext cx="146304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OCSVM</a:t>
            </a:r>
            <a:endParaRPr lang="en-US" sz="1150" dirty="0"/>
          </a:p>
        </p:txBody>
      </p:sp>
      <p:sp>
        <p:nvSpPr>
          <p:cNvPr id="18" name="Text 16"/>
          <p:cNvSpPr/>
          <p:nvPr/>
        </p:nvSpPr>
        <p:spPr>
          <a:xfrm>
            <a:off x="5120640" y="3282696"/>
            <a:ext cx="118872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4th</a:t>
            </a:r>
            <a:endParaRPr lang="en-US" sz="1150" dirty="0"/>
          </a:p>
        </p:txBody>
      </p:sp>
      <p:sp>
        <p:nvSpPr>
          <p:cNvPr id="19" name="Text 17"/>
          <p:cNvSpPr/>
          <p:nvPr/>
        </p:nvSpPr>
        <p:spPr>
          <a:xfrm>
            <a:off x="6675120" y="3282696"/>
            <a:ext cx="411480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Generalization gap remains</a:t>
            </a:r>
            <a:endParaRPr lang="en-US" sz="1150" dirty="0"/>
          </a:p>
        </p:txBody>
      </p:sp>
      <p:sp>
        <p:nvSpPr>
          <p:cNvPr id="20" name="Shape 18"/>
          <p:cNvSpPr/>
          <p:nvPr/>
        </p:nvSpPr>
        <p:spPr>
          <a:xfrm>
            <a:off x="713232" y="3831336"/>
            <a:ext cx="10652760" cy="512064"/>
          </a:xfrm>
          <a:prstGeom prst="rect">
            <a:avLst/>
          </a:prstGeom>
          <a:solidFill>
            <a:srgbClr val="FFF7ED"/>
          </a:solidFill>
          <a:ln w="12700">
            <a:solidFill>
              <a:srgbClr val="D9E2EF"/>
            </a:solidFill>
            <a:prstDash val="solid"/>
          </a:ln>
        </p:spPr>
      </p:sp>
      <p:sp>
        <p:nvSpPr>
          <p:cNvPr id="21" name="Text 19"/>
          <p:cNvSpPr/>
          <p:nvPr/>
        </p:nvSpPr>
        <p:spPr>
          <a:xfrm>
            <a:off x="822960" y="3941064"/>
            <a:ext cx="219456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Real calibrated</a:t>
            </a:r>
            <a:endParaRPr lang="en-US" sz="1150" dirty="0"/>
          </a:p>
        </p:txBody>
      </p:sp>
      <p:sp>
        <p:nvSpPr>
          <p:cNvPr id="22" name="Text 20"/>
          <p:cNvSpPr/>
          <p:nvPr/>
        </p:nvSpPr>
        <p:spPr>
          <a:xfrm>
            <a:off x="3291840" y="3941064"/>
            <a:ext cx="146304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OCSVM</a:t>
            </a:r>
            <a:endParaRPr lang="en-US" sz="1150" dirty="0"/>
          </a:p>
        </p:txBody>
      </p:sp>
      <p:sp>
        <p:nvSpPr>
          <p:cNvPr id="23" name="Text 21"/>
          <p:cNvSpPr/>
          <p:nvPr/>
        </p:nvSpPr>
        <p:spPr>
          <a:xfrm>
            <a:off x="5120640" y="3941064"/>
            <a:ext cx="118872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2nd</a:t>
            </a:r>
            <a:endParaRPr lang="en-US" sz="1150" dirty="0"/>
          </a:p>
        </p:txBody>
      </p:sp>
      <p:sp>
        <p:nvSpPr>
          <p:cNvPr id="24" name="Text 22"/>
          <p:cNvSpPr/>
          <p:nvPr/>
        </p:nvSpPr>
        <p:spPr>
          <a:xfrm>
            <a:off x="6675120" y="3941064"/>
            <a:ext cx="411480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Calibration helps, not enough</a:t>
            </a:r>
            <a:endParaRPr lang="en-US" sz="1150" dirty="0"/>
          </a:p>
        </p:txBody>
      </p:sp>
      <p:sp>
        <p:nvSpPr>
          <p:cNvPr id="25" name="Text 23"/>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21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731520" y="2103120"/>
            <a:ext cx="8686800" cy="594360"/>
          </a:xfrm>
          <a:prstGeom prst="rect">
            <a:avLst/>
          </a:prstGeom>
          <a:noFill/>
          <a:ln/>
        </p:spPr>
        <p:txBody>
          <a:bodyPr wrap="square" lIns="0" tIns="0" rIns="0" bIns="0" rtlCol="0" anchor="ctr"/>
          <a:lstStyle/>
          <a:p>
            <a:pPr indent="0" marL="0">
              <a:buNone/>
            </a:pPr>
            <a:r>
              <a:rPr lang="en-US" sz="3800" b="1" dirty="0">
                <a:solidFill>
                  <a:srgbClr val="FFFFFF"/>
                </a:solidFill>
              </a:rPr>
              <a:t>Latest Validation</a:t>
            </a:r>
            <a:endParaRPr lang="en-US" sz="3800" dirty="0"/>
          </a:p>
        </p:txBody>
      </p:sp>
      <p:sp>
        <p:nvSpPr>
          <p:cNvPr id="4" name="Text 2"/>
          <p:cNvSpPr/>
          <p:nvPr/>
        </p:nvSpPr>
        <p:spPr>
          <a:xfrm>
            <a:off x="768096" y="2880360"/>
            <a:ext cx="7589520" cy="347472"/>
          </a:xfrm>
          <a:prstGeom prst="rect">
            <a:avLst/>
          </a:prstGeom>
          <a:noFill/>
          <a:ln/>
        </p:spPr>
        <p:txBody>
          <a:bodyPr wrap="square" lIns="0" tIns="0" rIns="0" bIns="0" rtlCol="0" anchor="ctr"/>
          <a:lstStyle/>
          <a:p>
            <a:pPr indent="0" marL="0">
              <a:buNone/>
            </a:pPr>
            <a:r>
              <a:rPr lang="en-US" sz="1600" dirty="0">
                <a:solidFill>
                  <a:srgbClr val="D8E4F8"/>
                </a:solidFill>
              </a:rPr>
              <a:t>The learned selector was tested with leave-one-dataset-out validation.</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Why LODO Matters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Leave-one-dataset-out checks whether meta-selection generalizes.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Hold out one real dataset completely</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Train selector profiles on the remaining datasets</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Run AutoAD+ on the hidden dataset</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Repeat until every dataset has been held out</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Updated Real F1 Comparison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learned selector is strong in-sample but weaker under LODO.</a:t>
            </a:r>
            <a:endParaRPr lang="en-US" sz="1600" dirty="0"/>
          </a:p>
        </p:txBody>
      </p:sp>
      <p:sp>
        <p:nvSpPr>
          <p:cNvPr id="5" name="Text 3"/>
          <p:cNvSpPr/>
          <p:nvPr/>
        </p:nvSpPr>
        <p:spPr>
          <a:xfrm>
            <a:off x="960120" y="18470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Default AutoAD</a:t>
            </a:r>
            <a:endParaRPr lang="en-US" sz="1050" dirty="0"/>
          </a:p>
        </p:txBody>
      </p:sp>
      <p:sp>
        <p:nvSpPr>
          <p:cNvPr id="6" name="Shape 4"/>
          <p:cNvSpPr/>
          <p:nvPr/>
        </p:nvSpPr>
        <p:spPr>
          <a:xfrm>
            <a:off x="2834640" y="1828800"/>
            <a:ext cx="5669280" cy="310896"/>
          </a:xfrm>
          <a:prstGeom prst="rect">
            <a:avLst/>
          </a:prstGeom>
          <a:solidFill>
            <a:srgbClr val="F4F7FB"/>
          </a:solidFill>
          <a:ln w="12700">
            <a:solidFill>
              <a:srgbClr val="D9E2EF"/>
            </a:solidFill>
            <a:prstDash val="solid"/>
          </a:ln>
        </p:spPr>
      </p:sp>
      <p:sp>
        <p:nvSpPr>
          <p:cNvPr id="7" name="Shape 5"/>
          <p:cNvSpPr/>
          <p:nvPr/>
        </p:nvSpPr>
        <p:spPr>
          <a:xfrm>
            <a:off x="2834640" y="1828800"/>
            <a:ext cx="202082" cy="310896"/>
          </a:xfrm>
          <a:prstGeom prst="rect">
            <a:avLst/>
          </a:prstGeom>
          <a:solidFill>
            <a:srgbClr val="D97706"/>
          </a:solidFill>
          <a:ln w="12700">
            <a:solidFill>
              <a:srgbClr val="D97706"/>
            </a:solidFill>
            <a:prstDash val="solid"/>
          </a:ln>
        </p:spPr>
      </p:sp>
      <p:sp>
        <p:nvSpPr>
          <p:cNvPr id="8" name="Text 6"/>
          <p:cNvSpPr/>
          <p:nvPr/>
        </p:nvSpPr>
        <p:spPr>
          <a:xfrm>
            <a:off x="3100730" y="1856232"/>
            <a:ext cx="640080" cy="182880"/>
          </a:xfrm>
          <a:prstGeom prst="rect">
            <a:avLst/>
          </a:prstGeom>
          <a:noFill/>
          <a:ln/>
        </p:spPr>
        <p:txBody>
          <a:bodyPr wrap="square" lIns="0" tIns="0" rIns="0" bIns="0" rtlCol="0" anchor="ctr"/>
          <a:lstStyle/>
          <a:p>
            <a:pPr indent="0" marL="0">
              <a:buNone/>
            </a:pPr>
            <a:r>
              <a:rPr lang="en-US" sz="900" dirty="0">
                <a:solidFill>
                  <a:srgbClr val="16213A"/>
                </a:solidFill>
              </a:rPr>
              <a:t>0.034</a:t>
            </a:r>
            <a:endParaRPr lang="en-US" sz="900" dirty="0"/>
          </a:p>
        </p:txBody>
      </p:sp>
      <p:sp>
        <p:nvSpPr>
          <p:cNvPr id="9" name="Text 7"/>
          <p:cNvSpPr/>
          <p:nvPr/>
        </p:nvSpPr>
        <p:spPr>
          <a:xfrm>
            <a:off x="960120" y="2450592"/>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Calibrated weights</a:t>
            </a:r>
            <a:endParaRPr lang="en-US" sz="1050" dirty="0"/>
          </a:p>
        </p:txBody>
      </p:sp>
      <p:sp>
        <p:nvSpPr>
          <p:cNvPr id="10" name="Shape 8"/>
          <p:cNvSpPr/>
          <p:nvPr/>
        </p:nvSpPr>
        <p:spPr>
          <a:xfrm>
            <a:off x="2834640" y="2432304"/>
            <a:ext cx="5669280" cy="310896"/>
          </a:xfrm>
          <a:prstGeom prst="rect">
            <a:avLst/>
          </a:prstGeom>
          <a:solidFill>
            <a:srgbClr val="F4F7FB"/>
          </a:solidFill>
          <a:ln w="12700">
            <a:solidFill>
              <a:srgbClr val="D9E2EF"/>
            </a:solidFill>
            <a:prstDash val="solid"/>
          </a:ln>
        </p:spPr>
      </p:sp>
      <p:sp>
        <p:nvSpPr>
          <p:cNvPr id="11" name="Shape 9"/>
          <p:cNvSpPr/>
          <p:nvPr/>
        </p:nvSpPr>
        <p:spPr>
          <a:xfrm>
            <a:off x="2834640" y="2432304"/>
            <a:ext cx="707288" cy="310896"/>
          </a:xfrm>
          <a:prstGeom prst="rect">
            <a:avLst/>
          </a:prstGeom>
          <a:solidFill>
            <a:srgbClr val="D97706"/>
          </a:solidFill>
          <a:ln w="12700">
            <a:solidFill>
              <a:srgbClr val="D97706"/>
            </a:solidFill>
            <a:prstDash val="solid"/>
          </a:ln>
        </p:spPr>
      </p:sp>
      <p:sp>
        <p:nvSpPr>
          <p:cNvPr id="12" name="Text 10"/>
          <p:cNvSpPr/>
          <p:nvPr/>
        </p:nvSpPr>
        <p:spPr>
          <a:xfrm>
            <a:off x="3605936" y="2459736"/>
            <a:ext cx="640080" cy="182880"/>
          </a:xfrm>
          <a:prstGeom prst="rect">
            <a:avLst/>
          </a:prstGeom>
          <a:noFill/>
          <a:ln/>
        </p:spPr>
        <p:txBody>
          <a:bodyPr wrap="square" lIns="0" tIns="0" rIns="0" bIns="0" rtlCol="0" anchor="ctr"/>
          <a:lstStyle/>
          <a:p>
            <a:pPr indent="0" marL="0">
              <a:buNone/>
            </a:pPr>
            <a:r>
              <a:rPr lang="en-US" sz="900" dirty="0">
                <a:solidFill>
                  <a:srgbClr val="16213A"/>
                </a:solidFill>
              </a:rPr>
              <a:t>0.119</a:t>
            </a:r>
            <a:endParaRPr lang="en-US" sz="900" dirty="0"/>
          </a:p>
        </p:txBody>
      </p:sp>
      <p:sp>
        <p:nvSpPr>
          <p:cNvPr id="13" name="Text 11"/>
          <p:cNvSpPr/>
          <p:nvPr/>
        </p:nvSpPr>
        <p:spPr>
          <a:xfrm>
            <a:off x="960120" y="3054096"/>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Previous LODO</a:t>
            </a:r>
            <a:endParaRPr lang="en-US" sz="1050" dirty="0"/>
          </a:p>
        </p:txBody>
      </p:sp>
      <p:sp>
        <p:nvSpPr>
          <p:cNvPr id="14" name="Shape 12"/>
          <p:cNvSpPr/>
          <p:nvPr/>
        </p:nvSpPr>
        <p:spPr>
          <a:xfrm>
            <a:off x="2834640" y="3035808"/>
            <a:ext cx="5669280" cy="310896"/>
          </a:xfrm>
          <a:prstGeom prst="rect">
            <a:avLst/>
          </a:prstGeom>
          <a:solidFill>
            <a:srgbClr val="F4F7FB"/>
          </a:solidFill>
          <a:ln w="12700">
            <a:solidFill>
              <a:srgbClr val="D9E2EF"/>
            </a:solidFill>
            <a:prstDash val="solid"/>
          </a:ln>
        </p:spPr>
      </p:sp>
      <p:sp>
        <p:nvSpPr>
          <p:cNvPr id="15" name="Shape 13"/>
          <p:cNvSpPr/>
          <p:nvPr/>
        </p:nvSpPr>
        <p:spPr>
          <a:xfrm>
            <a:off x="2834640" y="3035808"/>
            <a:ext cx="790499" cy="310896"/>
          </a:xfrm>
          <a:prstGeom prst="rect">
            <a:avLst/>
          </a:prstGeom>
          <a:solidFill>
            <a:srgbClr val="D97706"/>
          </a:solidFill>
          <a:ln w="12700">
            <a:solidFill>
              <a:srgbClr val="D97706"/>
            </a:solidFill>
            <a:prstDash val="solid"/>
          </a:ln>
        </p:spPr>
      </p:sp>
      <p:sp>
        <p:nvSpPr>
          <p:cNvPr id="16" name="Text 14"/>
          <p:cNvSpPr/>
          <p:nvPr/>
        </p:nvSpPr>
        <p:spPr>
          <a:xfrm>
            <a:off x="3689147" y="3063240"/>
            <a:ext cx="640080" cy="182880"/>
          </a:xfrm>
          <a:prstGeom prst="rect">
            <a:avLst/>
          </a:prstGeom>
          <a:noFill/>
          <a:ln/>
        </p:spPr>
        <p:txBody>
          <a:bodyPr wrap="square" lIns="0" tIns="0" rIns="0" bIns="0" rtlCol="0" anchor="ctr"/>
          <a:lstStyle/>
          <a:p>
            <a:pPr indent="0" marL="0">
              <a:buNone/>
            </a:pPr>
            <a:r>
              <a:rPr lang="en-US" sz="900" dirty="0">
                <a:solidFill>
                  <a:srgbClr val="16213A"/>
                </a:solidFill>
              </a:rPr>
              <a:t>0.133</a:t>
            </a:r>
            <a:endParaRPr lang="en-US" sz="900" dirty="0"/>
          </a:p>
        </p:txBody>
      </p:sp>
      <p:sp>
        <p:nvSpPr>
          <p:cNvPr id="17" name="Text 15"/>
          <p:cNvSpPr/>
          <p:nvPr/>
        </p:nvSpPr>
        <p:spPr>
          <a:xfrm>
            <a:off x="960120" y="3657600"/>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Learned selector LODO</a:t>
            </a:r>
            <a:endParaRPr lang="en-US" sz="1050" dirty="0"/>
          </a:p>
        </p:txBody>
      </p:sp>
      <p:sp>
        <p:nvSpPr>
          <p:cNvPr id="18" name="Shape 16"/>
          <p:cNvSpPr/>
          <p:nvPr/>
        </p:nvSpPr>
        <p:spPr>
          <a:xfrm>
            <a:off x="2834640" y="3639312"/>
            <a:ext cx="5669280" cy="310896"/>
          </a:xfrm>
          <a:prstGeom prst="rect">
            <a:avLst/>
          </a:prstGeom>
          <a:solidFill>
            <a:srgbClr val="F4F7FB"/>
          </a:solidFill>
          <a:ln w="12700">
            <a:solidFill>
              <a:srgbClr val="D9E2EF"/>
            </a:solidFill>
            <a:prstDash val="solid"/>
          </a:ln>
        </p:spPr>
      </p:sp>
      <p:sp>
        <p:nvSpPr>
          <p:cNvPr id="19" name="Shape 17"/>
          <p:cNvSpPr/>
          <p:nvPr/>
        </p:nvSpPr>
        <p:spPr>
          <a:xfrm>
            <a:off x="2834640" y="3639312"/>
            <a:ext cx="392278" cy="310896"/>
          </a:xfrm>
          <a:prstGeom prst="rect">
            <a:avLst/>
          </a:prstGeom>
          <a:solidFill>
            <a:srgbClr val="D97706"/>
          </a:solidFill>
          <a:ln w="12700">
            <a:solidFill>
              <a:srgbClr val="D97706"/>
            </a:solidFill>
            <a:prstDash val="solid"/>
          </a:ln>
        </p:spPr>
      </p:sp>
      <p:sp>
        <p:nvSpPr>
          <p:cNvPr id="20" name="Text 18"/>
          <p:cNvSpPr/>
          <p:nvPr/>
        </p:nvSpPr>
        <p:spPr>
          <a:xfrm>
            <a:off x="3290926" y="3666744"/>
            <a:ext cx="640080" cy="182880"/>
          </a:xfrm>
          <a:prstGeom prst="rect">
            <a:avLst/>
          </a:prstGeom>
          <a:noFill/>
          <a:ln/>
        </p:spPr>
        <p:txBody>
          <a:bodyPr wrap="square" lIns="0" tIns="0" rIns="0" bIns="0" rtlCol="0" anchor="ctr"/>
          <a:lstStyle/>
          <a:p>
            <a:pPr indent="0" marL="0">
              <a:buNone/>
            </a:pPr>
            <a:r>
              <a:rPr lang="en-US" sz="900" dirty="0">
                <a:solidFill>
                  <a:srgbClr val="16213A"/>
                </a:solidFill>
              </a:rPr>
              <a:t>0.066</a:t>
            </a:r>
            <a:endParaRPr lang="en-US" sz="900" dirty="0"/>
          </a:p>
        </p:txBody>
      </p:sp>
      <p:sp>
        <p:nvSpPr>
          <p:cNvPr id="21" name="Text 19"/>
          <p:cNvSpPr/>
          <p:nvPr/>
        </p:nvSpPr>
        <p:spPr>
          <a:xfrm>
            <a:off x="960120" y="4261104"/>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Learned in-sample</a:t>
            </a:r>
            <a:endParaRPr lang="en-US" sz="1050" dirty="0"/>
          </a:p>
        </p:txBody>
      </p:sp>
      <p:sp>
        <p:nvSpPr>
          <p:cNvPr id="22" name="Shape 20"/>
          <p:cNvSpPr/>
          <p:nvPr/>
        </p:nvSpPr>
        <p:spPr>
          <a:xfrm>
            <a:off x="2834640" y="4242816"/>
            <a:ext cx="5669280" cy="310896"/>
          </a:xfrm>
          <a:prstGeom prst="rect">
            <a:avLst/>
          </a:prstGeom>
          <a:solidFill>
            <a:srgbClr val="F4F7FB"/>
          </a:solidFill>
          <a:ln w="12700">
            <a:solidFill>
              <a:srgbClr val="D9E2EF"/>
            </a:solidFill>
            <a:prstDash val="solid"/>
          </a:ln>
        </p:spPr>
      </p:sp>
      <p:sp>
        <p:nvSpPr>
          <p:cNvPr id="23" name="Shape 21"/>
          <p:cNvSpPr/>
          <p:nvPr/>
        </p:nvSpPr>
        <p:spPr>
          <a:xfrm>
            <a:off x="2834640" y="4242816"/>
            <a:ext cx="1884121" cy="310896"/>
          </a:xfrm>
          <a:prstGeom prst="rect">
            <a:avLst/>
          </a:prstGeom>
          <a:solidFill>
            <a:srgbClr val="D97706"/>
          </a:solidFill>
          <a:ln w="12700">
            <a:solidFill>
              <a:srgbClr val="D97706"/>
            </a:solidFill>
            <a:prstDash val="solid"/>
          </a:ln>
        </p:spPr>
      </p:sp>
      <p:sp>
        <p:nvSpPr>
          <p:cNvPr id="24" name="Text 22"/>
          <p:cNvSpPr/>
          <p:nvPr/>
        </p:nvSpPr>
        <p:spPr>
          <a:xfrm>
            <a:off x="4782769" y="4270248"/>
            <a:ext cx="640080" cy="182880"/>
          </a:xfrm>
          <a:prstGeom prst="rect">
            <a:avLst/>
          </a:prstGeom>
          <a:noFill/>
          <a:ln/>
        </p:spPr>
        <p:txBody>
          <a:bodyPr wrap="square" lIns="0" tIns="0" rIns="0" bIns="0" rtlCol="0" anchor="ctr"/>
          <a:lstStyle/>
          <a:p>
            <a:pPr indent="0" marL="0">
              <a:buNone/>
            </a:pPr>
            <a:r>
              <a:rPr lang="en-US" sz="900" dirty="0">
                <a:solidFill>
                  <a:srgbClr val="16213A"/>
                </a:solidFill>
              </a:rPr>
              <a:t>0.317</a:t>
            </a:r>
            <a:endParaRPr lang="en-US" sz="900" dirty="0"/>
          </a:p>
        </p:txBody>
      </p:sp>
      <p:sp>
        <p:nvSpPr>
          <p:cNvPr id="25" name="Text 23"/>
          <p:cNvSpPr/>
          <p:nvPr/>
        </p:nvSpPr>
        <p:spPr>
          <a:xfrm>
            <a:off x="960120" y="5212080"/>
            <a:ext cx="4937760" cy="228600"/>
          </a:xfrm>
          <a:prstGeom prst="rect">
            <a:avLst/>
          </a:prstGeom>
          <a:noFill/>
          <a:ln/>
        </p:spPr>
        <p:txBody>
          <a:bodyPr wrap="square" lIns="0" tIns="0" rIns="0" bIns="0" rtlCol="0" anchor="ctr"/>
          <a:lstStyle/>
          <a:p>
            <a:pPr indent="0" marL="0">
              <a:buNone/>
            </a:pPr>
            <a:r>
              <a:rPr lang="en-US" sz="1000" dirty="0">
                <a:solidFill>
                  <a:srgbClr val="5E6B7A"/>
                </a:solidFill>
              </a:rPr>
              <a:t>Average F1 across five real datasets</a:t>
            </a:r>
            <a:endParaRPr lang="en-US" sz="1000" dirty="0"/>
          </a:p>
        </p:txBody>
      </p:sp>
      <p:sp>
        <p:nvSpPr>
          <p:cNvPr id="26" name="Text 24"/>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Updated Real ROC-AUC</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LODO drop appears in ranking quality too.</a:t>
            </a:r>
            <a:endParaRPr lang="en-US" sz="1600" dirty="0"/>
          </a:p>
        </p:txBody>
      </p:sp>
      <p:sp>
        <p:nvSpPr>
          <p:cNvPr id="5" name="Text 3"/>
          <p:cNvSpPr/>
          <p:nvPr/>
        </p:nvSpPr>
        <p:spPr>
          <a:xfrm>
            <a:off x="960120" y="18470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Default AutoAD</a:t>
            </a:r>
            <a:endParaRPr lang="en-US" sz="1050" dirty="0"/>
          </a:p>
        </p:txBody>
      </p:sp>
      <p:sp>
        <p:nvSpPr>
          <p:cNvPr id="6" name="Shape 4"/>
          <p:cNvSpPr/>
          <p:nvPr/>
        </p:nvSpPr>
        <p:spPr>
          <a:xfrm>
            <a:off x="2834640" y="1828800"/>
            <a:ext cx="5669280" cy="310896"/>
          </a:xfrm>
          <a:prstGeom prst="rect">
            <a:avLst/>
          </a:prstGeom>
          <a:solidFill>
            <a:srgbClr val="F4F7FB"/>
          </a:solidFill>
          <a:ln w="12700">
            <a:solidFill>
              <a:srgbClr val="D9E2EF"/>
            </a:solidFill>
            <a:prstDash val="solid"/>
          </a:ln>
        </p:spPr>
      </p:sp>
      <p:sp>
        <p:nvSpPr>
          <p:cNvPr id="7" name="Shape 5"/>
          <p:cNvSpPr/>
          <p:nvPr/>
        </p:nvSpPr>
        <p:spPr>
          <a:xfrm>
            <a:off x="2834640" y="1828800"/>
            <a:ext cx="4380433" cy="310896"/>
          </a:xfrm>
          <a:prstGeom prst="rect">
            <a:avLst/>
          </a:prstGeom>
          <a:solidFill>
            <a:srgbClr val="D97706"/>
          </a:solidFill>
          <a:ln w="12700">
            <a:solidFill>
              <a:srgbClr val="D97706"/>
            </a:solidFill>
            <a:prstDash val="solid"/>
          </a:ln>
        </p:spPr>
      </p:sp>
      <p:sp>
        <p:nvSpPr>
          <p:cNvPr id="8" name="Text 6"/>
          <p:cNvSpPr/>
          <p:nvPr/>
        </p:nvSpPr>
        <p:spPr>
          <a:xfrm>
            <a:off x="7279081" y="1856232"/>
            <a:ext cx="640080" cy="182880"/>
          </a:xfrm>
          <a:prstGeom prst="rect">
            <a:avLst/>
          </a:prstGeom>
          <a:noFill/>
          <a:ln/>
        </p:spPr>
        <p:txBody>
          <a:bodyPr wrap="square" lIns="0" tIns="0" rIns="0" bIns="0" rtlCol="0" anchor="ctr"/>
          <a:lstStyle/>
          <a:p>
            <a:pPr indent="0" marL="0">
              <a:buNone/>
            </a:pPr>
            <a:r>
              <a:rPr lang="en-US" sz="900" dirty="0">
                <a:solidFill>
                  <a:srgbClr val="16213A"/>
                </a:solidFill>
              </a:rPr>
              <a:t>0.737</a:t>
            </a:r>
            <a:endParaRPr lang="en-US" sz="900" dirty="0"/>
          </a:p>
        </p:txBody>
      </p:sp>
      <p:sp>
        <p:nvSpPr>
          <p:cNvPr id="9" name="Text 7"/>
          <p:cNvSpPr/>
          <p:nvPr/>
        </p:nvSpPr>
        <p:spPr>
          <a:xfrm>
            <a:off x="960120" y="2450592"/>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Calibrated weights</a:t>
            </a:r>
            <a:endParaRPr lang="en-US" sz="1050" dirty="0"/>
          </a:p>
        </p:txBody>
      </p:sp>
      <p:sp>
        <p:nvSpPr>
          <p:cNvPr id="10" name="Shape 8"/>
          <p:cNvSpPr/>
          <p:nvPr/>
        </p:nvSpPr>
        <p:spPr>
          <a:xfrm>
            <a:off x="2834640" y="2432304"/>
            <a:ext cx="5669280" cy="310896"/>
          </a:xfrm>
          <a:prstGeom prst="rect">
            <a:avLst/>
          </a:prstGeom>
          <a:solidFill>
            <a:srgbClr val="F4F7FB"/>
          </a:solidFill>
          <a:ln w="12700">
            <a:solidFill>
              <a:srgbClr val="D9E2EF"/>
            </a:solidFill>
            <a:prstDash val="solid"/>
          </a:ln>
        </p:spPr>
      </p:sp>
      <p:sp>
        <p:nvSpPr>
          <p:cNvPr id="11" name="Shape 9"/>
          <p:cNvSpPr/>
          <p:nvPr/>
        </p:nvSpPr>
        <p:spPr>
          <a:xfrm>
            <a:off x="2834640" y="2432304"/>
            <a:ext cx="3601822" cy="310896"/>
          </a:xfrm>
          <a:prstGeom prst="rect">
            <a:avLst/>
          </a:prstGeom>
          <a:solidFill>
            <a:srgbClr val="D97706"/>
          </a:solidFill>
          <a:ln w="12700">
            <a:solidFill>
              <a:srgbClr val="D97706"/>
            </a:solidFill>
            <a:prstDash val="solid"/>
          </a:ln>
        </p:spPr>
      </p:sp>
      <p:sp>
        <p:nvSpPr>
          <p:cNvPr id="12" name="Text 10"/>
          <p:cNvSpPr/>
          <p:nvPr/>
        </p:nvSpPr>
        <p:spPr>
          <a:xfrm>
            <a:off x="6500470" y="2459736"/>
            <a:ext cx="640080" cy="182880"/>
          </a:xfrm>
          <a:prstGeom prst="rect">
            <a:avLst/>
          </a:prstGeom>
          <a:noFill/>
          <a:ln/>
        </p:spPr>
        <p:txBody>
          <a:bodyPr wrap="square" lIns="0" tIns="0" rIns="0" bIns="0" rtlCol="0" anchor="ctr"/>
          <a:lstStyle/>
          <a:p>
            <a:pPr indent="0" marL="0">
              <a:buNone/>
            </a:pPr>
            <a:r>
              <a:rPr lang="en-US" sz="900" dirty="0">
                <a:solidFill>
                  <a:srgbClr val="16213A"/>
                </a:solidFill>
              </a:rPr>
              <a:t>0.606</a:t>
            </a:r>
            <a:endParaRPr lang="en-US" sz="900" dirty="0"/>
          </a:p>
        </p:txBody>
      </p:sp>
      <p:sp>
        <p:nvSpPr>
          <p:cNvPr id="13" name="Text 11"/>
          <p:cNvSpPr/>
          <p:nvPr/>
        </p:nvSpPr>
        <p:spPr>
          <a:xfrm>
            <a:off x="960120" y="3054096"/>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Previous LODO</a:t>
            </a:r>
            <a:endParaRPr lang="en-US" sz="1050" dirty="0"/>
          </a:p>
        </p:txBody>
      </p:sp>
      <p:sp>
        <p:nvSpPr>
          <p:cNvPr id="14" name="Shape 12"/>
          <p:cNvSpPr/>
          <p:nvPr/>
        </p:nvSpPr>
        <p:spPr>
          <a:xfrm>
            <a:off x="2834640" y="3035808"/>
            <a:ext cx="5669280" cy="310896"/>
          </a:xfrm>
          <a:prstGeom prst="rect">
            <a:avLst/>
          </a:prstGeom>
          <a:solidFill>
            <a:srgbClr val="F4F7FB"/>
          </a:solidFill>
          <a:ln w="12700">
            <a:solidFill>
              <a:srgbClr val="D9E2EF"/>
            </a:solidFill>
            <a:prstDash val="solid"/>
          </a:ln>
        </p:spPr>
      </p:sp>
      <p:sp>
        <p:nvSpPr>
          <p:cNvPr id="15" name="Shape 13"/>
          <p:cNvSpPr/>
          <p:nvPr/>
        </p:nvSpPr>
        <p:spPr>
          <a:xfrm>
            <a:off x="2834640" y="3035808"/>
            <a:ext cx="3405683" cy="310896"/>
          </a:xfrm>
          <a:prstGeom prst="rect">
            <a:avLst/>
          </a:prstGeom>
          <a:solidFill>
            <a:srgbClr val="D97706"/>
          </a:solidFill>
          <a:ln w="12700">
            <a:solidFill>
              <a:srgbClr val="D97706"/>
            </a:solidFill>
            <a:prstDash val="solid"/>
          </a:ln>
        </p:spPr>
      </p:sp>
      <p:sp>
        <p:nvSpPr>
          <p:cNvPr id="16" name="Text 14"/>
          <p:cNvSpPr/>
          <p:nvPr/>
        </p:nvSpPr>
        <p:spPr>
          <a:xfrm>
            <a:off x="6304331" y="3063240"/>
            <a:ext cx="640080" cy="182880"/>
          </a:xfrm>
          <a:prstGeom prst="rect">
            <a:avLst/>
          </a:prstGeom>
          <a:noFill/>
          <a:ln/>
        </p:spPr>
        <p:txBody>
          <a:bodyPr wrap="square" lIns="0" tIns="0" rIns="0" bIns="0" rtlCol="0" anchor="ctr"/>
          <a:lstStyle/>
          <a:p>
            <a:pPr indent="0" marL="0">
              <a:buNone/>
            </a:pPr>
            <a:r>
              <a:rPr lang="en-US" sz="900" dirty="0">
                <a:solidFill>
                  <a:srgbClr val="16213A"/>
                </a:solidFill>
              </a:rPr>
              <a:t>0.573</a:t>
            </a:r>
            <a:endParaRPr lang="en-US" sz="900" dirty="0"/>
          </a:p>
        </p:txBody>
      </p:sp>
      <p:sp>
        <p:nvSpPr>
          <p:cNvPr id="17" name="Text 15"/>
          <p:cNvSpPr/>
          <p:nvPr/>
        </p:nvSpPr>
        <p:spPr>
          <a:xfrm>
            <a:off x="960120" y="3657600"/>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Learned selector LODO</a:t>
            </a:r>
            <a:endParaRPr lang="en-US" sz="1050" dirty="0"/>
          </a:p>
        </p:txBody>
      </p:sp>
      <p:sp>
        <p:nvSpPr>
          <p:cNvPr id="18" name="Shape 16"/>
          <p:cNvSpPr/>
          <p:nvPr/>
        </p:nvSpPr>
        <p:spPr>
          <a:xfrm>
            <a:off x="2834640" y="3639312"/>
            <a:ext cx="5669280" cy="310896"/>
          </a:xfrm>
          <a:prstGeom prst="rect">
            <a:avLst/>
          </a:prstGeom>
          <a:solidFill>
            <a:srgbClr val="F4F7FB"/>
          </a:solidFill>
          <a:ln w="12700">
            <a:solidFill>
              <a:srgbClr val="D9E2EF"/>
            </a:solidFill>
            <a:prstDash val="solid"/>
          </a:ln>
        </p:spPr>
      </p:sp>
      <p:sp>
        <p:nvSpPr>
          <p:cNvPr id="19" name="Shape 17"/>
          <p:cNvSpPr/>
          <p:nvPr/>
        </p:nvSpPr>
        <p:spPr>
          <a:xfrm>
            <a:off x="2834640" y="3639312"/>
            <a:ext cx="3138221" cy="310896"/>
          </a:xfrm>
          <a:prstGeom prst="rect">
            <a:avLst/>
          </a:prstGeom>
          <a:solidFill>
            <a:srgbClr val="D97706"/>
          </a:solidFill>
          <a:ln w="12700">
            <a:solidFill>
              <a:srgbClr val="D97706"/>
            </a:solidFill>
            <a:prstDash val="solid"/>
          </a:ln>
        </p:spPr>
      </p:sp>
      <p:sp>
        <p:nvSpPr>
          <p:cNvPr id="20" name="Text 18"/>
          <p:cNvSpPr/>
          <p:nvPr/>
        </p:nvSpPr>
        <p:spPr>
          <a:xfrm>
            <a:off x="6036869" y="3666744"/>
            <a:ext cx="640080" cy="182880"/>
          </a:xfrm>
          <a:prstGeom prst="rect">
            <a:avLst/>
          </a:prstGeom>
          <a:noFill/>
          <a:ln/>
        </p:spPr>
        <p:txBody>
          <a:bodyPr wrap="square" lIns="0" tIns="0" rIns="0" bIns="0" rtlCol="0" anchor="ctr"/>
          <a:lstStyle/>
          <a:p>
            <a:pPr indent="0" marL="0">
              <a:buNone/>
            </a:pPr>
            <a:r>
              <a:rPr lang="en-US" sz="900" dirty="0">
                <a:solidFill>
                  <a:srgbClr val="16213A"/>
                </a:solidFill>
              </a:rPr>
              <a:t>0.528</a:t>
            </a:r>
            <a:endParaRPr lang="en-US" sz="900" dirty="0"/>
          </a:p>
        </p:txBody>
      </p:sp>
      <p:sp>
        <p:nvSpPr>
          <p:cNvPr id="21" name="Text 19"/>
          <p:cNvSpPr/>
          <p:nvPr/>
        </p:nvSpPr>
        <p:spPr>
          <a:xfrm>
            <a:off x="960120" y="4261104"/>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Learned in-sample</a:t>
            </a:r>
            <a:endParaRPr lang="en-US" sz="1050" dirty="0"/>
          </a:p>
        </p:txBody>
      </p:sp>
      <p:sp>
        <p:nvSpPr>
          <p:cNvPr id="22" name="Shape 20"/>
          <p:cNvSpPr/>
          <p:nvPr/>
        </p:nvSpPr>
        <p:spPr>
          <a:xfrm>
            <a:off x="2834640" y="4242816"/>
            <a:ext cx="5669280" cy="310896"/>
          </a:xfrm>
          <a:prstGeom prst="rect">
            <a:avLst/>
          </a:prstGeom>
          <a:solidFill>
            <a:srgbClr val="F4F7FB"/>
          </a:solidFill>
          <a:ln w="12700">
            <a:solidFill>
              <a:srgbClr val="D9E2EF"/>
            </a:solidFill>
            <a:prstDash val="solid"/>
          </a:ln>
        </p:spPr>
      </p:sp>
      <p:sp>
        <p:nvSpPr>
          <p:cNvPr id="23" name="Shape 21"/>
          <p:cNvSpPr/>
          <p:nvPr/>
        </p:nvSpPr>
        <p:spPr>
          <a:xfrm>
            <a:off x="2834640" y="4242816"/>
            <a:ext cx="4891583" cy="310896"/>
          </a:xfrm>
          <a:prstGeom prst="rect">
            <a:avLst/>
          </a:prstGeom>
          <a:solidFill>
            <a:srgbClr val="D97706"/>
          </a:solidFill>
          <a:ln w="12700">
            <a:solidFill>
              <a:srgbClr val="D97706"/>
            </a:solidFill>
            <a:prstDash val="solid"/>
          </a:ln>
        </p:spPr>
      </p:sp>
      <p:sp>
        <p:nvSpPr>
          <p:cNvPr id="24" name="Text 22"/>
          <p:cNvSpPr/>
          <p:nvPr/>
        </p:nvSpPr>
        <p:spPr>
          <a:xfrm>
            <a:off x="7790231" y="4270248"/>
            <a:ext cx="640080" cy="182880"/>
          </a:xfrm>
          <a:prstGeom prst="rect">
            <a:avLst/>
          </a:prstGeom>
          <a:noFill/>
          <a:ln/>
        </p:spPr>
        <p:txBody>
          <a:bodyPr wrap="square" lIns="0" tIns="0" rIns="0" bIns="0" rtlCol="0" anchor="ctr"/>
          <a:lstStyle/>
          <a:p>
            <a:pPr indent="0" marL="0">
              <a:buNone/>
            </a:pPr>
            <a:r>
              <a:rPr lang="en-US" sz="900" dirty="0">
                <a:solidFill>
                  <a:srgbClr val="16213A"/>
                </a:solidFill>
              </a:rPr>
              <a:t>0.823</a:t>
            </a:r>
            <a:endParaRPr lang="en-US" sz="900" dirty="0"/>
          </a:p>
        </p:txBody>
      </p:sp>
      <p:sp>
        <p:nvSpPr>
          <p:cNvPr id="25" name="Text 23"/>
          <p:cNvSpPr/>
          <p:nvPr/>
        </p:nvSpPr>
        <p:spPr>
          <a:xfrm>
            <a:off x="960120" y="5212080"/>
            <a:ext cx="4937760" cy="228600"/>
          </a:xfrm>
          <a:prstGeom prst="rect">
            <a:avLst/>
          </a:prstGeom>
          <a:noFill/>
          <a:ln/>
        </p:spPr>
        <p:txBody>
          <a:bodyPr wrap="square" lIns="0" tIns="0" rIns="0" bIns="0" rtlCol="0" anchor="ctr"/>
          <a:lstStyle/>
          <a:p>
            <a:pPr indent="0" marL="0">
              <a:buNone/>
            </a:pPr>
            <a:r>
              <a:rPr lang="en-US" sz="1000" dirty="0">
                <a:solidFill>
                  <a:srgbClr val="5E6B7A"/>
                </a:solidFill>
              </a:rPr>
              <a:t>Average ROC-AUC across five real datasets</a:t>
            </a:r>
            <a:endParaRPr lang="en-US" sz="1000" dirty="0"/>
          </a:p>
        </p:txBody>
      </p:sp>
      <p:sp>
        <p:nvSpPr>
          <p:cNvPr id="26" name="Text 24"/>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33</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LODO Learned Selector Detail</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selector often matched the held-out dataset to the wrong training profile.</a:t>
            </a:r>
            <a:endParaRPr lang="en-US" sz="1600" dirty="0"/>
          </a:p>
        </p:txBody>
      </p:sp>
      <p:sp>
        <p:nvSpPr>
          <p:cNvPr id="5" name="Shape 3"/>
          <p:cNvSpPr/>
          <p:nvPr/>
        </p:nvSpPr>
        <p:spPr>
          <a:xfrm>
            <a:off x="566928" y="1627632"/>
            <a:ext cx="9098280" cy="502920"/>
          </a:xfrm>
          <a:prstGeom prst="rect">
            <a:avLst/>
          </a:prstGeom>
          <a:solidFill>
            <a:srgbClr val="16213A"/>
          </a:solidFill>
          <a:ln w="12700">
            <a:solidFill>
              <a:srgbClr val="16213A"/>
            </a:solidFill>
            <a:prstDash val="solid"/>
          </a:ln>
        </p:spPr>
      </p:sp>
      <p:sp>
        <p:nvSpPr>
          <p:cNvPr id="6" name="Text 4"/>
          <p:cNvSpPr/>
          <p:nvPr/>
        </p:nvSpPr>
        <p:spPr>
          <a:xfrm>
            <a:off x="685800" y="1783080"/>
            <a:ext cx="1691640" cy="219456"/>
          </a:xfrm>
          <a:prstGeom prst="rect">
            <a:avLst/>
          </a:prstGeom>
          <a:noFill/>
          <a:ln/>
        </p:spPr>
        <p:txBody>
          <a:bodyPr wrap="square" lIns="0" tIns="0" rIns="0" bIns="0" rtlCol="0" anchor="ctr">
            <a:normAutofit/>
          </a:bodyPr>
          <a:lstStyle/>
          <a:p>
            <a:pPr indent="0" marL="0">
              <a:buNone/>
            </a:pPr>
            <a:r>
              <a:rPr lang="en-US" sz="1050" b="1" dirty="0">
                <a:solidFill>
                  <a:srgbClr val="FFFFFF"/>
                </a:solidFill>
              </a:rPr>
              <a:t>Held-out</a:t>
            </a:r>
            <a:endParaRPr lang="en-US" sz="1050" dirty="0"/>
          </a:p>
        </p:txBody>
      </p:sp>
      <p:sp>
        <p:nvSpPr>
          <p:cNvPr id="7" name="Text 5"/>
          <p:cNvSpPr/>
          <p:nvPr/>
        </p:nvSpPr>
        <p:spPr>
          <a:xfrm>
            <a:off x="2743200" y="1783080"/>
            <a:ext cx="1417320" cy="219456"/>
          </a:xfrm>
          <a:prstGeom prst="rect">
            <a:avLst/>
          </a:prstGeom>
          <a:noFill/>
          <a:ln/>
        </p:spPr>
        <p:txBody>
          <a:bodyPr wrap="square" lIns="0" tIns="0" rIns="0" bIns="0" rtlCol="0" anchor="ctr">
            <a:normAutofit/>
          </a:bodyPr>
          <a:lstStyle/>
          <a:p>
            <a:pPr indent="0" marL="0">
              <a:buNone/>
            </a:pPr>
            <a:r>
              <a:rPr lang="en-US" sz="1050" b="1" dirty="0">
                <a:solidFill>
                  <a:srgbClr val="FFFFFF"/>
                </a:solidFill>
              </a:rPr>
              <a:t>Selected</a:t>
            </a:r>
            <a:endParaRPr lang="en-US" sz="1050" dirty="0"/>
          </a:p>
        </p:txBody>
      </p:sp>
      <p:sp>
        <p:nvSpPr>
          <p:cNvPr id="8" name="Text 6"/>
          <p:cNvSpPr/>
          <p:nvPr/>
        </p:nvSpPr>
        <p:spPr>
          <a:xfrm>
            <a:off x="4572000" y="1783080"/>
            <a:ext cx="2194560" cy="219456"/>
          </a:xfrm>
          <a:prstGeom prst="rect">
            <a:avLst/>
          </a:prstGeom>
          <a:noFill/>
          <a:ln/>
        </p:spPr>
        <p:txBody>
          <a:bodyPr wrap="square" lIns="0" tIns="0" rIns="0" bIns="0" rtlCol="0" anchor="ctr">
            <a:normAutofit/>
          </a:bodyPr>
          <a:lstStyle/>
          <a:p>
            <a:pPr indent="0" marL="0">
              <a:buNone/>
            </a:pPr>
            <a:r>
              <a:rPr lang="en-US" sz="1050" b="1" dirty="0">
                <a:solidFill>
                  <a:srgbClr val="FFFFFF"/>
                </a:solidFill>
              </a:rPr>
              <a:t>Matched</a:t>
            </a:r>
            <a:endParaRPr lang="en-US" sz="1050" dirty="0"/>
          </a:p>
        </p:txBody>
      </p:sp>
      <p:sp>
        <p:nvSpPr>
          <p:cNvPr id="9" name="Text 7"/>
          <p:cNvSpPr/>
          <p:nvPr/>
        </p:nvSpPr>
        <p:spPr>
          <a:xfrm>
            <a:off x="7315200" y="1783080"/>
            <a:ext cx="731520" cy="219456"/>
          </a:xfrm>
          <a:prstGeom prst="rect">
            <a:avLst/>
          </a:prstGeom>
          <a:noFill/>
          <a:ln/>
        </p:spPr>
        <p:txBody>
          <a:bodyPr wrap="square" lIns="0" tIns="0" rIns="0" bIns="0" rtlCol="0" anchor="ctr">
            <a:normAutofit/>
          </a:bodyPr>
          <a:lstStyle/>
          <a:p>
            <a:pPr indent="0" marL="0">
              <a:buNone/>
            </a:pPr>
            <a:r>
              <a:rPr lang="en-US" sz="1050" b="1" dirty="0">
                <a:solidFill>
                  <a:srgbClr val="FFFFFF"/>
                </a:solidFill>
              </a:rPr>
              <a:t>F1</a:t>
            </a:r>
            <a:endParaRPr lang="en-US" sz="1050" dirty="0"/>
          </a:p>
        </p:txBody>
      </p:sp>
      <p:sp>
        <p:nvSpPr>
          <p:cNvPr id="10" name="Text 8"/>
          <p:cNvSpPr/>
          <p:nvPr/>
        </p:nvSpPr>
        <p:spPr>
          <a:xfrm>
            <a:off x="8412480" y="1783080"/>
            <a:ext cx="731520" cy="219456"/>
          </a:xfrm>
          <a:prstGeom prst="rect">
            <a:avLst/>
          </a:prstGeom>
          <a:noFill/>
          <a:ln/>
        </p:spPr>
        <p:txBody>
          <a:bodyPr wrap="square" lIns="0" tIns="0" rIns="0" bIns="0" rtlCol="0" anchor="ctr">
            <a:normAutofit/>
          </a:bodyPr>
          <a:lstStyle/>
          <a:p>
            <a:pPr indent="0" marL="0">
              <a:buNone/>
            </a:pPr>
            <a:r>
              <a:rPr lang="en-US" sz="1050" b="1" dirty="0">
                <a:solidFill>
                  <a:srgbClr val="FFFFFF"/>
                </a:solidFill>
              </a:rPr>
              <a:t>ROC</a:t>
            </a:r>
            <a:endParaRPr lang="en-US" sz="1050" dirty="0"/>
          </a:p>
        </p:txBody>
      </p:sp>
      <p:sp>
        <p:nvSpPr>
          <p:cNvPr id="11" name="Shape 9"/>
          <p:cNvSpPr/>
          <p:nvPr/>
        </p:nvSpPr>
        <p:spPr>
          <a:xfrm>
            <a:off x="566928" y="2121408"/>
            <a:ext cx="9098280" cy="438912"/>
          </a:xfrm>
          <a:prstGeom prst="rect">
            <a:avLst/>
          </a:prstGeom>
          <a:solidFill>
            <a:srgbClr val="EEF6FF"/>
          </a:solidFill>
          <a:ln w="12700">
            <a:solidFill>
              <a:srgbClr val="D9E2EF"/>
            </a:solidFill>
            <a:prstDash val="solid"/>
          </a:ln>
        </p:spPr>
      </p:sp>
      <p:sp>
        <p:nvSpPr>
          <p:cNvPr id="12" name="Text 10"/>
          <p:cNvSpPr/>
          <p:nvPr/>
        </p:nvSpPr>
        <p:spPr>
          <a:xfrm>
            <a:off x="685800" y="2240280"/>
            <a:ext cx="169164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Annthyroid</a:t>
            </a:r>
            <a:endParaRPr lang="en-US" sz="1050" dirty="0"/>
          </a:p>
        </p:txBody>
      </p:sp>
      <p:sp>
        <p:nvSpPr>
          <p:cNvPr id="13" name="Text 11"/>
          <p:cNvSpPr/>
          <p:nvPr/>
        </p:nvSpPr>
        <p:spPr>
          <a:xfrm>
            <a:off x="2743200" y="2240280"/>
            <a:ext cx="14173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LOF</a:t>
            </a:r>
            <a:endParaRPr lang="en-US" sz="1050" dirty="0"/>
          </a:p>
        </p:txBody>
      </p:sp>
      <p:sp>
        <p:nvSpPr>
          <p:cNvPr id="14" name="Text 12"/>
          <p:cNvSpPr/>
          <p:nvPr/>
        </p:nvSpPr>
        <p:spPr>
          <a:xfrm>
            <a:off x="4572000" y="2240280"/>
            <a:ext cx="219456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Glass</a:t>
            </a:r>
            <a:endParaRPr lang="en-US" sz="1050" dirty="0"/>
          </a:p>
        </p:txBody>
      </p:sp>
      <p:sp>
        <p:nvSpPr>
          <p:cNvPr id="15" name="Text 13"/>
          <p:cNvSpPr/>
          <p:nvPr/>
        </p:nvSpPr>
        <p:spPr>
          <a:xfrm>
            <a:off x="7315200" y="2240280"/>
            <a:ext cx="7315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0.139</a:t>
            </a:r>
            <a:endParaRPr lang="en-US" sz="1050" dirty="0"/>
          </a:p>
        </p:txBody>
      </p:sp>
      <p:sp>
        <p:nvSpPr>
          <p:cNvPr id="16" name="Text 14"/>
          <p:cNvSpPr/>
          <p:nvPr/>
        </p:nvSpPr>
        <p:spPr>
          <a:xfrm>
            <a:off x="8412480" y="2240280"/>
            <a:ext cx="7315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0.693</a:t>
            </a:r>
            <a:endParaRPr lang="en-US" sz="1050" dirty="0"/>
          </a:p>
        </p:txBody>
      </p:sp>
      <p:sp>
        <p:nvSpPr>
          <p:cNvPr id="17" name="Shape 15"/>
          <p:cNvSpPr/>
          <p:nvPr/>
        </p:nvSpPr>
        <p:spPr>
          <a:xfrm>
            <a:off x="566928" y="2688336"/>
            <a:ext cx="9098280" cy="438912"/>
          </a:xfrm>
          <a:prstGeom prst="rect">
            <a:avLst/>
          </a:prstGeom>
          <a:solidFill>
            <a:srgbClr val="F8FAFC"/>
          </a:solidFill>
          <a:ln w="12700">
            <a:solidFill>
              <a:srgbClr val="D9E2EF"/>
            </a:solidFill>
            <a:prstDash val="solid"/>
          </a:ln>
        </p:spPr>
      </p:sp>
      <p:sp>
        <p:nvSpPr>
          <p:cNvPr id="18" name="Text 16"/>
          <p:cNvSpPr/>
          <p:nvPr/>
        </p:nvSpPr>
        <p:spPr>
          <a:xfrm>
            <a:off x="685800" y="2807208"/>
            <a:ext cx="169164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KDD HTTP</a:t>
            </a:r>
            <a:endParaRPr lang="en-US" sz="1050" dirty="0"/>
          </a:p>
        </p:txBody>
      </p:sp>
      <p:sp>
        <p:nvSpPr>
          <p:cNvPr id="19" name="Text 17"/>
          <p:cNvSpPr/>
          <p:nvPr/>
        </p:nvSpPr>
        <p:spPr>
          <a:xfrm>
            <a:off x="2743200" y="2807208"/>
            <a:ext cx="14173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Ensemble</a:t>
            </a:r>
            <a:endParaRPr lang="en-US" sz="1050" dirty="0"/>
          </a:p>
        </p:txBody>
      </p:sp>
      <p:sp>
        <p:nvSpPr>
          <p:cNvPr id="20" name="Text 18"/>
          <p:cNvSpPr/>
          <p:nvPr/>
        </p:nvSpPr>
        <p:spPr>
          <a:xfrm>
            <a:off x="4572000" y="2807208"/>
            <a:ext cx="219456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Annthyroid</a:t>
            </a:r>
            <a:endParaRPr lang="en-US" sz="1050" dirty="0"/>
          </a:p>
        </p:txBody>
      </p:sp>
      <p:sp>
        <p:nvSpPr>
          <p:cNvPr id="21" name="Text 19"/>
          <p:cNvSpPr/>
          <p:nvPr/>
        </p:nvSpPr>
        <p:spPr>
          <a:xfrm>
            <a:off x="7315200" y="2807208"/>
            <a:ext cx="7315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0.021</a:t>
            </a:r>
            <a:endParaRPr lang="en-US" sz="1050" dirty="0"/>
          </a:p>
        </p:txBody>
      </p:sp>
      <p:sp>
        <p:nvSpPr>
          <p:cNvPr id="22" name="Text 20"/>
          <p:cNvSpPr/>
          <p:nvPr/>
        </p:nvSpPr>
        <p:spPr>
          <a:xfrm>
            <a:off x="8412480" y="2807208"/>
            <a:ext cx="7315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0.040</a:t>
            </a:r>
            <a:endParaRPr lang="en-US" sz="1050" dirty="0"/>
          </a:p>
        </p:txBody>
      </p:sp>
      <p:sp>
        <p:nvSpPr>
          <p:cNvPr id="23" name="Shape 21"/>
          <p:cNvSpPr/>
          <p:nvPr/>
        </p:nvSpPr>
        <p:spPr>
          <a:xfrm>
            <a:off x="566928" y="3255264"/>
            <a:ext cx="9098280" cy="438912"/>
          </a:xfrm>
          <a:prstGeom prst="rect">
            <a:avLst/>
          </a:prstGeom>
          <a:solidFill>
            <a:srgbClr val="EEF6FF"/>
          </a:solidFill>
          <a:ln w="12700">
            <a:solidFill>
              <a:srgbClr val="D9E2EF"/>
            </a:solidFill>
            <a:prstDash val="solid"/>
          </a:ln>
        </p:spPr>
      </p:sp>
      <p:sp>
        <p:nvSpPr>
          <p:cNvPr id="24" name="Text 22"/>
          <p:cNvSpPr/>
          <p:nvPr/>
        </p:nvSpPr>
        <p:spPr>
          <a:xfrm>
            <a:off x="685800" y="3374136"/>
            <a:ext cx="169164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KDD SMTP</a:t>
            </a:r>
            <a:endParaRPr lang="en-US" sz="1050" dirty="0"/>
          </a:p>
        </p:txBody>
      </p:sp>
      <p:sp>
        <p:nvSpPr>
          <p:cNvPr id="25" name="Text 23"/>
          <p:cNvSpPr/>
          <p:nvPr/>
        </p:nvSpPr>
        <p:spPr>
          <a:xfrm>
            <a:off x="2743200" y="3374136"/>
            <a:ext cx="14173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OCSVM</a:t>
            </a:r>
            <a:endParaRPr lang="en-US" sz="1050" dirty="0"/>
          </a:p>
        </p:txBody>
      </p:sp>
      <p:sp>
        <p:nvSpPr>
          <p:cNvPr id="26" name="Text 24"/>
          <p:cNvSpPr/>
          <p:nvPr/>
        </p:nvSpPr>
        <p:spPr>
          <a:xfrm>
            <a:off x="4572000" y="3374136"/>
            <a:ext cx="219456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KDD HTTP</a:t>
            </a:r>
            <a:endParaRPr lang="en-US" sz="1050" dirty="0"/>
          </a:p>
        </p:txBody>
      </p:sp>
      <p:sp>
        <p:nvSpPr>
          <p:cNvPr id="27" name="Text 25"/>
          <p:cNvSpPr/>
          <p:nvPr/>
        </p:nvSpPr>
        <p:spPr>
          <a:xfrm>
            <a:off x="7315200" y="3374136"/>
            <a:ext cx="7315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0.011</a:t>
            </a:r>
            <a:endParaRPr lang="en-US" sz="1050" dirty="0"/>
          </a:p>
        </p:txBody>
      </p:sp>
      <p:sp>
        <p:nvSpPr>
          <p:cNvPr id="28" name="Text 26"/>
          <p:cNvSpPr/>
          <p:nvPr/>
        </p:nvSpPr>
        <p:spPr>
          <a:xfrm>
            <a:off x="8412480" y="3374136"/>
            <a:ext cx="7315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0.702</a:t>
            </a:r>
            <a:endParaRPr lang="en-US" sz="1050" dirty="0"/>
          </a:p>
        </p:txBody>
      </p:sp>
      <p:sp>
        <p:nvSpPr>
          <p:cNvPr id="29" name="Shape 27"/>
          <p:cNvSpPr/>
          <p:nvPr/>
        </p:nvSpPr>
        <p:spPr>
          <a:xfrm>
            <a:off x="566928" y="3822192"/>
            <a:ext cx="9098280" cy="438912"/>
          </a:xfrm>
          <a:prstGeom prst="rect">
            <a:avLst/>
          </a:prstGeom>
          <a:solidFill>
            <a:srgbClr val="F8FAFC"/>
          </a:solidFill>
          <a:ln w="12700">
            <a:solidFill>
              <a:srgbClr val="D9E2EF"/>
            </a:solidFill>
            <a:prstDash val="solid"/>
          </a:ln>
        </p:spPr>
      </p:sp>
      <p:sp>
        <p:nvSpPr>
          <p:cNvPr id="30" name="Text 28"/>
          <p:cNvSpPr/>
          <p:nvPr/>
        </p:nvSpPr>
        <p:spPr>
          <a:xfrm>
            <a:off x="685800" y="3941064"/>
            <a:ext cx="169164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Glass</a:t>
            </a:r>
            <a:endParaRPr lang="en-US" sz="1050" dirty="0"/>
          </a:p>
        </p:txBody>
      </p:sp>
      <p:sp>
        <p:nvSpPr>
          <p:cNvPr id="31" name="Text 29"/>
          <p:cNvSpPr/>
          <p:nvPr/>
        </p:nvSpPr>
        <p:spPr>
          <a:xfrm>
            <a:off x="2743200" y="3941064"/>
            <a:ext cx="14173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Ensemble</a:t>
            </a:r>
            <a:endParaRPr lang="en-US" sz="1050" dirty="0"/>
          </a:p>
        </p:txBody>
      </p:sp>
      <p:sp>
        <p:nvSpPr>
          <p:cNvPr id="32" name="Text 30"/>
          <p:cNvSpPr/>
          <p:nvPr/>
        </p:nvSpPr>
        <p:spPr>
          <a:xfrm>
            <a:off x="4572000" y="3941064"/>
            <a:ext cx="219456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Annthyroid</a:t>
            </a:r>
            <a:endParaRPr lang="en-US" sz="1050" dirty="0"/>
          </a:p>
        </p:txBody>
      </p:sp>
      <p:sp>
        <p:nvSpPr>
          <p:cNvPr id="33" name="Text 31"/>
          <p:cNvSpPr/>
          <p:nvPr/>
        </p:nvSpPr>
        <p:spPr>
          <a:xfrm>
            <a:off x="7315200" y="3941064"/>
            <a:ext cx="7315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0.080</a:t>
            </a:r>
            <a:endParaRPr lang="en-US" sz="1050" dirty="0"/>
          </a:p>
        </p:txBody>
      </p:sp>
      <p:sp>
        <p:nvSpPr>
          <p:cNvPr id="34" name="Text 32"/>
          <p:cNvSpPr/>
          <p:nvPr/>
        </p:nvSpPr>
        <p:spPr>
          <a:xfrm>
            <a:off x="8412480" y="3941064"/>
            <a:ext cx="7315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0.694</a:t>
            </a:r>
            <a:endParaRPr lang="en-US" sz="1050" dirty="0"/>
          </a:p>
        </p:txBody>
      </p:sp>
      <p:sp>
        <p:nvSpPr>
          <p:cNvPr id="35" name="Shape 33"/>
          <p:cNvSpPr/>
          <p:nvPr/>
        </p:nvSpPr>
        <p:spPr>
          <a:xfrm>
            <a:off x="566928" y="4389120"/>
            <a:ext cx="9098280" cy="438912"/>
          </a:xfrm>
          <a:prstGeom prst="rect">
            <a:avLst/>
          </a:prstGeom>
          <a:solidFill>
            <a:srgbClr val="EEF6FF"/>
          </a:solidFill>
          <a:ln w="12700">
            <a:solidFill>
              <a:srgbClr val="D9E2EF"/>
            </a:solidFill>
            <a:prstDash val="solid"/>
          </a:ln>
        </p:spPr>
      </p:sp>
      <p:sp>
        <p:nvSpPr>
          <p:cNvPr id="36" name="Text 34"/>
          <p:cNvSpPr/>
          <p:nvPr/>
        </p:nvSpPr>
        <p:spPr>
          <a:xfrm>
            <a:off x="685800" y="4507992"/>
            <a:ext cx="169164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Pendigits</a:t>
            </a:r>
            <a:endParaRPr lang="en-US" sz="1050" dirty="0"/>
          </a:p>
        </p:txBody>
      </p:sp>
      <p:sp>
        <p:nvSpPr>
          <p:cNvPr id="37" name="Text 35"/>
          <p:cNvSpPr/>
          <p:nvPr/>
        </p:nvSpPr>
        <p:spPr>
          <a:xfrm>
            <a:off x="2743200" y="4507992"/>
            <a:ext cx="14173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LOF</a:t>
            </a:r>
            <a:endParaRPr lang="en-US" sz="1050" dirty="0"/>
          </a:p>
        </p:txBody>
      </p:sp>
      <p:sp>
        <p:nvSpPr>
          <p:cNvPr id="38" name="Text 36"/>
          <p:cNvSpPr/>
          <p:nvPr/>
        </p:nvSpPr>
        <p:spPr>
          <a:xfrm>
            <a:off x="4572000" y="4507992"/>
            <a:ext cx="219456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Glass</a:t>
            </a:r>
            <a:endParaRPr lang="en-US" sz="1050" dirty="0"/>
          </a:p>
        </p:txBody>
      </p:sp>
      <p:sp>
        <p:nvSpPr>
          <p:cNvPr id="39" name="Text 37"/>
          <p:cNvSpPr/>
          <p:nvPr/>
        </p:nvSpPr>
        <p:spPr>
          <a:xfrm>
            <a:off x="7315200" y="4507992"/>
            <a:ext cx="7315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0.077</a:t>
            </a:r>
            <a:endParaRPr lang="en-US" sz="1050" dirty="0"/>
          </a:p>
        </p:txBody>
      </p:sp>
      <p:sp>
        <p:nvSpPr>
          <p:cNvPr id="40" name="Text 38"/>
          <p:cNvSpPr/>
          <p:nvPr/>
        </p:nvSpPr>
        <p:spPr>
          <a:xfrm>
            <a:off x="8412480" y="4507992"/>
            <a:ext cx="731520" cy="201168"/>
          </a:xfrm>
          <a:prstGeom prst="rect">
            <a:avLst/>
          </a:prstGeom>
          <a:noFill/>
          <a:ln/>
        </p:spPr>
        <p:txBody>
          <a:bodyPr wrap="square" lIns="0" tIns="0" rIns="0" bIns="0" rtlCol="0" anchor="ctr">
            <a:normAutofit/>
          </a:bodyPr>
          <a:lstStyle/>
          <a:p>
            <a:pPr indent="0" marL="0">
              <a:buNone/>
            </a:pPr>
            <a:r>
              <a:rPr lang="en-US" sz="1050" dirty="0">
                <a:solidFill>
                  <a:srgbClr val="16213A"/>
                </a:solidFill>
              </a:rPr>
              <a:t>0.512</a:t>
            </a:r>
            <a:endParaRPr lang="en-US" sz="1050" dirty="0"/>
          </a:p>
        </p:txBody>
      </p:sp>
      <p:sp>
        <p:nvSpPr>
          <p:cNvPr id="41" name="Text 39"/>
          <p:cNvSpPr/>
          <p:nvPr/>
        </p:nvSpPr>
        <p:spPr>
          <a:xfrm>
            <a:off x="7315200" y="5349240"/>
            <a:ext cx="2011680" cy="256032"/>
          </a:xfrm>
          <a:prstGeom prst="rect">
            <a:avLst/>
          </a:prstGeom>
          <a:noFill/>
          <a:ln/>
        </p:spPr>
        <p:txBody>
          <a:bodyPr wrap="square" lIns="0" tIns="0" rIns="0" bIns="0" rtlCol="0" anchor="ctr"/>
          <a:lstStyle/>
          <a:p>
            <a:pPr indent="0" marL="0">
              <a:buNone/>
            </a:pPr>
            <a:r>
              <a:rPr lang="en-US" sz="1300" b="1" dirty="0">
                <a:solidFill>
                  <a:srgbClr val="DC2626"/>
                </a:solidFill>
              </a:rPr>
              <a:t>Average LODO F1: 0.066</a:t>
            </a:r>
            <a:endParaRPr lang="en-US" sz="1300" dirty="0"/>
          </a:p>
        </p:txBody>
      </p:sp>
      <p:sp>
        <p:nvSpPr>
          <p:cNvPr id="42" name="Text 40"/>
          <p:cNvSpPr/>
          <p:nvPr/>
        </p:nvSpPr>
        <p:spPr>
          <a:xfrm>
            <a:off x="594360" y="5715000"/>
            <a:ext cx="7863840" cy="274320"/>
          </a:xfrm>
          <a:prstGeom prst="rect">
            <a:avLst/>
          </a:prstGeom>
          <a:noFill/>
          <a:ln/>
        </p:spPr>
        <p:txBody>
          <a:bodyPr wrap="square" lIns="0" tIns="0" rIns="0" bIns="0" rtlCol="0" anchor="ctr"/>
          <a:lstStyle/>
          <a:p>
            <a:pPr indent="0" marL="0">
              <a:buNone/>
            </a:pPr>
            <a:r>
              <a:rPr lang="en-US" sz="1150" dirty="0">
                <a:solidFill>
                  <a:srgbClr val="5E6B7A"/>
                </a:solidFill>
              </a:rPr>
              <a:t>Signal: the learned selector currently overfits the five-dataset validation set.</a:t>
            </a:r>
            <a:endParaRPr lang="en-US" sz="1150" dirty="0"/>
          </a:p>
        </p:txBody>
      </p:sp>
      <p:sp>
        <p:nvSpPr>
          <p:cNvPr id="43" name="Text 4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34</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What The New Result Means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implementation improved the pipeline, but the experiment disproved the improvement claim.</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The learned selector is technically working</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Five real datasets are not enough to train a robust meta-model</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In-sample selector scores are optimistic</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LODO should be the headline real-data metric</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35</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Updated Engineering Decision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Keep the learned selector, but do not present it as the best model yet.</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Use calibrated weights as the safer current default</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Report learned-selector results as an experiment</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Use LODO as the main generalization check</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Add more real datasets before retraining the selector</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36</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How To Run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repo includes reproducible scripts for both evaluation types.</a:t>
            </a:r>
            <a:endParaRPr lang="en-US" sz="1600" dirty="0"/>
          </a:p>
        </p:txBody>
      </p:sp>
      <p:sp>
        <p:nvSpPr>
          <p:cNvPr id="5" name="Shape 3"/>
          <p:cNvSpPr/>
          <p:nvPr/>
        </p:nvSpPr>
        <p:spPr>
          <a:xfrm>
            <a:off x="777240" y="1874520"/>
            <a:ext cx="10515600" cy="676656"/>
          </a:xfrm>
          <a:prstGeom prst="rect">
            <a:avLst/>
          </a:prstGeom>
          <a:solidFill>
            <a:srgbClr val="111827"/>
          </a:solidFill>
          <a:ln w="12700">
            <a:solidFill>
              <a:srgbClr val="111827"/>
            </a:solidFill>
            <a:prstDash val="solid"/>
          </a:ln>
        </p:spPr>
      </p:sp>
      <p:sp>
        <p:nvSpPr>
          <p:cNvPr id="6" name="Text 4"/>
          <p:cNvSpPr/>
          <p:nvPr/>
        </p:nvSpPr>
        <p:spPr>
          <a:xfrm>
            <a:off x="960120" y="2084832"/>
            <a:ext cx="10149840" cy="201168"/>
          </a:xfrm>
          <a:prstGeom prst="rect">
            <a:avLst/>
          </a:prstGeom>
          <a:noFill/>
          <a:ln/>
        </p:spPr>
        <p:txBody>
          <a:bodyPr wrap="square" lIns="0" tIns="0" rIns="0" bIns="0" rtlCol="0" anchor="ctr">
            <a:normAutofit/>
          </a:bodyPr>
          <a:lstStyle/>
          <a:p>
            <a:pPr indent="0" marL="0">
              <a:buNone/>
            </a:pPr>
            <a:r>
              <a:rPr lang="en-US" sz="950" dirty="0">
                <a:solidFill>
                  <a:srgbClr val="FFFFFF"/>
                </a:solidFill>
                <a:latin typeface="Consolas" pitchFamily="34" charset="0"/>
                <a:ea typeface="Consolas" pitchFamily="34" charset="-122"/>
                <a:cs typeface="Consolas" pitchFamily="34" charset="-120"/>
              </a:rPr>
              <a:t>.venv\Scripts\python.exe scripts\run_synthetic_benchmark.py --config configs\experiments\larger_validation.yaml</a:t>
            </a:r>
            <a:endParaRPr lang="en-US" sz="950" dirty="0"/>
          </a:p>
        </p:txBody>
      </p:sp>
      <p:sp>
        <p:nvSpPr>
          <p:cNvPr id="7" name="Shape 5"/>
          <p:cNvSpPr/>
          <p:nvPr/>
        </p:nvSpPr>
        <p:spPr>
          <a:xfrm>
            <a:off x="777240" y="2926080"/>
            <a:ext cx="10515600" cy="676656"/>
          </a:xfrm>
          <a:prstGeom prst="rect">
            <a:avLst/>
          </a:prstGeom>
          <a:solidFill>
            <a:srgbClr val="111827"/>
          </a:solidFill>
          <a:ln w="12700">
            <a:solidFill>
              <a:srgbClr val="111827"/>
            </a:solidFill>
            <a:prstDash val="solid"/>
          </a:ln>
        </p:spPr>
      </p:sp>
      <p:sp>
        <p:nvSpPr>
          <p:cNvPr id="8" name="Text 6"/>
          <p:cNvSpPr/>
          <p:nvPr/>
        </p:nvSpPr>
        <p:spPr>
          <a:xfrm>
            <a:off x="960120" y="3136392"/>
            <a:ext cx="10149840" cy="201168"/>
          </a:xfrm>
          <a:prstGeom prst="rect">
            <a:avLst/>
          </a:prstGeom>
          <a:noFill/>
          <a:ln/>
        </p:spPr>
        <p:txBody>
          <a:bodyPr wrap="square" lIns="0" tIns="0" rIns="0" bIns="0" rtlCol="0" anchor="ctr">
            <a:normAutofit/>
          </a:bodyPr>
          <a:lstStyle/>
          <a:p>
            <a:pPr indent="0" marL="0">
              <a:buNone/>
            </a:pPr>
            <a:r>
              <a:rPr lang="en-US" sz="950" dirty="0">
                <a:solidFill>
                  <a:srgbClr val="FFFFFF"/>
                </a:solidFill>
                <a:latin typeface="Consolas" pitchFamily="34" charset="0"/>
                <a:ea typeface="Consolas" pitchFamily="34" charset="-122"/>
                <a:cs typeface="Consolas" pitchFamily="34" charset="-120"/>
              </a:rPr>
              <a:t>.venv\Scripts\python.exe scripts\run_real_data_eval.py --dataset data\external\adb_annthyroid_21feat_normalised.csv::adb_annthyroid::ground_truth --max-rows 10000</a:t>
            </a:r>
            <a:endParaRPr lang="en-US" sz="950" dirty="0"/>
          </a:p>
        </p:txBody>
      </p:sp>
      <p:sp>
        <p:nvSpPr>
          <p:cNvPr id="9" name="Shape 7"/>
          <p:cNvSpPr/>
          <p:nvPr/>
        </p:nvSpPr>
        <p:spPr>
          <a:xfrm>
            <a:off x="777240" y="3977640"/>
            <a:ext cx="10515600" cy="676656"/>
          </a:xfrm>
          <a:prstGeom prst="rect">
            <a:avLst/>
          </a:prstGeom>
          <a:solidFill>
            <a:srgbClr val="111827"/>
          </a:solidFill>
          <a:ln w="12700">
            <a:solidFill>
              <a:srgbClr val="111827"/>
            </a:solidFill>
            <a:prstDash val="solid"/>
          </a:ln>
        </p:spPr>
      </p:sp>
      <p:sp>
        <p:nvSpPr>
          <p:cNvPr id="10" name="Text 8"/>
          <p:cNvSpPr/>
          <p:nvPr/>
        </p:nvSpPr>
        <p:spPr>
          <a:xfrm>
            <a:off x="960120" y="4187952"/>
            <a:ext cx="10149840" cy="201168"/>
          </a:xfrm>
          <a:prstGeom prst="rect">
            <a:avLst/>
          </a:prstGeom>
          <a:noFill/>
          <a:ln/>
        </p:spPr>
        <p:txBody>
          <a:bodyPr wrap="square" lIns="0" tIns="0" rIns="0" bIns="0" rtlCol="0" anchor="ctr">
            <a:normAutofit/>
          </a:bodyPr>
          <a:lstStyle/>
          <a:p>
            <a:pPr indent="0" marL="0">
              <a:buNone/>
            </a:pPr>
            <a:r>
              <a:rPr lang="en-US" sz="950" dirty="0">
                <a:solidFill>
                  <a:srgbClr val="FFFFFF"/>
                </a:solidFill>
                <a:latin typeface="Consolas" pitchFamily="34" charset="0"/>
                <a:ea typeface="Consolas" pitchFamily="34" charset="-122"/>
                <a:cs typeface="Consolas" pitchFamily="34" charset="-120"/>
              </a:rPr>
              <a:t>.venv\Scripts\python.exe scripts\calibrate_ensemble_weights.py --dataset data\external\adb_annthyroid_21feat_normalised.csv --label-column ground_truth</a:t>
            </a:r>
            <a:endParaRPr lang="en-US" sz="950" dirty="0"/>
          </a:p>
        </p:txBody>
      </p:sp>
      <p:sp>
        <p:nvSpPr>
          <p:cNvPr id="11" name="Shape 9"/>
          <p:cNvSpPr/>
          <p:nvPr/>
        </p:nvSpPr>
        <p:spPr>
          <a:xfrm>
            <a:off x="777240" y="5029200"/>
            <a:ext cx="10515600" cy="676656"/>
          </a:xfrm>
          <a:prstGeom prst="rect">
            <a:avLst/>
          </a:prstGeom>
          <a:solidFill>
            <a:srgbClr val="111827"/>
          </a:solidFill>
          <a:ln w="12700">
            <a:solidFill>
              <a:srgbClr val="111827"/>
            </a:solidFill>
            <a:prstDash val="solid"/>
          </a:ln>
        </p:spPr>
      </p:sp>
      <p:sp>
        <p:nvSpPr>
          <p:cNvPr id="12" name="Text 10"/>
          <p:cNvSpPr/>
          <p:nvPr/>
        </p:nvSpPr>
        <p:spPr>
          <a:xfrm>
            <a:off x="960120" y="5239512"/>
            <a:ext cx="10149840" cy="201168"/>
          </a:xfrm>
          <a:prstGeom prst="rect">
            <a:avLst/>
          </a:prstGeom>
          <a:noFill/>
          <a:ln/>
        </p:spPr>
        <p:txBody>
          <a:bodyPr wrap="square" lIns="0" tIns="0" rIns="0" bIns="0" rtlCol="0" anchor="ctr">
            <a:normAutofit/>
          </a:bodyPr>
          <a:lstStyle/>
          <a:p>
            <a:pPr indent="0" marL="0">
              <a:buNone/>
            </a:pPr>
            <a:r>
              <a:rPr lang="en-US" sz="950" dirty="0">
                <a:solidFill>
                  <a:srgbClr val="FFFFFF"/>
                </a:solidFill>
                <a:latin typeface="Consolas" pitchFamily="34" charset="0"/>
                <a:ea typeface="Consolas" pitchFamily="34" charset="-122"/>
                <a:cs typeface="Consolas" pitchFamily="34" charset="-120"/>
              </a:rPr>
              <a:t>.venv\Scripts\python.exe scripts\run_leave_one_dataset_out.py --summary results\real_data_multi_summary_calibrated.csv --out results\leave_one_dataset_out_learned_selector.csv</a:t>
            </a:r>
            <a:endParaRPr lang="en-US" sz="95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37</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Next Improvements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next step is more data for the selector, not more complexity.</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Add more labeled real anomaly datasets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Group native-label and derived-label datasets separately</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Train the selector with cross-dataset validation only</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Optimize rare-positive thresholding with PR-AUC and recall-at-k</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38</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Conclusion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is a strong project prototype, but not a finished universal detector.</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Pipeline is implemented end to end</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Synthetic evaluation shows a modest ensemble advantage</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Calibration improves real-data F1</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Learned selector needs more real datasets before it can generalize</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39</a:t>
            </a:r>
            <a:endParaRPr lang="en-US" sz="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749808" y="2148840"/>
            <a:ext cx="4206240" cy="731520"/>
          </a:xfrm>
          <a:prstGeom prst="rect">
            <a:avLst/>
          </a:prstGeom>
          <a:noFill/>
          <a:ln/>
        </p:spPr>
        <p:txBody>
          <a:bodyPr wrap="square" lIns="0" tIns="0" rIns="0" bIns="0" rtlCol="0" anchor="ctr"/>
          <a:lstStyle/>
          <a:p>
            <a:pPr indent="0" marL="0">
              <a:buNone/>
            </a:pPr>
            <a:r>
              <a:rPr lang="en-US" sz="4800" b="1" dirty="0">
                <a:solidFill>
                  <a:srgbClr val="16213A"/>
                </a:solidFill>
              </a:rPr>
              <a:t>AutoAD+</a:t>
            </a:r>
            <a:endParaRPr lang="en-US" sz="4800" dirty="0"/>
          </a:p>
        </p:txBody>
      </p:sp>
      <p:sp>
        <p:nvSpPr>
          <p:cNvPr id="4" name="Text 2"/>
          <p:cNvSpPr/>
          <p:nvPr/>
        </p:nvSpPr>
        <p:spPr>
          <a:xfrm>
            <a:off x="786384" y="3063240"/>
            <a:ext cx="7132320" cy="320040"/>
          </a:xfrm>
          <a:prstGeom prst="rect">
            <a:avLst/>
          </a:prstGeom>
          <a:noFill/>
          <a:ln/>
        </p:spPr>
        <p:txBody>
          <a:bodyPr wrap="square" lIns="0" tIns="0" rIns="0" bIns="0" rtlCol="0" anchor="ctr"/>
          <a:lstStyle/>
          <a:p>
            <a:pPr indent="0" marL="0">
              <a:buNone/>
            </a:pPr>
            <a:r>
              <a:rPr lang="en-US" sz="1700" dirty="0">
                <a:solidFill>
                  <a:srgbClr val="2563EB"/>
                </a:solidFill>
              </a:rPr>
              <a:t>Self-configuring anomaly detection with reproducible evidence</a:t>
            </a:r>
            <a:endParaRPr lang="en-US" sz="1700" dirty="0"/>
          </a:p>
        </p:txBody>
      </p:sp>
      <p:sp>
        <p:nvSpPr>
          <p:cNvPr id="5" name="Text 3"/>
          <p:cNvSpPr/>
          <p:nvPr/>
        </p:nvSpPr>
        <p:spPr>
          <a:xfrm>
            <a:off x="7315200" y="21671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Synthetic</a:t>
            </a:r>
            <a:endParaRPr lang="en-US" sz="1050" dirty="0"/>
          </a:p>
        </p:txBody>
      </p:sp>
      <p:sp>
        <p:nvSpPr>
          <p:cNvPr id="6" name="Shape 4"/>
          <p:cNvSpPr/>
          <p:nvPr/>
        </p:nvSpPr>
        <p:spPr>
          <a:xfrm>
            <a:off x="9189720" y="2148840"/>
            <a:ext cx="1463040" cy="310896"/>
          </a:xfrm>
          <a:prstGeom prst="rect">
            <a:avLst/>
          </a:prstGeom>
          <a:solidFill>
            <a:srgbClr val="F4F7FB"/>
          </a:solidFill>
          <a:ln w="12700">
            <a:solidFill>
              <a:srgbClr val="D9E2EF"/>
            </a:solidFill>
            <a:prstDash val="solid"/>
          </a:ln>
        </p:spPr>
      </p:sp>
      <p:sp>
        <p:nvSpPr>
          <p:cNvPr id="7" name="Shape 5"/>
          <p:cNvSpPr/>
          <p:nvPr/>
        </p:nvSpPr>
        <p:spPr>
          <a:xfrm>
            <a:off x="9189720" y="2148840"/>
            <a:ext cx="959023" cy="310896"/>
          </a:xfrm>
          <a:prstGeom prst="rect">
            <a:avLst/>
          </a:prstGeom>
          <a:solidFill>
            <a:srgbClr val="0891B2"/>
          </a:solidFill>
          <a:ln w="12700">
            <a:solidFill>
              <a:srgbClr val="0891B2"/>
            </a:solidFill>
            <a:prstDash val="solid"/>
          </a:ln>
        </p:spPr>
      </p:sp>
      <p:sp>
        <p:nvSpPr>
          <p:cNvPr id="8" name="Text 6"/>
          <p:cNvSpPr/>
          <p:nvPr/>
        </p:nvSpPr>
        <p:spPr>
          <a:xfrm>
            <a:off x="10212751" y="2176272"/>
            <a:ext cx="640080" cy="182880"/>
          </a:xfrm>
          <a:prstGeom prst="rect">
            <a:avLst/>
          </a:prstGeom>
          <a:noFill/>
          <a:ln/>
        </p:spPr>
        <p:txBody>
          <a:bodyPr wrap="square" lIns="0" tIns="0" rIns="0" bIns="0" rtlCol="0" anchor="ctr"/>
          <a:lstStyle/>
          <a:p>
            <a:pPr indent="0" marL="0">
              <a:buNone/>
            </a:pPr>
            <a:r>
              <a:rPr lang="en-US" sz="900" dirty="0">
                <a:solidFill>
                  <a:srgbClr val="16213A"/>
                </a:solidFill>
              </a:rPr>
              <a:t>0.552</a:t>
            </a:r>
            <a:endParaRPr lang="en-US" sz="900" dirty="0"/>
          </a:p>
        </p:txBody>
      </p:sp>
      <p:sp>
        <p:nvSpPr>
          <p:cNvPr id="9" name="Text 7"/>
          <p:cNvSpPr/>
          <p:nvPr/>
        </p:nvSpPr>
        <p:spPr>
          <a:xfrm>
            <a:off x="7315200" y="28529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Real calibrated</a:t>
            </a:r>
            <a:endParaRPr lang="en-US" sz="1050" dirty="0"/>
          </a:p>
        </p:txBody>
      </p:sp>
      <p:sp>
        <p:nvSpPr>
          <p:cNvPr id="10" name="Shape 8"/>
          <p:cNvSpPr/>
          <p:nvPr/>
        </p:nvSpPr>
        <p:spPr>
          <a:xfrm>
            <a:off x="9189720" y="2834640"/>
            <a:ext cx="1463040" cy="310896"/>
          </a:xfrm>
          <a:prstGeom prst="rect">
            <a:avLst/>
          </a:prstGeom>
          <a:solidFill>
            <a:srgbClr val="F4F7FB"/>
          </a:solidFill>
          <a:ln w="12700">
            <a:solidFill>
              <a:srgbClr val="D9E2EF"/>
            </a:solidFill>
            <a:prstDash val="solid"/>
          </a:ln>
        </p:spPr>
      </p:sp>
      <p:sp>
        <p:nvSpPr>
          <p:cNvPr id="11" name="Shape 9"/>
          <p:cNvSpPr/>
          <p:nvPr/>
        </p:nvSpPr>
        <p:spPr>
          <a:xfrm>
            <a:off x="9189720" y="2834640"/>
            <a:ext cx="206746" cy="310896"/>
          </a:xfrm>
          <a:prstGeom prst="rect">
            <a:avLst/>
          </a:prstGeom>
          <a:solidFill>
            <a:srgbClr val="0891B2"/>
          </a:solidFill>
          <a:ln w="12700">
            <a:solidFill>
              <a:srgbClr val="0891B2"/>
            </a:solidFill>
            <a:prstDash val="solid"/>
          </a:ln>
        </p:spPr>
      </p:sp>
      <p:sp>
        <p:nvSpPr>
          <p:cNvPr id="12" name="Text 10"/>
          <p:cNvSpPr/>
          <p:nvPr/>
        </p:nvSpPr>
        <p:spPr>
          <a:xfrm>
            <a:off x="9460474" y="2862072"/>
            <a:ext cx="640080" cy="182880"/>
          </a:xfrm>
          <a:prstGeom prst="rect">
            <a:avLst/>
          </a:prstGeom>
          <a:noFill/>
          <a:ln/>
        </p:spPr>
        <p:txBody>
          <a:bodyPr wrap="square" lIns="0" tIns="0" rIns="0" bIns="0" rtlCol="0" anchor="ctr"/>
          <a:lstStyle/>
          <a:p>
            <a:pPr indent="0" marL="0">
              <a:buNone/>
            </a:pPr>
            <a:r>
              <a:rPr lang="en-US" sz="900" dirty="0">
                <a:solidFill>
                  <a:srgbClr val="16213A"/>
                </a:solidFill>
              </a:rPr>
              <a:t>0.119</a:t>
            </a:r>
            <a:endParaRPr lang="en-US" sz="9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40</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CENG AI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AutoAD+ Project Presentation</dc:title>
  <dc:subject>AutoAD+ anomaly detection project presentation</dc:subject>
  <dc:creator>AutoAD+ project</dc:creator>
  <cp:lastModifiedBy>AutoAD+ project</cp:lastModifiedBy>
  <cp:revision>1</cp:revision>
  <dcterms:created xsi:type="dcterms:W3CDTF">2026-05-10T09:45:06Z</dcterms:created>
  <dcterms:modified xsi:type="dcterms:W3CDTF">2026-05-10T09:45:06Z</dcterms:modified>
</cp:coreProperties>
</file>