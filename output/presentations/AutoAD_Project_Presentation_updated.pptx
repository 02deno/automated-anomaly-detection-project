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AutoAD+ as an unsupervised anomaly detection project. The goal is not just to run one model, but to automatically analyze a dataset, choose detectors, combine their signals, and report anomalies with comparable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anomaly detection often looks good on one dataset and then fails on another. Point out that distance, density, tree, and temporal anomalies are different, so a single detector is rarely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proposal is about a self-configuring hybrid system. Emphasize the word self-configuring: the pipeline should inspect the data and then decide how to process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left to right. CSV or API data enters the system, numeric features are profiled, candidate models are selected, each model is tuned, scores are normalized, then the ensemble produces final anomaly scores and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that labels are not used to train the model. In experiments, labels are held aside and only used to calculate F1, ROC-AUC, and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layer lets the system make decisions from data properties. For example, a dataset with enough rows may use LOF, while larger or higher-dimensional datasets can activate neural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model menu. The current system includes a KNN-distance detector, which gives the selector another neighborhood-based score source besides LOF.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optimization is unsupervised: the objective uses score spread or reconstruction loss, not ground-truth labels. This keeps the training process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point is complementarity. A global spike, a local density break, and a temporal block may each be easier for a different detector. KNN distance is especially useful on Annthyroid-style neighborhood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was added: the original model missed dead-sensor cases because median-like values can look normal to distance models. The domain detector helps, but it is gated so it does not always dominate.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algorithms output scores in different scales. If we simply average raw scores, one model can dominate by accident. Normalization and weighting make the ensemble more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the ensemble may not be exactly F1 at the 95th percentile. AutoAD now uses the data distribution to find a gap when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this is not supervised anomaly training. Labels are used only in validation to learn which score source is best for a type of dataset. At runtime, the model still scores the uploaded data without row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latest implementation change. The older selector compared only dataset shape values. The new selector adds diagnostics from actual detector score distributions, then trains a Random Forest to predict which score source should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why this should help in principle. If OCSVM creates a sharp high-score tail while the ensemble is flat, that is useful evidence for selecting OCSVM. The selector now has access to these score-shape clues.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designed to make results visible, not just return a black-box label. The API gives scores, labels, weights, and optional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model design to evaluation. Stress that synthetic tests show whether known anomaly types can be found, while multiple real datasets test whether the model generalizes beyond the designed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larger synthetic benchmark is not just the tiny 24-row smoke test. It repeats and jitters rows to create a larger controlled set, then varies seeds and anomaly strengths.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 the scenarios and explain the purpose. Dead sensor has multiple modes: median, zero, previous value, and random constant. This makes the evaluation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real evaluation now uses ten datasets. Some have native anomaly-like labels, while others are derived rare-class tasks. This is still imperfect, but it gives the selector more cross-dataset evidence than the earlier five-dataset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right comparisons because they are widely used unsupervised anomaly detection methods and are also components inside AutoAD. KNN distance is included as an additional neighborhood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AutoAD reaches average F1 of 0.552. Isolation Forest is close at 0.519, OCSVM at 0.500, and LOF trails at 0.372. This is a modest synthetic advantage, not a broad superiority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synthetic ROC-AUC result is stronger: AutoAD scores 0.912, ahead of OCSVM, Isolation Forest, and LOF. This means ranking is good in controlled tests even when thresholded F1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honesty slide. Default AutoAD averages only 0.034 F1 across the five real datasets. OCSVM leads because it performs extremely well on KDDCup99 HTTP. The synthetic win does not transfer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AutoAD has average ROC-AUC of 0.737, close to Isolation Forest and above LOF. That means ranking is not terrible, but the final thresholding and ensemble weights do not convert ranking into good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calibrated weights and expected-contamination thresholding improves AutoAD average F1 from 0.034 to 0.119. This is a real improvement, but OCSVM remains best overall at 0.236. Calibration helps but does not fully generalize.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show maturity. The project does not hide failures. AutoAD is useful as a framework, but it still needs meta-selection and calibration that generalize across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overfitting concern directly. Broader validation is necessary because small synthetic tests can make a detector look stronger than it is. The broader results are more realistic and more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final evidence summary. It gives the audience a balanced conclusion: AutoAD wins the synthetic validation, calibrated AutoAD improves on real data, but OCSVM remains strongest overall across the five real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current experiment. Emphasize that the model now includes KNN distance and overfitting diagnostics, so the correct question is how it behaves on the expanded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this is the correct test for the meta-selector. In-sample results can look strong because the selector has already seen the answer for that dataset. LODO removes that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project changes without focusing on branch history. The current model includes KNN distance, a train/test stability diagnostic, ten-dataset LODO validation, and clearer result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OCSVM leads with 0.205 average F1. Autoencoder and LSTM are next, then the AutoAD ensemble at 0.128. KNN distance is useful but not the strongest standalone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this is not a full supervised train-once test-once evaluation. It is a practical diagnostic: source and threshold chosen on train splits transfer reasonably to held-out splits on Annthyroid.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the current benchmark. The learned selector reaches 0.127 F1, close to the AutoAD ensemble average, but OCSVM remains the strongest overall baseline at 0.205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LODO selector ROC-AUC is about 0.573. OCSVM, Autoencoder, LSTM, and the AutoAD ensemble all rank anomalies more strongly on average, so thresholding is not the only remaining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explain the failure pattern. KDD HTTP is the clearest issue: it was matched to Annthyroid and selected the ensemble, but the dataset strongly favors OCSVM or freeze-style behavior. Pendigits also moved to LOF and lost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here. KNN distance improves coverage on some datasets, especially Annthyroid-style data. But OCSVM still has the best average F1 across the expanded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recommendation. The current project is stronger, but the evidence still says the selector is not universally better than popular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next step was to build dataset-aware meta-selection. That is now implemented. The updated next step is to feed it enough real validation datasets and tune it against leave-one-dataset-out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updated balanced message. The project satisfies the core proposal as a self-configuring hybrid anomaly detector with evaluation. The current system is stronger, but the honest result is that popular baselines still remain competitive.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by inviting questions. If asked what matters most, answer: the pipeline works, synthetic results are promising, calibration helps, but the broader real-data test shows that generalization is the main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713232" y="1325880"/>
            <a:ext cx="4937760" cy="822960"/>
          </a:xfrm>
          <a:prstGeom prst="rect">
            <a:avLst/>
          </a:prstGeom>
          <a:noFill/>
          <a:ln/>
        </p:spPr>
        <p:txBody>
          <a:bodyPr wrap="square" lIns="0" tIns="0" rIns="0" bIns="0" rtlCol="0" anchor="ctr"/>
          <a:lstStyle/>
          <a:p>
            <a:pPr indent="0" marL="0">
              <a:buNone/>
            </a:pPr>
            <a:r>
              <a:rPr lang="en-US" sz="5600" b="1" dirty="0">
                <a:solidFill>
                  <a:srgbClr val="16213A"/>
                </a:solidFill>
                <a:latin typeface="Aptos Display" pitchFamily="34" charset="0"/>
                <a:ea typeface="Aptos Display" pitchFamily="34" charset="-122"/>
                <a:cs typeface="Aptos Display" pitchFamily="34" charset="-120"/>
              </a:rPr>
              <a:t>AutoAD+</a:t>
            </a:r>
            <a:endParaRPr lang="en-US" sz="5600" dirty="0"/>
          </a:p>
        </p:txBody>
      </p:sp>
      <p:sp>
        <p:nvSpPr>
          <p:cNvPr id="4" name="Text 2"/>
          <p:cNvSpPr/>
          <p:nvPr/>
        </p:nvSpPr>
        <p:spPr>
          <a:xfrm>
            <a:off x="758952" y="2331720"/>
            <a:ext cx="6309360" cy="411480"/>
          </a:xfrm>
          <a:prstGeom prst="rect">
            <a:avLst/>
          </a:prstGeom>
          <a:noFill/>
          <a:ln/>
        </p:spPr>
        <p:txBody>
          <a:bodyPr wrap="square" lIns="0" tIns="0" rIns="0" bIns="0" rtlCol="0" anchor="ctr"/>
          <a:lstStyle/>
          <a:p>
            <a:pPr indent="0" marL="0">
              <a:buNone/>
            </a:pPr>
            <a:r>
              <a:rPr lang="en-US" sz="1900" dirty="0">
                <a:solidFill>
                  <a:srgbClr val="2563EB"/>
                </a:solidFill>
              </a:rPr>
              <a:t>A self-configuring hybrid anomaly detection system</a:t>
            </a:r>
            <a:endParaRPr lang="en-US" sz="1900" dirty="0"/>
          </a:p>
        </p:txBody>
      </p:sp>
      <p:sp>
        <p:nvSpPr>
          <p:cNvPr id="5" name="Text 3"/>
          <p:cNvSpPr/>
          <p:nvPr/>
        </p:nvSpPr>
        <p:spPr>
          <a:xfrm>
            <a:off x="777240" y="2971800"/>
            <a:ext cx="5303520" cy="384048"/>
          </a:xfrm>
          <a:prstGeom prst="rect">
            <a:avLst/>
          </a:prstGeom>
          <a:noFill/>
          <a:ln/>
        </p:spPr>
        <p:txBody>
          <a:bodyPr wrap="square" lIns="0" tIns="0" rIns="0" bIns="0" rtlCol="0" anchor="ctr"/>
          <a:lstStyle/>
          <a:p>
            <a:pPr indent="0" marL="0">
              <a:buNone/>
            </a:pPr>
            <a:r>
              <a:rPr lang="en-US" sz="1500" dirty="0">
                <a:solidFill>
                  <a:srgbClr val="5E6B7A"/>
                </a:solidFill>
              </a:rPr>
              <a:t>Model pipeline, datasets, and benchmark evidence</a:t>
            </a:r>
            <a:endParaRPr lang="en-US" sz="1500" dirty="0"/>
          </a:p>
        </p:txBody>
      </p:sp>
      <p:sp>
        <p:nvSpPr>
          <p:cNvPr id="6" name="Text 4"/>
          <p:cNvSpPr/>
          <p:nvPr/>
        </p:nvSpPr>
        <p:spPr>
          <a:xfrm>
            <a:off x="7360920" y="16184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Input</a:t>
            </a:r>
            <a:endParaRPr lang="en-US" sz="1050" dirty="0"/>
          </a:p>
        </p:txBody>
      </p:sp>
      <p:sp>
        <p:nvSpPr>
          <p:cNvPr id="7" name="Shape 5"/>
          <p:cNvSpPr/>
          <p:nvPr/>
        </p:nvSpPr>
        <p:spPr>
          <a:xfrm>
            <a:off x="9235440" y="1600200"/>
            <a:ext cx="1645920" cy="310896"/>
          </a:xfrm>
          <a:prstGeom prst="rect">
            <a:avLst/>
          </a:prstGeom>
          <a:solidFill>
            <a:srgbClr val="F4F7FB"/>
          </a:solidFill>
          <a:ln w="12700">
            <a:solidFill>
              <a:srgbClr val="D9E2EF"/>
            </a:solidFill>
            <a:prstDash val="solid"/>
          </a:ln>
        </p:spPr>
      </p:sp>
      <p:sp>
        <p:nvSpPr>
          <p:cNvPr id="8" name="Shape 6"/>
          <p:cNvSpPr/>
          <p:nvPr/>
        </p:nvSpPr>
        <p:spPr>
          <a:xfrm>
            <a:off x="9235440" y="1600200"/>
            <a:ext cx="1824228" cy="310896"/>
          </a:xfrm>
          <a:prstGeom prst="rect">
            <a:avLst/>
          </a:prstGeom>
          <a:solidFill>
            <a:srgbClr val="0891B2"/>
          </a:solidFill>
          <a:ln w="12700">
            <a:solidFill>
              <a:srgbClr val="0891B2"/>
            </a:solidFill>
            <a:prstDash val="solid"/>
          </a:ln>
        </p:spPr>
      </p:sp>
      <p:sp>
        <p:nvSpPr>
          <p:cNvPr id="9" name="Text 7"/>
          <p:cNvSpPr/>
          <p:nvPr/>
        </p:nvSpPr>
        <p:spPr>
          <a:xfrm>
            <a:off x="11123676" y="1627632"/>
            <a:ext cx="640080" cy="182880"/>
          </a:xfrm>
          <a:prstGeom prst="rect">
            <a:avLst/>
          </a:prstGeom>
          <a:noFill/>
          <a:ln/>
        </p:spPr>
        <p:txBody>
          <a:bodyPr wrap="square" lIns="0" tIns="0" rIns="0" bIns="0" rtlCol="0" anchor="ctr"/>
          <a:lstStyle/>
          <a:p>
            <a:pPr indent="0" marL="0">
              <a:buNone/>
            </a:pPr>
            <a:r>
              <a:rPr lang="en-US" sz="900" dirty="0">
                <a:solidFill>
                  <a:srgbClr val="16213A"/>
                </a:solidFill>
              </a:rPr>
              <a:t>0.950</a:t>
            </a:r>
            <a:endParaRPr lang="en-US" sz="900" dirty="0"/>
          </a:p>
        </p:txBody>
      </p:sp>
      <p:sp>
        <p:nvSpPr>
          <p:cNvPr id="10" name="Text 8"/>
          <p:cNvSpPr/>
          <p:nvPr/>
        </p:nvSpPr>
        <p:spPr>
          <a:xfrm>
            <a:off x="7360920" y="21899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Analyze</a:t>
            </a:r>
            <a:endParaRPr lang="en-US" sz="1050" dirty="0"/>
          </a:p>
        </p:txBody>
      </p:sp>
      <p:sp>
        <p:nvSpPr>
          <p:cNvPr id="11" name="Shape 9"/>
          <p:cNvSpPr/>
          <p:nvPr/>
        </p:nvSpPr>
        <p:spPr>
          <a:xfrm>
            <a:off x="9235440" y="2171700"/>
            <a:ext cx="1645920" cy="310896"/>
          </a:xfrm>
          <a:prstGeom prst="rect">
            <a:avLst/>
          </a:prstGeom>
          <a:solidFill>
            <a:srgbClr val="F4F7FB"/>
          </a:solidFill>
          <a:ln w="12700">
            <a:solidFill>
              <a:srgbClr val="D9E2EF"/>
            </a:solidFill>
            <a:prstDash val="solid"/>
          </a:ln>
        </p:spPr>
      </p:sp>
      <p:sp>
        <p:nvSpPr>
          <p:cNvPr id="12" name="Shape 10"/>
          <p:cNvSpPr/>
          <p:nvPr/>
        </p:nvSpPr>
        <p:spPr>
          <a:xfrm>
            <a:off x="9235440" y="2171700"/>
            <a:ext cx="1574597" cy="310896"/>
          </a:xfrm>
          <a:prstGeom prst="rect">
            <a:avLst/>
          </a:prstGeom>
          <a:solidFill>
            <a:srgbClr val="0891B2"/>
          </a:solidFill>
          <a:ln w="12700">
            <a:solidFill>
              <a:srgbClr val="0891B2"/>
            </a:solidFill>
            <a:prstDash val="solid"/>
          </a:ln>
        </p:spPr>
      </p:sp>
      <p:sp>
        <p:nvSpPr>
          <p:cNvPr id="13" name="Text 11"/>
          <p:cNvSpPr/>
          <p:nvPr/>
        </p:nvSpPr>
        <p:spPr>
          <a:xfrm>
            <a:off x="10874045" y="2199132"/>
            <a:ext cx="640080" cy="182880"/>
          </a:xfrm>
          <a:prstGeom prst="rect">
            <a:avLst/>
          </a:prstGeom>
          <a:noFill/>
          <a:ln/>
        </p:spPr>
        <p:txBody>
          <a:bodyPr wrap="square" lIns="0" tIns="0" rIns="0" bIns="0" rtlCol="0" anchor="ctr"/>
          <a:lstStyle/>
          <a:p>
            <a:pPr indent="0" marL="0">
              <a:buNone/>
            </a:pPr>
            <a:r>
              <a:rPr lang="en-US" sz="900" dirty="0">
                <a:solidFill>
                  <a:srgbClr val="16213A"/>
                </a:solidFill>
              </a:rPr>
              <a:t>0.820</a:t>
            </a:r>
            <a:endParaRPr lang="en-US" sz="900" dirty="0"/>
          </a:p>
        </p:txBody>
      </p:sp>
      <p:sp>
        <p:nvSpPr>
          <p:cNvPr id="14" name="Text 12"/>
          <p:cNvSpPr/>
          <p:nvPr/>
        </p:nvSpPr>
        <p:spPr>
          <a:xfrm>
            <a:off x="7360920" y="27614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Ensemble</a:t>
            </a:r>
            <a:endParaRPr lang="en-US" sz="1050" dirty="0"/>
          </a:p>
        </p:txBody>
      </p:sp>
      <p:sp>
        <p:nvSpPr>
          <p:cNvPr id="15" name="Shape 13"/>
          <p:cNvSpPr/>
          <p:nvPr/>
        </p:nvSpPr>
        <p:spPr>
          <a:xfrm>
            <a:off x="9235440" y="2743200"/>
            <a:ext cx="1645920" cy="310896"/>
          </a:xfrm>
          <a:prstGeom prst="rect">
            <a:avLst/>
          </a:prstGeom>
          <a:solidFill>
            <a:srgbClr val="F4F7FB"/>
          </a:solidFill>
          <a:ln w="12700">
            <a:solidFill>
              <a:srgbClr val="D9E2EF"/>
            </a:solidFill>
            <a:prstDash val="solid"/>
          </a:ln>
        </p:spPr>
      </p:sp>
      <p:sp>
        <p:nvSpPr>
          <p:cNvPr id="16" name="Shape 14"/>
          <p:cNvSpPr/>
          <p:nvPr/>
        </p:nvSpPr>
        <p:spPr>
          <a:xfrm>
            <a:off x="9235440" y="2743200"/>
            <a:ext cx="1459382" cy="310896"/>
          </a:xfrm>
          <a:prstGeom prst="rect">
            <a:avLst/>
          </a:prstGeom>
          <a:solidFill>
            <a:srgbClr val="0891B2"/>
          </a:solidFill>
          <a:ln w="12700">
            <a:solidFill>
              <a:srgbClr val="0891B2"/>
            </a:solidFill>
            <a:prstDash val="solid"/>
          </a:ln>
        </p:spPr>
      </p:sp>
      <p:sp>
        <p:nvSpPr>
          <p:cNvPr id="17" name="Text 15"/>
          <p:cNvSpPr/>
          <p:nvPr/>
        </p:nvSpPr>
        <p:spPr>
          <a:xfrm>
            <a:off x="10758830" y="2770632"/>
            <a:ext cx="640080" cy="182880"/>
          </a:xfrm>
          <a:prstGeom prst="rect">
            <a:avLst/>
          </a:prstGeom>
          <a:noFill/>
          <a:ln/>
        </p:spPr>
        <p:txBody>
          <a:bodyPr wrap="square" lIns="0" tIns="0" rIns="0" bIns="0" rtlCol="0" anchor="ctr"/>
          <a:lstStyle/>
          <a:p>
            <a:pPr indent="0" marL="0">
              <a:buNone/>
            </a:pPr>
            <a:r>
              <a:rPr lang="en-US" sz="900" dirty="0">
                <a:solidFill>
                  <a:srgbClr val="16213A"/>
                </a:solidFill>
              </a:rPr>
              <a:t>0.760</a:t>
            </a:r>
            <a:endParaRPr lang="en-US" sz="900" dirty="0"/>
          </a:p>
        </p:txBody>
      </p:sp>
      <p:sp>
        <p:nvSpPr>
          <p:cNvPr id="18" name="Text 16"/>
          <p:cNvSpPr/>
          <p:nvPr/>
        </p:nvSpPr>
        <p:spPr>
          <a:xfrm>
            <a:off x="7360920" y="33329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Evaluate</a:t>
            </a:r>
            <a:endParaRPr lang="en-US" sz="1050" dirty="0"/>
          </a:p>
        </p:txBody>
      </p:sp>
      <p:sp>
        <p:nvSpPr>
          <p:cNvPr id="19" name="Shape 17"/>
          <p:cNvSpPr/>
          <p:nvPr/>
        </p:nvSpPr>
        <p:spPr>
          <a:xfrm>
            <a:off x="9235440" y="3314700"/>
            <a:ext cx="1645920" cy="310896"/>
          </a:xfrm>
          <a:prstGeom prst="rect">
            <a:avLst/>
          </a:prstGeom>
          <a:solidFill>
            <a:srgbClr val="F4F7FB"/>
          </a:solidFill>
          <a:ln w="12700">
            <a:solidFill>
              <a:srgbClr val="D9E2EF"/>
            </a:solidFill>
            <a:prstDash val="solid"/>
          </a:ln>
        </p:spPr>
      </p:sp>
      <p:sp>
        <p:nvSpPr>
          <p:cNvPr id="20" name="Shape 18"/>
          <p:cNvSpPr/>
          <p:nvPr/>
        </p:nvSpPr>
        <p:spPr>
          <a:xfrm>
            <a:off x="9235440" y="3314700"/>
            <a:ext cx="1286561" cy="310896"/>
          </a:xfrm>
          <a:prstGeom prst="rect">
            <a:avLst/>
          </a:prstGeom>
          <a:solidFill>
            <a:srgbClr val="0891B2"/>
          </a:solidFill>
          <a:ln w="12700">
            <a:solidFill>
              <a:srgbClr val="0891B2"/>
            </a:solidFill>
            <a:prstDash val="solid"/>
          </a:ln>
        </p:spPr>
      </p:sp>
      <p:sp>
        <p:nvSpPr>
          <p:cNvPr id="21" name="Text 19"/>
          <p:cNvSpPr/>
          <p:nvPr/>
        </p:nvSpPr>
        <p:spPr>
          <a:xfrm>
            <a:off x="10586009" y="3342132"/>
            <a:ext cx="640080" cy="182880"/>
          </a:xfrm>
          <a:prstGeom prst="rect">
            <a:avLst/>
          </a:prstGeom>
          <a:noFill/>
          <a:ln/>
        </p:spPr>
        <p:txBody>
          <a:bodyPr wrap="square" lIns="0" tIns="0" rIns="0" bIns="0" rtlCol="0" anchor="ctr"/>
          <a:lstStyle/>
          <a:p>
            <a:pPr indent="0" marL="0">
              <a:buNone/>
            </a:pPr>
            <a:r>
              <a:rPr lang="en-US" sz="900" dirty="0">
                <a:solidFill>
                  <a:srgbClr val="16213A"/>
                </a:solidFill>
              </a:rPr>
              <a:t>0.670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The Problem</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Unsupervised anomaly detection is fragile when the data shape changes.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Different anomalies need different detectors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Thresholds are usually guessed</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Small demos can overstate performance</a:t>
            </a:r>
            <a:endParaRPr lang="en-US" sz="1500" dirty="0"/>
          </a:p>
        </p:txBody>
      </p:sp>
      <p:sp>
        <p:nvSpPr>
          <p:cNvPr id="11" name="Text 9"/>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Project Goal</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Build a model that adapts before it predicts.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Analyze the uploaded table</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Select suitable detectors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Optimize and normalize model scores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Compare against known baselines</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System View</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is a layered pipeline, not a single algorithm.</a:t>
            </a:r>
            <a:endParaRPr lang="en-US" sz="1600" dirty="0"/>
          </a:p>
        </p:txBody>
      </p:sp>
      <p:sp>
        <p:nvSpPr>
          <p:cNvPr id="5" name="Shape 3"/>
          <p:cNvSpPr/>
          <p:nvPr/>
        </p:nvSpPr>
        <p:spPr>
          <a:xfrm>
            <a:off x="685800" y="2514600"/>
            <a:ext cx="1664208" cy="822960"/>
          </a:xfrm>
          <a:prstGeom prst="rect">
            <a:avLst>
              <a:gd name="adj" fmla="val 8889"/>
            </a:avLst>
          </a:prstGeom>
          <a:solidFill>
            <a:srgbClr val="E8F0FF"/>
          </a:solidFill>
          <a:ln w="12700">
            <a:solidFill>
              <a:srgbClr val="D9E2EF"/>
            </a:solidFill>
            <a:prstDash val="solid"/>
          </a:ln>
        </p:spPr>
      </p:sp>
      <p:sp>
        <p:nvSpPr>
          <p:cNvPr id="6" name="Text 4"/>
          <p:cNvSpPr/>
          <p:nvPr/>
        </p:nvSpPr>
        <p:spPr>
          <a:xfrm>
            <a:off x="7955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Input</a:t>
            </a:r>
            <a:endParaRPr lang="en-US" sz="1200" dirty="0"/>
          </a:p>
        </p:txBody>
      </p:sp>
      <p:sp>
        <p:nvSpPr>
          <p:cNvPr id="7" name="Text 5"/>
          <p:cNvSpPr/>
          <p:nvPr/>
        </p:nvSpPr>
        <p:spPr>
          <a:xfrm>
            <a:off x="2386584" y="2761488"/>
            <a:ext cx="128016" cy="182880"/>
          </a:xfrm>
          <a:prstGeom prst="rect">
            <a:avLst/>
          </a:prstGeom>
          <a:noFill/>
          <a:ln/>
        </p:spPr>
        <p:txBody>
          <a:bodyPr wrap="square" lIns="0" tIns="0" rIns="0" bIns="0" rtlCol="0" anchor="ctr"/>
          <a:lstStyle/>
          <a:p>
            <a:pPr indent="0" marL="0">
              <a:buNone/>
            </a:pPr>
            <a:r>
              <a:rPr lang="en-US" sz="1400" dirty="0">
                <a:solidFill>
                  <a:srgbClr val="5E6B7A"/>
                </a:solidFill>
              </a:rPr>
              <a:t>&gt;</a:t>
            </a:r>
            <a:endParaRPr lang="en-US" sz="1400" dirty="0"/>
          </a:p>
        </p:txBody>
      </p:sp>
      <p:sp>
        <p:nvSpPr>
          <p:cNvPr id="8" name="Shape 6"/>
          <p:cNvSpPr/>
          <p:nvPr/>
        </p:nvSpPr>
        <p:spPr>
          <a:xfrm>
            <a:off x="2514600" y="2514600"/>
            <a:ext cx="1664208" cy="822960"/>
          </a:xfrm>
          <a:prstGeom prst="rect">
            <a:avLst>
              <a:gd name="adj" fmla="val 8889"/>
            </a:avLst>
          </a:prstGeom>
          <a:solidFill>
            <a:srgbClr val="E0F2FE"/>
          </a:solidFill>
          <a:ln w="12700">
            <a:solidFill>
              <a:srgbClr val="D9E2EF"/>
            </a:solidFill>
            <a:prstDash val="solid"/>
          </a:ln>
        </p:spPr>
      </p:sp>
      <p:sp>
        <p:nvSpPr>
          <p:cNvPr id="9" name="Text 7"/>
          <p:cNvSpPr/>
          <p:nvPr/>
        </p:nvSpPr>
        <p:spPr>
          <a:xfrm>
            <a:off x="26243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Analysis</a:t>
            </a:r>
            <a:endParaRPr lang="en-US" sz="1200" dirty="0"/>
          </a:p>
        </p:txBody>
      </p:sp>
      <p:sp>
        <p:nvSpPr>
          <p:cNvPr id="10" name="Text 8"/>
          <p:cNvSpPr/>
          <p:nvPr/>
        </p:nvSpPr>
        <p:spPr>
          <a:xfrm>
            <a:off x="4215384" y="2761488"/>
            <a:ext cx="128016" cy="182880"/>
          </a:xfrm>
          <a:prstGeom prst="rect">
            <a:avLst/>
          </a:prstGeom>
          <a:noFill/>
          <a:ln/>
        </p:spPr>
        <p:txBody>
          <a:bodyPr wrap="square" lIns="0" tIns="0" rIns="0" bIns="0" rtlCol="0" anchor="ctr"/>
          <a:lstStyle/>
          <a:p>
            <a:pPr indent="0" marL="0">
              <a:buNone/>
            </a:pPr>
            <a:r>
              <a:rPr lang="en-US" sz="1400" dirty="0">
                <a:solidFill>
                  <a:srgbClr val="5E6B7A"/>
                </a:solidFill>
              </a:rPr>
              <a:t>&gt;</a:t>
            </a:r>
            <a:endParaRPr lang="en-US" sz="1400" dirty="0"/>
          </a:p>
        </p:txBody>
      </p:sp>
      <p:sp>
        <p:nvSpPr>
          <p:cNvPr id="11" name="Shape 9"/>
          <p:cNvSpPr/>
          <p:nvPr/>
        </p:nvSpPr>
        <p:spPr>
          <a:xfrm>
            <a:off x="4343400" y="2514600"/>
            <a:ext cx="1664208" cy="822960"/>
          </a:xfrm>
          <a:prstGeom prst="rect">
            <a:avLst>
              <a:gd name="adj" fmla="val 8889"/>
            </a:avLst>
          </a:prstGeom>
          <a:solidFill>
            <a:srgbClr val="E8F0FF"/>
          </a:solidFill>
          <a:ln w="12700">
            <a:solidFill>
              <a:srgbClr val="D9E2EF"/>
            </a:solidFill>
            <a:prstDash val="solid"/>
          </a:ln>
        </p:spPr>
      </p:sp>
      <p:sp>
        <p:nvSpPr>
          <p:cNvPr id="12" name="Text 10"/>
          <p:cNvSpPr/>
          <p:nvPr/>
        </p:nvSpPr>
        <p:spPr>
          <a:xfrm>
            <a:off x="44531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Optimization</a:t>
            </a:r>
            <a:endParaRPr lang="en-US" sz="1200" dirty="0"/>
          </a:p>
        </p:txBody>
      </p:sp>
      <p:sp>
        <p:nvSpPr>
          <p:cNvPr id="13" name="Text 11"/>
          <p:cNvSpPr/>
          <p:nvPr/>
        </p:nvSpPr>
        <p:spPr>
          <a:xfrm>
            <a:off x="6044184" y="2761488"/>
            <a:ext cx="128016" cy="182880"/>
          </a:xfrm>
          <a:prstGeom prst="rect">
            <a:avLst/>
          </a:prstGeom>
          <a:noFill/>
          <a:ln/>
        </p:spPr>
        <p:txBody>
          <a:bodyPr wrap="square" lIns="0" tIns="0" rIns="0" bIns="0" rtlCol="0" anchor="ctr"/>
          <a:lstStyle/>
          <a:p>
            <a:pPr indent="0" marL="0">
              <a:buNone/>
            </a:pPr>
            <a:r>
              <a:rPr lang="en-US" sz="1400" dirty="0">
                <a:solidFill>
                  <a:srgbClr val="5E6B7A"/>
                </a:solidFill>
              </a:rPr>
              <a:t>&gt;</a:t>
            </a:r>
            <a:endParaRPr lang="en-US" sz="1400" dirty="0"/>
          </a:p>
        </p:txBody>
      </p:sp>
      <p:sp>
        <p:nvSpPr>
          <p:cNvPr id="14" name="Shape 12"/>
          <p:cNvSpPr/>
          <p:nvPr/>
        </p:nvSpPr>
        <p:spPr>
          <a:xfrm>
            <a:off x="6172200" y="2514600"/>
            <a:ext cx="1664208" cy="822960"/>
          </a:xfrm>
          <a:prstGeom prst="rect">
            <a:avLst>
              <a:gd name="adj" fmla="val 8889"/>
            </a:avLst>
          </a:prstGeom>
          <a:solidFill>
            <a:srgbClr val="E0F2FE"/>
          </a:solidFill>
          <a:ln w="12700">
            <a:solidFill>
              <a:srgbClr val="D9E2EF"/>
            </a:solidFill>
            <a:prstDash val="solid"/>
          </a:ln>
        </p:spPr>
      </p:sp>
      <p:sp>
        <p:nvSpPr>
          <p:cNvPr id="15" name="Text 13"/>
          <p:cNvSpPr/>
          <p:nvPr/>
        </p:nvSpPr>
        <p:spPr>
          <a:xfrm>
            <a:off x="62819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Core Models</a:t>
            </a:r>
            <a:endParaRPr lang="en-US" sz="1200" dirty="0"/>
          </a:p>
        </p:txBody>
      </p:sp>
      <p:sp>
        <p:nvSpPr>
          <p:cNvPr id="16" name="Text 14"/>
          <p:cNvSpPr/>
          <p:nvPr/>
        </p:nvSpPr>
        <p:spPr>
          <a:xfrm>
            <a:off x="7872984" y="2761488"/>
            <a:ext cx="128016" cy="182880"/>
          </a:xfrm>
          <a:prstGeom prst="rect">
            <a:avLst/>
          </a:prstGeom>
          <a:noFill/>
          <a:ln/>
        </p:spPr>
        <p:txBody>
          <a:bodyPr wrap="square" lIns="0" tIns="0" rIns="0" bIns="0" rtlCol="0" anchor="ctr"/>
          <a:lstStyle/>
          <a:p>
            <a:pPr indent="0" marL="0">
              <a:buNone/>
            </a:pPr>
            <a:r>
              <a:rPr lang="en-US" sz="1400" dirty="0">
                <a:solidFill>
                  <a:srgbClr val="5E6B7A"/>
                </a:solidFill>
              </a:rPr>
              <a:t>&gt;</a:t>
            </a:r>
            <a:endParaRPr lang="en-US" sz="1400" dirty="0"/>
          </a:p>
        </p:txBody>
      </p:sp>
      <p:sp>
        <p:nvSpPr>
          <p:cNvPr id="17" name="Shape 15"/>
          <p:cNvSpPr/>
          <p:nvPr/>
        </p:nvSpPr>
        <p:spPr>
          <a:xfrm>
            <a:off x="8001000" y="2514600"/>
            <a:ext cx="1664208" cy="822960"/>
          </a:xfrm>
          <a:prstGeom prst="rect">
            <a:avLst>
              <a:gd name="adj" fmla="val 8889"/>
            </a:avLst>
          </a:prstGeom>
          <a:solidFill>
            <a:srgbClr val="E8F0FF"/>
          </a:solidFill>
          <a:ln w="12700">
            <a:solidFill>
              <a:srgbClr val="D9E2EF"/>
            </a:solidFill>
            <a:prstDash val="solid"/>
          </a:ln>
        </p:spPr>
      </p:sp>
      <p:sp>
        <p:nvSpPr>
          <p:cNvPr id="18" name="Text 16"/>
          <p:cNvSpPr/>
          <p:nvPr/>
        </p:nvSpPr>
        <p:spPr>
          <a:xfrm>
            <a:off x="81107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Ensemble</a:t>
            </a:r>
            <a:endParaRPr lang="en-US" sz="1200" dirty="0"/>
          </a:p>
        </p:txBody>
      </p:sp>
      <p:sp>
        <p:nvSpPr>
          <p:cNvPr id="19" name="Text 17"/>
          <p:cNvSpPr/>
          <p:nvPr/>
        </p:nvSpPr>
        <p:spPr>
          <a:xfrm>
            <a:off x="9701784" y="2761488"/>
            <a:ext cx="128016" cy="182880"/>
          </a:xfrm>
          <a:prstGeom prst="rect">
            <a:avLst/>
          </a:prstGeom>
          <a:noFill/>
          <a:ln/>
        </p:spPr>
        <p:txBody>
          <a:bodyPr wrap="square" lIns="0" tIns="0" rIns="0" bIns="0" rtlCol="0" anchor="ctr"/>
          <a:lstStyle/>
          <a:p>
            <a:pPr indent="0" marL="0">
              <a:buNone/>
            </a:pPr>
            <a:r>
              <a:rPr lang="en-US" sz="1400" dirty="0">
                <a:solidFill>
                  <a:srgbClr val="5E6B7A"/>
                </a:solidFill>
              </a:rPr>
              <a:t>&gt;</a:t>
            </a:r>
            <a:endParaRPr lang="en-US" sz="1400" dirty="0"/>
          </a:p>
        </p:txBody>
      </p:sp>
      <p:sp>
        <p:nvSpPr>
          <p:cNvPr id="20" name="Shape 18"/>
          <p:cNvSpPr/>
          <p:nvPr/>
        </p:nvSpPr>
        <p:spPr>
          <a:xfrm>
            <a:off x="9829800" y="2514600"/>
            <a:ext cx="1664208" cy="822960"/>
          </a:xfrm>
          <a:prstGeom prst="rect">
            <a:avLst>
              <a:gd name="adj" fmla="val 8889"/>
            </a:avLst>
          </a:prstGeom>
          <a:solidFill>
            <a:srgbClr val="E0F2FE"/>
          </a:solidFill>
          <a:ln w="12700">
            <a:solidFill>
              <a:srgbClr val="D9E2EF"/>
            </a:solidFill>
            <a:prstDash val="solid"/>
          </a:ln>
        </p:spPr>
      </p:sp>
      <p:sp>
        <p:nvSpPr>
          <p:cNvPr id="21" name="Text 19"/>
          <p:cNvSpPr/>
          <p:nvPr/>
        </p:nvSpPr>
        <p:spPr>
          <a:xfrm>
            <a:off x="9939528" y="2779776"/>
            <a:ext cx="1444752" cy="219456"/>
          </a:xfrm>
          <a:prstGeom prst="rect">
            <a:avLst/>
          </a:prstGeom>
          <a:noFill/>
          <a:ln/>
        </p:spPr>
        <p:txBody>
          <a:bodyPr wrap="square" lIns="0" tIns="0" rIns="0" bIns="0" rtlCol="0" anchor="ctr">
            <a:normAutofit/>
          </a:bodyPr>
          <a:lstStyle/>
          <a:p>
            <a:pPr algn="ctr" indent="0" marL="0">
              <a:buNone/>
            </a:pPr>
            <a:r>
              <a:rPr lang="en-US" sz="1200" b="1" dirty="0">
                <a:solidFill>
                  <a:srgbClr val="16213A"/>
                </a:solidFill>
              </a:rPr>
              <a:t>Results</a:t>
            </a:r>
            <a:endParaRPr lang="en-US" sz="12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Input Layer</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system accepts tabular data and keeps the model unsupervised.</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CSV, API, or database source</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Numeric features are extracted</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Known label columns are excluded from training</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Labels are used only for evaluation</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Analysis Layer</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Before modeling, AutoAD+ measures the dataset.</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Rows and numeric feature count</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Missing rate and zero rate</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Variance, skewness, kurtosis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Correlation and entropy signals</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Model Selection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Candidate detectors are chosen from the data profile.</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Isolation Forest for global outliers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One-Class SVM for boundary learning</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LOF and KNN distance for neighborhood anomalies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Autoencoder and LSTM when data size supports them</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Optimization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Each detector is tuned automatically with Optuna.</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Isolation Forest: tree count and sample fraction</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OCSVM: nu and gamma</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LOF: neighbor count and distance metric</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Neural models: hidden size and learning rate</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Core Detectors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model combines complementary views of abnormality.</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Tree isolation score</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Kernel boundary score</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Local density and KNN-distance score</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Reconstruction error</a:t>
            </a:r>
            <a:endParaRPr lang="en-US" sz="1500" dirty="0"/>
          </a:p>
        </p:txBody>
      </p:sp>
      <p:sp>
        <p:nvSpPr>
          <p:cNvPr id="13" name="Shape 11"/>
          <p:cNvSpPr/>
          <p:nvPr/>
        </p:nvSpPr>
        <p:spPr>
          <a:xfrm>
            <a:off x="822960" y="4398264"/>
            <a:ext cx="128016" cy="128016"/>
          </a:xfrm>
          <a:prstGeom prst="ellipse">
            <a:avLst/>
          </a:prstGeom>
          <a:solidFill>
            <a:srgbClr val="2563EB"/>
          </a:solidFill>
          <a:ln w="12700">
            <a:solidFill>
              <a:srgbClr val="2563EB"/>
            </a:solidFill>
            <a:prstDash val="solid"/>
          </a:ln>
        </p:spPr>
      </p:sp>
      <p:sp>
        <p:nvSpPr>
          <p:cNvPr id="14" name="Text 12"/>
          <p:cNvSpPr/>
          <p:nvPr/>
        </p:nvSpPr>
        <p:spPr>
          <a:xfrm>
            <a:off x="1115568" y="4325112"/>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Sequence reconstruction error</a:t>
            </a:r>
            <a:endParaRPr lang="en-US" sz="1500" dirty="0"/>
          </a:p>
        </p:txBody>
      </p:sp>
      <p:sp>
        <p:nvSpPr>
          <p:cNvPr id="15" name="Text 13"/>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Domain Detectors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latest version adds targeted signals for sensor-style failures.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Flatline / dead-sensor score</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Temporal-change score</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Median-centrality and repeated-value evidence</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Detector gating to avoid false dominance</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Score Normalization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Raw detector scores are not directly comparable.</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Scores are clipped at robust percentiles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Each score stream is scaled to a common range</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The ensemble uses reliability-weighted contributions</a:t>
            </a:r>
            <a:endParaRPr lang="en-US" sz="1500" dirty="0"/>
          </a:p>
        </p:txBody>
      </p:sp>
      <p:sp>
        <p:nvSpPr>
          <p:cNvPr id="11" name="Text 9"/>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Adaptive Thresholding</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final label is produced by an adaptive score-gap threshold.</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Searches for separation near top scores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Falls back to percentile behavior when separation is weak</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Reports threshold metadata to the API/UI</a:t>
            </a:r>
            <a:endParaRPr lang="en-US" sz="1500" dirty="0"/>
          </a:p>
        </p:txBody>
      </p:sp>
      <p:sp>
        <p:nvSpPr>
          <p:cNvPr id="11" name="Text 9"/>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Meta-Selection Layer</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can switch from the ensemble to the detector that best fits a dataset.</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Profiles are learned from labeled validation results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Candidate sources include ensemble, IForest, OCSVM, LOF, KNN, and temporal-change</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The selected source also supplies expected-contamination thresholding</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The selector records which training dataset it matched</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Learned Selector Upgrade</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newest version replaces nearest-profile matching with a small classifier.</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Runtime trains a Random Forest selector from profile rows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Feature vector combines dataset shape and score diagnostics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Each detector contributes distribution statistics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Fallback remains nearest-profile matching when learned vectors are unavailable</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Selector Features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learned selector uses richer evidence than row and column counts.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Dataset shape: rows, features, sparsity, correlations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Score spread: mean, standard deviation, percentiles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Tail behavior: top-one-percent gap and max-to-p99 gap</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Skewness: whether scores form a heavy anomaly tail</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Output</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result is both a prediction and an explanation surface.</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Anomaly score per row</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Binary anomaly flag</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Model weights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Per-model normalized scores</a:t>
            </a:r>
            <a:endParaRPr lang="en-US" sz="1500" dirty="0"/>
          </a:p>
        </p:txBody>
      </p:sp>
      <p:sp>
        <p:nvSpPr>
          <p:cNvPr id="13" name="Shape 11"/>
          <p:cNvSpPr/>
          <p:nvPr/>
        </p:nvSpPr>
        <p:spPr>
          <a:xfrm>
            <a:off x="822960" y="4398264"/>
            <a:ext cx="128016" cy="128016"/>
          </a:xfrm>
          <a:prstGeom prst="ellipse">
            <a:avLst/>
          </a:prstGeom>
          <a:solidFill>
            <a:srgbClr val="2563EB"/>
          </a:solidFill>
          <a:ln w="12700">
            <a:solidFill>
              <a:srgbClr val="2563EB"/>
            </a:solidFill>
            <a:prstDash val="solid"/>
          </a:ln>
        </p:spPr>
      </p:sp>
      <p:sp>
        <p:nvSpPr>
          <p:cNvPr id="14" name="Text 12"/>
          <p:cNvSpPr/>
          <p:nvPr/>
        </p:nvSpPr>
        <p:spPr>
          <a:xfrm>
            <a:off x="1115568" y="4325112"/>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Evaluation metrics when labels exist</a:t>
            </a:r>
            <a:endParaRPr lang="en-US" sz="1500" dirty="0"/>
          </a:p>
        </p:txBody>
      </p:sp>
      <p:sp>
        <p:nvSpPr>
          <p:cNvPr id="15" name="Text 13"/>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731520" y="2103120"/>
            <a:ext cx="8686800" cy="594360"/>
          </a:xfrm>
          <a:prstGeom prst="rect">
            <a:avLst/>
          </a:prstGeom>
          <a:noFill/>
          <a:ln/>
        </p:spPr>
        <p:txBody>
          <a:bodyPr wrap="square" lIns="0" tIns="0" rIns="0" bIns="0" rtlCol="0" anchor="ctr"/>
          <a:lstStyle/>
          <a:p>
            <a:pPr indent="0" marL="0">
              <a:buNone/>
            </a:pPr>
            <a:r>
              <a:rPr lang="en-US" sz="3800" b="1" dirty="0">
                <a:solidFill>
                  <a:srgbClr val="FFFFFF"/>
                </a:solidFill>
              </a:rPr>
              <a:t>Datasets</a:t>
            </a:r>
            <a:endParaRPr lang="en-US" sz="3800" dirty="0"/>
          </a:p>
        </p:txBody>
      </p:sp>
      <p:sp>
        <p:nvSpPr>
          <p:cNvPr id="4" name="Text 2"/>
          <p:cNvSpPr/>
          <p:nvPr/>
        </p:nvSpPr>
        <p:spPr>
          <a:xfrm>
            <a:off x="768096" y="2880360"/>
            <a:ext cx="7589520" cy="347472"/>
          </a:xfrm>
          <a:prstGeom prst="rect">
            <a:avLst/>
          </a:prstGeom>
          <a:noFill/>
          <a:ln/>
        </p:spPr>
        <p:txBody>
          <a:bodyPr wrap="square" lIns="0" tIns="0" rIns="0" bIns="0" rtlCol="0" anchor="ctr"/>
          <a:lstStyle/>
          <a:p>
            <a:pPr indent="0" marL="0">
              <a:buNone/>
            </a:pPr>
            <a:r>
              <a:rPr lang="en-US" sz="1600" dirty="0">
                <a:solidFill>
                  <a:srgbClr val="D8E4F8"/>
                </a:solidFill>
              </a:rPr>
              <a:t>The project uses controlled synthetic tests and multiple real labeled benchmarks.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Synthetic Dataset</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Controlled anomalies are injected into server-metric data.</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Base: server metrics CSV</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Expanded to 120 rows with small jitter</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54 validation runs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Three random seeds</a:t>
            </a:r>
            <a:endParaRPr lang="en-US" sz="1500" dirty="0"/>
          </a:p>
        </p:txBody>
      </p:sp>
      <p:sp>
        <p:nvSpPr>
          <p:cNvPr id="13" name="Shape 11"/>
          <p:cNvSpPr/>
          <p:nvPr/>
        </p:nvSpPr>
        <p:spPr>
          <a:xfrm>
            <a:off x="822960" y="4398264"/>
            <a:ext cx="128016" cy="128016"/>
          </a:xfrm>
          <a:prstGeom prst="ellipse">
            <a:avLst/>
          </a:prstGeom>
          <a:solidFill>
            <a:srgbClr val="2563EB"/>
          </a:solidFill>
          <a:ln w="12700">
            <a:solidFill>
              <a:srgbClr val="2563EB"/>
            </a:solidFill>
            <a:prstDash val="solid"/>
          </a:ln>
        </p:spPr>
      </p:sp>
      <p:sp>
        <p:nvSpPr>
          <p:cNvPr id="14" name="Text 12"/>
          <p:cNvSpPr/>
          <p:nvPr/>
        </p:nvSpPr>
        <p:spPr>
          <a:xfrm>
            <a:off x="1115568" y="4325112"/>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Multiple contamination levels</a:t>
            </a:r>
            <a:endParaRPr lang="en-US" sz="1500" dirty="0"/>
          </a:p>
        </p:txBody>
      </p:sp>
      <p:sp>
        <p:nvSpPr>
          <p:cNvPr id="15" name="Text 13"/>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Synthetic Scenarios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benchmark checks multiple anomaly families.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Single-feature spikes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Joint shifts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Scale bursts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Temporal blocks</a:t>
            </a:r>
            <a:endParaRPr lang="en-US" sz="1500" dirty="0"/>
          </a:p>
        </p:txBody>
      </p:sp>
      <p:sp>
        <p:nvSpPr>
          <p:cNvPr id="13" name="Shape 11"/>
          <p:cNvSpPr/>
          <p:nvPr/>
        </p:nvSpPr>
        <p:spPr>
          <a:xfrm>
            <a:off x="822960" y="4398264"/>
            <a:ext cx="128016" cy="128016"/>
          </a:xfrm>
          <a:prstGeom prst="ellipse">
            <a:avLst/>
          </a:prstGeom>
          <a:solidFill>
            <a:srgbClr val="2563EB"/>
          </a:solidFill>
          <a:ln w="12700">
            <a:solidFill>
              <a:srgbClr val="2563EB"/>
            </a:solidFill>
            <a:prstDash val="solid"/>
          </a:ln>
        </p:spPr>
      </p:sp>
      <p:sp>
        <p:nvSpPr>
          <p:cNvPr id="14" name="Text 12"/>
          <p:cNvSpPr/>
          <p:nvPr/>
        </p:nvSpPr>
        <p:spPr>
          <a:xfrm>
            <a:off x="1115568" y="4325112"/>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Dead sensor variants</a:t>
            </a:r>
            <a:endParaRPr lang="en-US" sz="1500" dirty="0"/>
          </a:p>
        </p:txBody>
      </p:sp>
      <p:sp>
        <p:nvSpPr>
          <p:cNvPr id="15" name="Shape 13"/>
          <p:cNvSpPr/>
          <p:nvPr/>
        </p:nvSpPr>
        <p:spPr>
          <a:xfrm>
            <a:off x="822960" y="5056632"/>
            <a:ext cx="128016" cy="128016"/>
          </a:xfrm>
          <a:prstGeom prst="ellipse">
            <a:avLst/>
          </a:prstGeom>
          <a:solidFill>
            <a:srgbClr val="2563EB"/>
          </a:solidFill>
          <a:ln w="12700">
            <a:solidFill>
              <a:srgbClr val="2563EB"/>
            </a:solidFill>
            <a:prstDash val="solid"/>
          </a:ln>
        </p:spPr>
      </p:sp>
      <p:sp>
        <p:nvSpPr>
          <p:cNvPr id="16" name="Text 14"/>
          <p:cNvSpPr/>
          <p:nvPr/>
        </p:nvSpPr>
        <p:spPr>
          <a:xfrm>
            <a:off x="1115568" y="498348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Sign flips</a:t>
            </a:r>
            <a:endParaRPr lang="en-US" sz="1500" dirty="0"/>
          </a:p>
        </p:txBody>
      </p:sp>
      <p:sp>
        <p:nvSpPr>
          <p:cNvPr id="17" name="Text 15"/>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Real-World Datasets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Ten labeled or derived-label datasets test generalization.</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Native labels: Annthyroid, KDD HTTP, KDD SMTP, Ionosphere</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Medical/classification-derived: WDBC malignant</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Rare-class tasks: Glass, Pendigits, Wine, Ecoli, Yeast</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Expanded LODO trains on 9 datasets and holds out 1</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Baselines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is compared with popular unsupervised models.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Isolation Forest</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One-Class SVM</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Local Outlier Factor</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KNN distance</a:t>
            </a:r>
            <a:endParaRPr lang="en-US" sz="1500" dirty="0"/>
          </a:p>
        </p:txBody>
      </p:sp>
      <p:sp>
        <p:nvSpPr>
          <p:cNvPr id="13" name="Shape 11"/>
          <p:cNvSpPr/>
          <p:nvPr/>
        </p:nvSpPr>
        <p:spPr>
          <a:xfrm>
            <a:off x="822960" y="4398264"/>
            <a:ext cx="128016" cy="128016"/>
          </a:xfrm>
          <a:prstGeom prst="ellipse">
            <a:avLst/>
          </a:prstGeom>
          <a:solidFill>
            <a:srgbClr val="2563EB"/>
          </a:solidFill>
          <a:ln w="12700">
            <a:solidFill>
              <a:srgbClr val="2563EB"/>
            </a:solidFill>
            <a:prstDash val="solid"/>
          </a:ln>
        </p:spPr>
      </p:sp>
      <p:sp>
        <p:nvSpPr>
          <p:cNvPr id="14" name="Text 12"/>
          <p:cNvSpPr/>
          <p:nvPr/>
        </p:nvSpPr>
        <p:spPr>
          <a:xfrm>
            <a:off x="1115568" y="4325112"/>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AutoAD+ ensemble</a:t>
            </a:r>
            <a:endParaRPr lang="en-US" sz="1500" dirty="0"/>
          </a:p>
        </p:txBody>
      </p:sp>
      <p:sp>
        <p:nvSpPr>
          <p:cNvPr id="15" name="Text 13"/>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Synthetic F1 Comparison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ranks first on the larger synthetic validation benchmark.</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3280867" cy="310896"/>
          </a:xfrm>
          <a:prstGeom prst="rect">
            <a:avLst/>
          </a:prstGeom>
          <a:solidFill>
            <a:srgbClr val="2563EB"/>
          </a:solidFill>
          <a:ln w="12700">
            <a:solidFill>
              <a:srgbClr val="2563EB"/>
            </a:solidFill>
            <a:prstDash val="solid"/>
          </a:ln>
        </p:spPr>
      </p:sp>
      <p:sp>
        <p:nvSpPr>
          <p:cNvPr id="8" name="Text 6"/>
          <p:cNvSpPr/>
          <p:nvPr/>
        </p:nvSpPr>
        <p:spPr>
          <a:xfrm>
            <a:off x="6179515"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0.552</a:t>
            </a:r>
            <a:endParaRPr lang="en-US" sz="900" dirty="0"/>
          </a:p>
        </p:txBody>
      </p:sp>
      <p:sp>
        <p:nvSpPr>
          <p:cNvPr id="9" name="Text 7"/>
          <p:cNvSpPr/>
          <p:nvPr/>
        </p:nvSpPr>
        <p:spPr>
          <a:xfrm>
            <a:off x="960120" y="260146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Isolation Forest</a:t>
            </a:r>
            <a:endParaRPr lang="en-US" sz="1050" dirty="0"/>
          </a:p>
        </p:txBody>
      </p:sp>
      <p:sp>
        <p:nvSpPr>
          <p:cNvPr id="10" name="Shape 8"/>
          <p:cNvSpPr/>
          <p:nvPr/>
        </p:nvSpPr>
        <p:spPr>
          <a:xfrm>
            <a:off x="2834640" y="2583180"/>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583180"/>
            <a:ext cx="3084728" cy="310896"/>
          </a:xfrm>
          <a:prstGeom prst="rect">
            <a:avLst/>
          </a:prstGeom>
          <a:solidFill>
            <a:srgbClr val="2563EB"/>
          </a:solidFill>
          <a:ln w="12700">
            <a:solidFill>
              <a:srgbClr val="2563EB"/>
            </a:solidFill>
            <a:prstDash val="solid"/>
          </a:ln>
        </p:spPr>
      </p:sp>
      <p:sp>
        <p:nvSpPr>
          <p:cNvPr id="12" name="Text 10"/>
          <p:cNvSpPr/>
          <p:nvPr/>
        </p:nvSpPr>
        <p:spPr>
          <a:xfrm>
            <a:off x="5983376" y="2610612"/>
            <a:ext cx="640080" cy="182880"/>
          </a:xfrm>
          <a:prstGeom prst="rect">
            <a:avLst/>
          </a:prstGeom>
          <a:noFill/>
          <a:ln/>
        </p:spPr>
        <p:txBody>
          <a:bodyPr wrap="square" lIns="0" tIns="0" rIns="0" bIns="0" rtlCol="0" anchor="ctr"/>
          <a:lstStyle/>
          <a:p>
            <a:pPr indent="0" marL="0">
              <a:buNone/>
            </a:pPr>
            <a:r>
              <a:rPr lang="en-US" sz="900" dirty="0">
                <a:solidFill>
                  <a:srgbClr val="16213A"/>
                </a:solidFill>
              </a:rPr>
              <a:t>0.519</a:t>
            </a:r>
            <a:endParaRPr lang="en-US" sz="900" dirty="0"/>
          </a:p>
        </p:txBody>
      </p:sp>
      <p:sp>
        <p:nvSpPr>
          <p:cNvPr id="13" name="Text 11"/>
          <p:cNvSpPr/>
          <p:nvPr/>
        </p:nvSpPr>
        <p:spPr>
          <a:xfrm>
            <a:off x="960120" y="335584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One-Class SVM</a:t>
            </a:r>
            <a:endParaRPr lang="en-US" sz="1050" dirty="0"/>
          </a:p>
        </p:txBody>
      </p:sp>
      <p:sp>
        <p:nvSpPr>
          <p:cNvPr id="14" name="Shape 12"/>
          <p:cNvSpPr/>
          <p:nvPr/>
        </p:nvSpPr>
        <p:spPr>
          <a:xfrm>
            <a:off x="2834640" y="3337560"/>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337560"/>
            <a:ext cx="2971800" cy="310896"/>
          </a:xfrm>
          <a:prstGeom prst="rect">
            <a:avLst/>
          </a:prstGeom>
          <a:solidFill>
            <a:srgbClr val="2563EB"/>
          </a:solidFill>
          <a:ln w="12700">
            <a:solidFill>
              <a:srgbClr val="2563EB"/>
            </a:solidFill>
            <a:prstDash val="solid"/>
          </a:ln>
        </p:spPr>
      </p:sp>
      <p:sp>
        <p:nvSpPr>
          <p:cNvPr id="16" name="Text 14"/>
          <p:cNvSpPr/>
          <p:nvPr/>
        </p:nvSpPr>
        <p:spPr>
          <a:xfrm>
            <a:off x="5870448" y="3364992"/>
            <a:ext cx="640080" cy="182880"/>
          </a:xfrm>
          <a:prstGeom prst="rect">
            <a:avLst/>
          </a:prstGeom>
          <a:noFill/>
          <a:ln/>
        </p:spPr>
        <p:txBody>
          <a:bodyPr wrap="square" lIns="0" tIns="0" rIns="0" bIns="0" rtlCol="0" anchor="ctr"/>
          <a:lstStyle/>
          <a:p>
            <a:pPr indent="0" marL="0">
              <a:buNone/>
            </a:pPr>
            <a:r>
              <a:rPr lang="en-US" sz="900" dirty="0">
                <a:solidFill>
                  <a:srgbClr val="16213A"/>
                </a:solidFill>
              </a:rPr>
              <a:t>0.500</a:t>
            </a:r>
            <a:endParaRPr lang="en-US" sz="900" dirty="0"/>
          </a:p>
        </p:txBody>
      </p:sp>
      <p:sp>
        <p:nvSpPr>
          <p:cNvPr id="17" name="Text 15"/>
          <p:cNvSpPr/>
          <p:nvPr/>
        </p:nvSpPr>
        <p:spPr>
          <a:xfrm>
            <a:off x="960120" y="41102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LOF</a:t>
            </a:r>
            <a:endParaRPr lang="en-US" sz="1050" dirty="0"/>
          </a:p>
        </p:txBody>
      </p:sp>
      <p:sp>
        <p:nvSpPr>
          <p:cNvPr id="18" name="Shape 16"/>
          <p:cNvSpPr/>
          <p:nvPr/>
        </p:nvSpPr>
        <p:spPr>
          <a:xfrm>
            <a:off x="2834640" y="4091940"/>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4091940"/>
            <a:ext cx="2211019" cy="310896"/>
          </a:xfrm>
          <a:prstGeom prst="rect">
            <a:avLst/>
          </a:prstGeom>
          <a:solidFill>
            <a:srgbClr val="2563EB"/>
          </a:solidFill>
          <a:ln w="12700">
            <a:solidFill>
              <a:srgbClr val="2563EB"/>
            </a:solidFill>
            <a:prstDash val="solid"/>
          </a:ln>
        </p:spPr>
      </p:sp>
      <p:sp>
        <p:nvSpPr>
          <p:cNvPr id="20" name="Text 18"/>
          <p:cNvSpPr/>
          <p:nvPr/>
        </p:nvSpPr>
        <p:spPr>
          <a:xfrm>
            <a:off x="5109667" y="4119372"/>
            <a:ext cx="640080" cy="182880"/>
          </a:xfrm>
          <a:prstGeom prst="rect">
            <a:avLst/>
          </a:prstGeom>
          <a:noFill/>
          <a:ln/>
        </p:spPr>
        <p:txBody>
          <a:bodyPr wrap="square" lIns="0" tIns="0" rIns="0" bIns="0" rtlCol="0" anchor="ctr"/>
          <a:lstStyle/>
          <a:p>
            <a:pPr indent="0" marL="0">
              <a:buNone/>
            </a:pPr>
            <a:r>
              <a:rPr lang="en-US" sz="900" dirty="0">
                <a:solidFill>
                  <a:srgbClr val="16213A"/>
                </a:solidFill>
              </a:rPr>
              <a:t>0.372</a:t>
            </a:r>
            <a:endParaRPr lang="en-US" sz="900" dirty="0"/>
          </a:p>
        </p:txBody>
      </p:sp>
      <p:sp>
        <p:nvSpPr>
          <p:cNvPr id="21" name="Text 19"/>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F1 across 54 runs</a:t>
            </a:r>
            <a:endParaRPr lang="en-US" sz="10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Synthetic ROC-AUC</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separates positives well in controlled tests.</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5420563" cy="310896"/>
          </a:xfrm>
          <a:prstGeom prst="rect">
            <a:avLst/>
          </a:prstGeom>
          <a:solidFill>
            <a:srgbClr val="2563EB"/>
          </a:solidFill>
          <a:ln w="12700">
            <a:solidFill>
              <a:srgbClr val="2563EB"/>
            </a:solidFill>
            <a:prstDash val="solid"/>
          </a:ln>
        </p:spPr>
      </p:sp>
      <p:sp>
        <p:nvSpPr>
          <p:cNvPr id="8" name="Text 6"/>
          <p:cNvSpPr/>
          <p:nvPr/>
        </p:nvSpPr>
        <p:spPr>
          <a:xfrm>
            <a:off x="8319211"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0.912</a:t>
            </a:r>
            <a:endParaRPr lang="en-US" sz="900" dirty="0"/>
          </a:p>
        </p:txBody>
      </p:sp>
      <p:sp>
        <p:nvSpPr>
          <p:cNvPr id="9" name="Text 7"/>
          <p:cNvSpPr/>
          <p:nvPr/>
        </p:nvSpPr>
        <p:spPr>
          <a:xfrm>
            <a:off x="960120" y="260146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Isolation Forest</a:t>
            </a:r>
            <a:endParaRPr lang="en-US" sz="1050" dirty="0"/>
          </a:p>
        </p:txBody>
      </p:sp>
      <p:sp>
        <p:nvSpPr>
          <p:cNvPr id="10" name="Shape 8"/>
          <p:cNvSpPr/>
          <p:nvPr/>
        </p:nvSpPr>
        <p:spPr>
          <a:xfrm>
            <a:off x="2834640" y="2583180"/>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583180"/>
            <a:ext cx="4844034" cy="310896"/>
          </a:xfrm>
          <a:prstGeom prst="rect">
            <a:avLst/>
          </a:prstGeom>
          <a:solidFill>
            <a:srgbClr val="2563EB"/>
          </a:solidFill>
          <a:ln w="12700">
            <a:solidFill>
              <a:srgbClr val="2563EB"/>
            </a:solidFill>
            <a:prstDash val="solid"/>
          </a:ln>
        </p:spPr>
      </p:sp>
      <p:sp>
        <p:nvSpPr>
          <p:cNvPr id="12" name="Text 10"/>
          <p:cNvSpPr/>
          <p:nvPr/>
        </p:nvSpPr>
        <p:spPr>
          <a:xfrm>
            <a:off x="7742682" y="2610612"/>
            <a:ext cx="640080" cy="182880"/>
          </a:xfrm>
          <a:prstGeom prst="rect">
            <a:avLst/>
          </a:prstGeom>
          <a:noFill/>
          <a:ln/>
        </p:spPr>
        <p:txBody>
          <a:bodyPr wrap="square" lIns="0" tIns="0" rIns="0" bIns="0" rtlCol="0" anchor="ctr"/>
          <a:lstStyle/>
          <a:p>
            <a:pPr indent="0" marL="0">
              <a:buNone/>
            </a:pPr>
            <a:r>
              <a:rPr lang="en-US" sz="900" dirty="0">
                <a:solidFill>
                  <a:srgbClr val="16213A"/>
                </a:solidFill>
              </a:rPr>
              <a:t>0.815</a:t>
            </a:r>
            <a:endParaRPr lang="en-US" sz="900" dirty="0"/>
          </a:p>
        </p:txBody>
      </p:sp>
      <p:sp>
        <p:nvSpPr>
          <p:cNvPr id="13" name="Text 11"/>
          <p:cNvSpPr/>
          <p:nvPr/>
        </p:nvSpPr>
        <p:spPr>
          <a:xfrm>
            <a:off x="960120" y="335584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One-Class SVM</a:t>
            </a:r>
            <a:endParaRPr lang="en-US" sz="1050" dirty="0"/>
          </a:p>
        </p:txBody>
      </p:sp>
      <p:sp>
        <p:nvSpPr>
          <p:cNvPr id="14" name="Shape 12"/>
          <p:cNvSpPr/>
          <p:nvPr/>
        </p:nvSpPr>
        <p:spPr>
          <a:xfrm>
            <a:off x="2834640" y="3337560"/>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337560"/>
            <a:ext cx="4873752" cy="310896"/>
          </a:xfrm>
          <a:prstGeom prst="rect">
            <a:avLst/>
          </a:prstGeom>
          <a:solidFill>
            <a:srgbClr val="2563EB"/>
          </a:solidFill>
          <a:ln w="12700">
            <a:solidFill>
              <a:srgbClr val="2563EB"/>
            </a:solidFill>
            <a:prstDash val="solid"/>
          </a:ln>
        </p:spPr>
      </p:sp>
      <p:sp>
        <p:nvSpPr>
          <p:cNvPr id="16" name="Text 14"/>
          <p:cNvSpPr/>
          <p:nvPr/>
        </p:nvSpPr>
        <p:spPr>
          <a:xfrm>
            <a:off x="7772400" y="3364992"/>
            <a:ext cx="640080" cy="182880"/>
          </a:xfrm>
          <a:prstGeom prst="rect">
            <a:avLst/>
          </a:prstGeom>
          <a:noFill/>
          <a:ln/>
        </p:spPr>
        <p:txBody>
          <a:bodyPr wrap="square" lIns="0" tIns="0" rIns="0" bIns="0" rtlCol="0" anchor="ctr"/>
          <a:lstStyle/>
          <a:p>
            <a:pPr indent="0" marL="0">
              <a:buNone/>
            </a:pPr>
            <a:r>
              <a:rPr lang="en-US" sz="900" dirty="0">
                <a:solidFill>
                  <a:srgbClr val="16213A"/>
                </a:solidFill>
              </a:rPr>
              <a:t>0.820</a:t>
            </a:r>
            <a:endParaRPr lang="en-US" sz="900" dirty="0"/>
          </a:p>
        </p:txBody>
      </p:sp>
      <p:sp>
        <p:nvSpPr>
          <p:cNvPr id="17" name="Text 15"/>
          <p:cNvSpPr/>
          <p:nvPr/>
        </p:nvSpPr>
        <p:spPr>
          <a:xfrm>
            <a:off x="960120" y="41102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LOF</a:t>
            </a:r>
            <a:endParaRPr lang="en-US" sz="1050" dirty="0"/>
          </a:p>
        </p:txBody>
      </p:sp>
      <p:sp>
        <p:nvSpPr>
          <p:cNvPr id="18" name="Shape 16"/>
          <p:cNvSpPr/>
          <p:nvPr/>
        </p:nvSpPr>
        <p:spPr>
          <a:xfrm>
            <a:off x="2834640" y="4091940"/>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4091940"/>
            <a:ext cx="4612234" cy="310896"/>
          </a:xfrm>
          <a:prstGeom prst="rect">
            <a:avLst/>
          </a:prstGeom>
          <a:solidFill>
            <a:srgbClr val="2563EB"/>
          </a:solidFill>
          <a:ln w="12700">
            <a:solidFill>
              <a:srgbClr val="2563EB"/>
            </a:solidFill>
            <a:prstDash val="solid"/>
          </a:ln>
        </p:spPr>
      </p:sp>
      <p:sp>
        <p:nvSpPr>
          <p:cNvPr id="20" name="Text 18"/>
          <p:cNvSpPr/>
          <p:nvPr/>
        </p:nvSpPr>
        <p:spPr>
          <a:xfrm>
            <a:off x="7510882" y="4119372"/>
            <a:ext cx="640080" cy="182880"/>
          </a:xfrm>
          <a:prstGeom prst="rect">
            <a:avLst/>
          </a:prstGeom>
          <a:noFill/>
          <a:ln/>
        </p:spPr>
        <p:txBody>
          <a:bodyPr wrap="square" lIns="0" tIns="0" rIns="0" bIns="0" rtlCol="0" anchor="ctr"/>
          <a:lstStyle/>
          <a:p>
            <a:pPr indent="0" marL="0">
              <a:buNone/>
            </a:pPr>
            <a:r>
              <a:rPr lang="en-US" sz="900" dirty="0">
                <a:solidFill>
                  <a:srgbClr val="16213A"/>
                </a:solidFill>
              </a:rPr>
              <a:t>0.776</a:t>
            </a:r>
            <a:endParaRPr lang="en-US" sz="900" dirty="0"/>
          </a:p>
        </p:txBody>
      </p:sp>
      <p:sp>
        <p:nvSpPr>
          <p:cNvPr id="21" name="Text 19"/>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ROC-AUC</a:t>
            </a:r>
            <a:endParaRPr lang="en-US" sz="10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Real-World F1 Comparison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Across five real datasets, default AutoAD+ ranks last by F1.</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One-Class SVM</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1396746" cy="310896"/>
          </a:xfrm>
          <a:prstGeom prst="rect">
            <a:avLst/>
          </a:prstGeom>
          <a:solidFill>
            <a:srgbClr val="D97706"/>
          </a:solidFill>
          <a:ln w="12700">
            <a:solidFill>
              <a:srgbClr val="D97706"/>
            </a:solidFill>
            <a:prstDash val="solid"/>
          </a:ln>
        </p:spPr>
      </p:sp>
      <p:sp>
        <p:nvSpPr>
          <p:cNvPr id="8" name="Text 6"/>
          <p:cNvSpPr/>
          <p:nvPr/>
        </p:nvSpPr>
        <p:spPr>
          <a:xfrm>
            <a:off x="4295394"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0.235</a:t>
            </a:r>
            <a:endParaRPr lang="en-US" sz="900" dirty="0"/>
          </a:p>
        </p:txBody>
      </p:sp>
      <p:sp>
        <p:nvSpPr>
          <p:cNvPr id="9" name="Text 7"/>
          <p:cNvSpPr/>
          <p:nvPr/>
        </p:nvSpPr>
        <p:spPr>
          <a:xfrm>
            <a:off x="960120" y="260146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LOF</a:t>
            </a:r>
            <a:endParaRPr lang="en-US" sz="1050" dirty="0"/>
          </a:p>
        </p:txBody>
      </p:sp>
      <p:sp>
        <p:nvSpPr>
          <p:cNvPr id="10" name="Shape 8"/>
          <p:cNvSpPr/>
          <p:nvPr/>
        </p:nvSpPr>
        <p:spPr>
          <a:xfrm>
            <a:off x="2834640" y="2583180"/>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583180"/>
            <a:ext cx="439826" cy="310896"/>
          </a:xfrm>
          <a:prstGeom prst="rect">
            <a:avLst/>
          </a:prstGeom>
          <a:solidFill>
            <a:srgbClr val="D97706"/>
          </a:solidFill>
          <a:ln w="12700">
            <a:solidFill>
              <a:srgbClr val="D97706"/>
            </a:solidFill>
            <a:prstDash val="solid"/>
          </a:ln>
        </p:spPr>
      </p:sp>
      <p:sp>
        <p:nvSpPr>
          <p:cNvPr id="12" name="Text 10"/>
          <p:cNvSpPr/>
          <p:nvPr/>
        </p:nvSpPr>
        <p:spPr>
          <a:xfrm>
            <a:off x="3338474" y="2610612"/>
            <a:ext cx="640080" cy="182880"/>
          </a:xfrm>
          <a:prstGeom prst="rect">
            <a:avLst/>
          </a:prstGeom>
          <a:noFill/>
          <a:ln/>
        </p:spPr>
        <p:txBody>
          <a:bodyPr wrap="square" lIns="0" tIns="0" rIns="0" bIns="0" rtlCol="0" anchor="ctr"/>
          <a:lstStyle/>
          <a:p>
            <a:pPr indent="0" marL="0">
              <a:buNone/>
            </a:pPr>
            <a:r>
              <a:rPr lang="en-US" sz="900" dirty="0">
                <a:solidFill>
                  <a:srgbClr val="16213A"/>
                </a:solidFill>
              </a:rPr>
              <a:t>0.074</a:t>
            </a:r>
            <a:endParaRPr lang="en-US" sz="900" dirty="0"/>
          </a:p>
        </p:txBody>
      </p:sp>
      <p:sp>
        <p:nvSpPr>
          <p:cNvPr id="13" name="Text 11"/>
          <p:cNvSpPr/>
          <p:nvPr/>
        </p:nvSpPr>
        <p:spPr>
          <a:xfrm>
            <a:off x="960120" y="335584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Isolation Forest</a:t>
            </a:r>
            <a:endParaRPr lang="en-US" sz="1050" dirty="0"/>
          </a:p>
        </p:txBody>
      </p:sp>
      <p:sp>
        <p:nvSpPr>
          <p:cNvPr id="14" name="Shape 12"/>
          <p:cNvSpPr/>
          <p:nvPr/>
        </p:nvSpPr>
        <p:spPr>
          <a:xfrm>
            <a:off x="2834640" y="3337560"/>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337560"/>
            <a:ext cx="404165" cy="310896"/>
          </a:xfrm>
          <a:prstGeom prst="rect">
            <a:avLst/>
          </a:prstGeom>
          <a:solidFill>
            <a:srgbClr val="D97706"/>
          </a:solidFill>
          <a:ln w="12700">
            <a:solidFill>
              <a:srgbClr val="D97706"/>
            </a:solidFill>
            <a:prstDash val="solid"/>
          </a:ln>
        </p:spPr>
      </p:sp>
      <p:sp>
        <p:nvSpPr>
          <p:cNvPr id="16" name="Text 14"/>
          <p:cNvSpPr/>
          <p:nvPr/>
        </p:nvSpPr>
        <p:spPr>
          <a:xfrm>
            <a:off x="3302813" y="3364992"/>
            <a:ext cx="640080" cy="182880"/>
          </a:xfrm>
          <a:prstGeom prst="rect">
            <a:avLst/>
          </a:prstGeom>
          <a:noFill/>
          <a:ln/>
        </p:spPr>
        <p:txBody>
          <a:bodyPr wrap="square" lIns="0" tIns="0" rIns="0" bIns="0" rtlCol="0" anchor="ctr"/>
          <a:lstStyle/>
          <a:p>
            <a:pPr indent="0" marL="0">
              <a:buNone/>
            </a:pPr>
            <a:r>
              <a:rPr lang="en-US" sz="900" dirty="0">
                <a:solidFill>
                  <a:srgbClr val="16213A"/>
                </a:solidFill>
              </a:rPr>
              <a:t>0.068</a:t>
            </a:r>
            <a:endParaRPr lang="en-US" sz="900" dirty="0"/>
          </a:p>
        </p:txBody>
      </p:sp>
      <p:sp>
        <p:nvSpPr>
          <p:cNvPr id="17" name="Text 15"/>
          <p:cNvSpPr/>
          <p:nvPr/>
        </p:nvSpPr>
        <p:spPr>
          <a:xfrm>
            <a:off x="960120" y="41102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a:t>
            </a:r>
            <a:endParaRPr lang="en-US" sz="1050" dirty="0"/>
          </a:p>
        </p:txBody>
      </p:sp>
      <p:sp>
        <p:nvSpPr>
          <p:cNvPr id="18" name="Shape 16"/>
          <p:cNvSpPr/>
          <p:nvPr/>
        </p:nvSpPr>
        <p:spPr>
          <a:xfrm>
            <a:off x="2834640" y="4091940"/>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4091940"/>
            <a:ext cx="202082" cy="310896"/>
          </a:xfrm>
          <a:prstGeom prst="rect">
            <a:avLst/>
          </a:prstGeom>
          <a:solidFill>
            <a:srgbClr val="D97706"/>
          </a:solidFill>
          <a:ln w="12700">
            <a:solidFill>
              <a:srgbClr val="D97706"/>
            </a:solidFill>
            <a:prstDash val="solid"/>
          </a:ln>
        </p:spPr>
      </p:sp>
      <p:sp>
        <p:nvSpPr>
          <p:cNvPr id="20" name="Text 18"/>
          <p:cNvSpPr/>
          <p:nvPr/>
        </p:nvSpPr>
        <p:spPr>
          <a:xfrm>
            <a:off x="3100730" y="4119372"/>
            <a:ext cx="640080" cy="182880"/>
          </a:xfrm>
          <a:prstGeom prst="rect">
            <a:avLst/>
          </a:prstGeom>
          <a:noFill/>
          <a:ln/>
        </p:spPr>
        <p:txBody>
          <a:bodyPr wrap="square" lIns="0" tIns="0" rIns="0" bIns="0" rtlCol="0" anchor="ctr"/>
          <a:lstStyle/>
          <a:p>
            <a:pPr indent="0" marL="0">
              <a:buNone/>
            </a:pPr>
            <a:r>
              <a:rPr lang="en-US" sz="900" dirty="0">
                <a:solidFill>
                  <a:srgbClr val="16213A"/>
                </a:solidFill>
              </a:rPr>
              <a:t>0.034</a:t>
            </a:r>
            <a:endParaRPr lang="en-US" sz="900" dirty="0"/>
          </a:p>
        </p:txBody>
      </p:sp>
      <p:sp>
        <p:nvSpPr>
          <p:cNvPr id="21" name="Text 19"/>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F1 across five real datasets</a:t>
            </a:r>
            <a:endParaRPr lang="en-US" sz="10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Real-World ROC-AUC</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ranks reasonably, but thresholded F1 is weak.</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One-Class SVM</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4101084" cy="310896"/>
          </a:xfrm>
          <a:prstGeom prst="rect">
            <a:avLst/>
          </a:prstGeom>
          <a:solidFill>
            <a:srgbClr val="D97706"/>
          </a:solidFill>
          <a:ln w="12700">
            <a:solidFill>
              <a:srgbClr val="D97706"/>
            </a:solidFill>
            <a:prstDash val="solid"/>
          </a:ln>
        </p:spPr>
      </p:sp>
      <p:sp>
        <p:nvSpPr>
          <p:cNvPr id="8" name="Text 6"/>
          <p:cNvSpPr/>
          <p:nvPr/>
        </p:nvSpPr>
        <p:spPr>
          <a:xfrm>
            <a:off x="6999732"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0.690</a:t>
            </a:r>
            <a:endParaRPr lang="en-US" sz="900" dirty="0"/>
          </a:p>
        </p:txBody>
      </p:sp>
      <p:sp>
        <p:nvSpPr>
          <p:cNvPr id="9" name="Text 7"/>
          <p:cNvSpPr/>
          <p:nvPr/>
        </p:nvSpPr>
        <p:spPr>
          <a:xfrm>
            <a:off x="960120" y="260146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LOF</a:t>
            </a:r>
            <a:endParaRPr lang="en-US" sz="1050" dirty="0"/>
          </a:p>
        </p:txBody>
      </p:sp>
      <p:sp>
        <p:nvSpPr>
          <p:cNvPr id="10" name="Shape 8"/>
          <p:cNvSpPr/>
          <p:nvPr/>
        </p:nvSpPr>
        <p:spPr>
          <a:xfrm>
            <a:off x="2834640" y="2583180"/>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583180"/>
            <a:ext cx="3762299" cy="310896"/>
          </a:xfrm>
          <a:prstGeom prst="rect">
            <a:avLst/>
          </a:prstGeom>
          <a:solidFill>
            <a:srgbClr val="D97706"/>
          </a:solidFill>
          <a:ln w="12700">
            <a:solidFill>
              <a:srgbClr val="D97706"/>
            </a:solidFill>
            <a:prstDash val="solid"/>
          </a:ln>
        </p:spPr>
      </p:sp>
      <p:sp>
        <p:nvSpPr>
          <p:cNvPr id="12" name="Text 10"/>
          <p:cNvSpPr/>
          <p:nvPr/>
        </p:nvSpPr>
        <p:spPr>
          <a:xfrm>
            <a:off x="6660947" y="2610612"/>
            <a:ext cx="640080" cy="182880"/>
          </a:xfrm>
          <a:prstGeom prst="rect">
            <a:avLst/>
          </a:prstGeom>
          <a:noFill/>
          <a:ln/>
        </p:spPr>
        <p:txBody>
          <a:bodyPr wrap="square" lIns="0" tIns="0" rIns="0" bIns="0" rtlCol="0" anchor="ctr"/>
          <a:lstStyle/>
          <a:p>
            <a:pPr indent="0" marL="0">
              <a:buNone/>
            </a:pPr>
            <a:r>
              <a:rPr lang="en-US" sz="900" dirty="0">
                <a:solidFill>
                  <a:srgbClr val="16213A"/>
                </a:solidFill>
              </a:rPr>
              <a:t>0.633</a:t>
            </a:r>
            <a:endParaRPr lang="en-US" sz="900" dirty="0"/>
          </a:p>
        </p:txBody>
      </p:sp>
      <p:sp>
        <p:nvSpPr>
          <p:cNvPr id="13" name="Text 11"/>
          <p:cNvSpPr/>
          <p:nvPr/>
        </p:nvSpPr>
        <p:spPr>
          <a:xfrm>
            <a:off x="960120" y="335584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Isolation Forest</a:t>
            </a:r>
            <a:endParaRPr lang="en-US" sz="1050" dirty="0"/>
          </a:p>
        </p:txBody>
      </p:sp>
      <p:sp>
        <p:nvSpPr>
          <p:cNvPr id="14" name="Shape 12"/>
          <p:cNvSpPr/>
          <p:nvPr/>
        </p:nvSpPr>
        <p:spPr>
          <a:xfrm>
            <a:off x="2834640" y="3337560"/>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337560"/>
            <a:ext cx="4493362" cy="310896"/>
          </a:xfrm>
          <a:prstGeom prst="rect">
            <a:avLst/>
          </a:prstGeom>
          <a:solidFill>
            <a:srgbClr val="D97706"/>
          </a:solidFill>
          <a:ln w="12700">
            <a:solidFill>
              <a:srgbClr val="D97706"/>
            </a:solidFill>
            <a:prstDash val="solid"/>
          </a:ln>
        </p:spPr>
      </p:sp>
      <p:sp>
        <p:nvSpPr>
          <p:cNvPr id="16" name="Text 14"/>
          <p:cNvSpPr/>
          <p:nvPr/>
        </p:nvSpPr>
        <p:spPr>
          <a:xfrm>
            <a:off x="7392010" y="3364992"/>
            <a:ext cx="640080" cy="182880"/>
          </a:xfrm>
          <a:prstGeom prst="rect">
            <a:avLst/>
          </a:prstGeom>
          <a:noFill/>
          <a:ln/>
        </p:spPr>
        <p:txBody>
          <a:bodyPr wrap="square" lIns="0" tIns="0" rIns="0" bIns="0" rtlCol="0" anchor="ctr"/>
          <a:lstStyle/>
          <a:p>
            <a:pPr indent="0" marL="0">
              <a:buNone/>
            </a:pPr>
            <a:r>
              <a:rPr lang="en-US" sz="900" dirty="0">
                <a:solidFill>
                  <a:srgbClr val="16213A"/>
                </a:solidFill>
              </a:rPr>
              <a:t>0.756</a:t>
            </a:r>
            <a:endParaRPr lang="en-US" sz="900" dirty="0"/>
          </a:p>
        </p:txBody>
      </p:sp>
      <p:sp>
        <p:nvSpPr>
          <p:cNvPr id="17" name="Text 15"/>
          <p:cNvSpPr/>
          <p:nvPr/>
        </p:nvSpPr>
        <p:spPr>
          <a:xfrm>
            <a:off x="960120" y="41102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a:t>
            </a:r>
            <a:endParaRPr lang="en-US" sz="1050" dirty="0"/>
          </a:p>
        </p:txBody>
      </p:sp>
      <p:sp>
        <p:nvSpPr>
          <p:cNvPr id="18" name="Shape 16"/>
          <p:cNvSpPr/>
          <p:nvPr/>
        </p:nvSpPr>
        <p:spPr>
          <a:xfrm>
            <a:off x="2834640" y="4091940"/>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4091940"/>
            <a:ext cx="4380433" cy="310896"/>
          </a:xfrm>
          <a:prstGeom prst="rect">
            <a:avLst/>
          </a:prstGeom>
          <a:solidFill>
            <a:srgbClr val="D97706"/>
          </a:solidFill>
          <a:ln w="12700">
            <a:solidFill>
              <a:srgbClr val="D97706"/>
            </a:solidFill>
            <a:prstDash val="solid"/>
          </a:ln>
        </p:spPr>
      </p:sp>
      <p:sp>
        <p:nvSpPr>
          <p:cNvPr id="20" name="Text 18"/>
          <p:cNvSpPr/>
          <p:nvPr/>
        </p:nvSpPr>
        <p:spPr>
          <a:xfrm>
            <a:off x="7279081" y="4119372"/>
            <a:ext cx="640080" cy="182880"/>
          </a:xfrm>
          <a:prstGeom prst="rect">
            <a:avLst/>
          </a:prstGeom>
          <a:noFill/>
          <a:ln/>
        </p:spPr>
        <p:txBody>
          <a:bodyPr wrap="square" lIns="0" tIns="0" rIns="0" bIns="0" rtlCol="0" anchor="ctr"/>
          <a:lstStyle/>
          <a:p>
            <a:pPr indent="0" marL="0">
              <a:buNone/>
            </a:pPr>
            <a:r>
              <a:rPr lang="en-US" sz="900" dirty="0">
                <a:solidFill>
                  <a:srgbClr val="16213A"/>
                </a:solidFill>
              </a:rPr>
              <a:t>0.737</a:t>
            </a:r>
            <a:endParaRPr lang="en-US" sz="900" dirty="0"/>
          </a:p>
        </p:txBody>
      </p:sp>
      <p:sp>
        <p:nvSpPr>
          <p:cNvPr id="21" name="Text 19"/>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ROC-AUC across five real datasets</a:t>
            </a:r>
            <a:endParaRPr lang="en-US" sz="10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Calibration Helps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Annthyroid-calibrated AutoAD+ improves, but still trails OCSVM overall.</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One-Class SVM</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1402690" cy="310896"/>
          </a:xfrm>
          <a:prstGeom prst="rect">
            <a:avLst/>
          </a:prstGeom>
          <a:solidFill>
            <a:srgbClr val="2563EB"/>
          </a:solidFill>
          <a:ln w="12700">
            <a:solidFill>
              <a:srgbClr val="2563EB"/>
            </a:solidFill>
            <a:prstDash val="solid"/>
          </a:ln>
        </p:spPr>
      </p:sp>
      <p:sp>
        <p:nvSpPr>
          <p:cNvPr id="8" name="Text 6"/>
          <p:cNvSpPr/>
          <p:nvPr/>
        </p:nvSpPr>
        <p:spPr>
          <a:xfrm>
            <a:off x="4301338"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0.236</a:t>
            </a:r>
            <a:endParaRPr lang="en-US" sz="900" dirty="0"/>
          </a:p>
        </p:txBody>
      </p:sp>
      <p:sp>
        <p:nvSpPr>
          <p:cNvPr id="9" name="Text 7"/>
          <p:cNvSpPr/>
          <p:nvPr/>
        </p:nvSpPr>
        <p:spPr>
          <a:xfrm>
            <a:off x="960120" y="260146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 calibrated</a:t>
            </a:r>
            <a:endParaRPr lang="en-US" sz="1050" dirty="0"/>
          </a:p>
        </p:txBody>
      </p:sp>
      <p:sp>
        <p:nvSpPr>
          <p:cNvPr id="10" name="Shape 8"/>
          <p:cNvSpPr/>
          <p:nvPr/>
        </p:nvSpPr>
        <p:spPr>
          <a:xfrm>
            <a:off x="2834640" y="2583180"/>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583180"/>
            <a:ext cx="707288" cy="310896"/>
          </a:xfrm>
          <a:prstGeom prst="rect">
            <a:avLst/>
          </a:prstGeom>
          <a:solidFill>
            <a:srgbClr val="2563EB"/>
          </a:solidFill>
          <a:ln w="12700">
            <a:solidFill>
              <a:srgbClr val="2563EB"/>
            </a:solidFill>
            <a:prstDash val="solid"/>
          </a:ln>
        </p:spPr>
      </p:sp>
      <p:sp>
        <p:nvSpPr>
          <p:cNvPr id="12" name="Text 10"/>
          <p:cNvSpPr/>
          <p:nvPr/>
        </p:nvSpPr>
        <p:spPr>
          <a:xfrm>
            <a:off x="3605936" y="2610612"/>
            <a:ext cx="640080" cy="182880"/>
          </a:xfrm>
          <a:prstGeom prst="rect">
            <a:avLst/>
          </a:prstGeom>
          <a:noFill/>
          <a:ln/>
        </p:spPr>
        <p:txBody>
          <a:bodyPr wrap="square" lIns="0" tIns="0" rIns="0" bIns="0" rtlCol="0" anchor="ctr"/>
          <a:lstStyle/>
          <a:p>
            <a:pPr indent="0" marL="0">
              <a:buNone/>
            </a:pPr>
            <a:r>
              <a:rPr lang="en-US" sz="900" dirty="0">
                <a:solidFill>
                  <a:srgbClr val="16213A"/>
                </a:solidFill>
              </a:rPr>
              <a:t>0.119</a:t>
            </a:r>
            <a:endParaRPr lang="en-US" sz="900" dirty="0"/>
          </a:p>
        </p:txBody>
      </p:sp>
      <p:sp>
        <p:nvSpPr>
          <p:cNvPr id="13" name="Text 11"/>
          <p:cNvSpPr/>
          <p:nvPr/>
        </p:nvSpPr>
        <p:spPr>
          <a:xfrm>
            <a:off x="960120" y="335584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LOF</a:t>
            </a:r>
            <a:endParaRPr lang="en-US" sz="1050" dirty="0"/>
          </a:p>
        </p:txBody>
      </p:sp>
      <p:sp>
        <p:nvSpPr>
          <p:cNvPr id="14" name="Shape 12"/>
          <p:cNvSpPr/>
          <p:nvPr/>
        </p:nvSpPr>
        <p:spPr>
          <a:xfrm>
            <a:off x="2834640" y="3337560"/>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337560"/>
            <a:ext cx="451714" cy="310896"/>
          </a:xfrm>
          <a:prstGeom prst="rect">
            <a:avLst/>
          </a:prstGeom>
          <a:solidFill>
            <a:srgbClr val="2563EB"/>
          </a:solidFill>
          <a:ln w="12700">
            <a:solidFill>
              <a:srgbClr val="2563EB"/>
            </a:solidFill>
            <a:prstDash val="solid"/>
          </a:ln>
        </p:spPr>
      </p:sp>
      <p:sp>
        <p:nvSpPr>
          <p:cNvPr id="16" name="Text 14"/>
          <p:cNvSpPr/>
          <p:nvPr/>
        </p:nvSpPr>
        <p:spPr>
          <a:xfrm>
            <a:off x="3350362" y="3364992"/>
            <a:ext cx="640080" cy="182880"/>
          </a:xfrm>
          <a:prstGeom prst="rect">
            <a:avLst/>
          </a:prstGeom>
          <a:noFill/>
          <a:ln/>
        </p:spPr>
        <p:txBody>
          <a:bodyPr wrap="square" lIns="0" tIns="0" rIns="0" bIns="0" rtlCol="0" anchor="ctr"/>
          <a:lstStyle/>
          <a:p>
            <a:pPr indent="0" marL="0">
              <a:buNone/>
            </a:pPr>
            <a:r>
              <a:rPr lang="en-US" sz="900" dirty="0">
                <a:solidFill>
                  <a:srgbClr val="16213A"/>
                </a:solidFill>
              </a:rPr>
              <a:t>0.076</a:t>
            </a:r>
            <a:endParaRPr lang="en-US" sz="900" dirty="0"/>
          </a:p>
        </p:txBody>
      </p:sp>
      <p:sp>
        <p:nvSpPr>
          <p:cNvPr id="17" name="Text 15"/>
          <p:cNvSpPr/>
          <p:nvPr/>
        </p:nvSpPr>
        <p:spPr>
          <a:xfrm>
            <a:off x="960120" y="41102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Isolation Forest</a:t>
            </a:r>
            <a:endParaRPr lang="en-US" sz="1050" dirty="0"/>
          </a:p>
        </p:txBody>
      </p:sp>
      <p:sp>
        <p:nvSpPr>
          <p:cNvPr id="18" name="Shape 16"/>
          <p:cNvSpPr/>
          <p:nvPr/>
        </p:nvSpPr>
        <p:spPr>
          <a:xfrm>
            <a:off x="2834640" y="4091940"/>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4091940"/>
            <a:ext cx="421996" cy="310896"/>
          </a:xfrm>
          <a:prstGeom prst="rect">
            <a:avLst/>
          </a:prstGeom>
          <a:solidFill>
            <a:srgbClr val="2563EB"/>
          </a:solidFill>
          <a:ln w="12700">
            <a:solidFill>
              <a:srgbClr val="2563EB"/>
            </a:solidFill>
            <a:prstDash val="solid"/>
          </a:ln>
        </p:spPr>
      </p:sp>
      <p:sp>
        <p:nvSpPr>
          <p:cNvPr id="20" name="Text 18"/>
          <p:cNvSpPr/>
          <p:nvPr/>
        </p:nvSpPr>
        <p:spPr>
          <a:xfrm>
            <a:off x="3320644" y="4119372"/>
            <a:ext cx="640080" cy="182880"/>
          </a:xfrm>
          <a:prstGeom prst="rect">
            <a:avLst/>
          </a:prstGeom>
          <a:noFill/>
          <a:ln/>
        </p:spPr>
        <p:txBody>
          <a:bodyPr wrap="square" lIns="0" tIns="0" rIns="0" bIns="0" rtlCol="0" anchor="ctr"/>
          <a:lstStyle/>
          <a:p>
            <a:pPr indent="0" marL="0">
              <a:buNone/>
            </a:pPr>
            <a:r>
              <a:rPr lang="en-US" sz="900" dirty="0">
                <a:solidFill>
                  <a:srgbClr val="16213A"/>
                </a:solidFill>
              </a:rPr>
              <a:t>0.071</a:t>
            </a:r>
            <a:endParaRPr lang="en-US" sz="900" dirty="0"/>
          </a:p>
        </p:txBody>
      </p:sp>
      <p:sp>
        <p:nvSpPr>
          <p:cNvPr id="21" name="Text 19"/>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F1 after calibrated weights</a:t>
            </a:r>
            <a:endParaRPr lang="en-US" sz="1000" dirty="0"/>
          </a:p>
        </p:txBody>
      </p:sp>
      <p:sp>
        <p:nvSpPr>
          <p:cNvPr id="22" name="Text 20"/>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Where AutoAD+ Fails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Harder real and synthetic cases expose weakness.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Previous-value dead sensors remain difficult</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KDD HTTP strongly favors OCSVM</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Default thresholding hurts real-data F1</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Calibration helps but is dataset-specific</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Overfitting Check</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earlier perfect score was too optimistic.</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Small 24-row benchmark produced inflated scores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Larger synthetic validation reduced F1 to 0.552</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Five real datasets drop default AutoAD F1 to 0.034</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Conclusion: no general superiority claim yet</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Final Evidence Summary</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Synthetic results are promising; real-world results require calibration.</a:t>
            </a:r>
            <a:endParaRPr lang="en-US" sz="1600" dirty="0"/>
          </a:p>
        </p:txBody>
      </p:sp>
      <p:sp>
        <p:nvSpPr>
          <p:cNvPr id="5" name="Shape 3"/>
          <p:cNvSpPr/>
          <p:nvPr/>
        </p:nvSpPr>
        <p:spPr>
          <a:xfrm>
            <a:off x="713232" y="1856232"/>
            <a:ext cx="10652760" cy="512064"/>
          </a:xfrm>
          <a:prstGeom prst="rect">
            <a:avLst/>
          </a:prstGeom>
          <a:solidFill>
            <a:srgbClr val="16213A"/>
          </a:solidFill>
          <a:ln w="12700">
            <a:solidFill>
              <a:srgbClr val="D9E2EF"/>
            </a:solidFill>
            <a:prstDash val="solid"/>
          </a:ln>
        </p:spPr>
      </p:sp>
      <p:sp>
        <p:nvSpPr>
          <p:cNvPr id="6" name="Text 4"/>
          <p:cNvSpPr/>
          <p:nvPr/>
        </p:nvSpPr>
        <p:spPr>
          <a:xfrm>
            <a:off x="822960" y="1965960"/>
            <a:ext cx="2194560" cy="228600"/>
          </a:xfrm>
          <a:prstGeom prst="rect">
            <a:avLst/>
          </a:prstGeom>
          <a:noFill/>
          <a:ln/>
        </p:spPr>
        <p:txBody>
          <a:bodyPr wrap="square" lIns="0" tIns="0" rIns="0" bIns="0" rtlCol="0" anchor="ctr">
            <a:normAutofit/>
          </a:bodyPr>
          <a:lstStyle/>
          <a:p>
            <a:pPr indent="0" marL="0">
              <a:buNone/>
            </a:pPr>
            <a:r>
              <a:rPr lang="en-US" sz="1000" b="1" dirty="0">
                <a:solidFill>
                  <a:srgbClr val="FFFFFF"/>
                </a:solidFill>
              </a:rPr>
              <a:t>Test</a:t>
            </a:r>
            <a:endParaRPr lang="en-US" sz="1000" dirty="0"/>
          </a:p>
        </p:txBody>
      </p:sp>
      <p:sp>
        <p:nvSpPr>
          <p:cNvPr id="7" name="Text 5"/>
          <p:cNvSpPr/>
          <p:nvPr/>
        </p:nvSpPr>
        <p:spPr>
          <a:xfrm>
            <a:off x="3291840" y="1965960"/>
            <a:ext cx="1463040" cy="228600"/>
          </a:xfrm>
          <a:prstGeom prst="rect">
            <a:avLst/>
          </a:prstGeom>
          <a:noFill/>
          <a:ln/>
        </p:spPr>
        <p:txBody>
          <a:bodyPr wrap="square" lIns="0" tIns="0" rIns="0" bIns="0" rtlCol="0" anchor="ctr">
            <a:normAutofit/>
          </a:bodyPr>
          <a:lstStyle/>
          <a:p>
            <a:pPr indent="0" marL="0">
              <a:buNone/>
            </a:pPr>
            <a:r>
              <a:rPr lang="en-US" sz="1000" b="1" dirty="0">
                <a:solidFill>
                  <a:srgbClr val="FFFFFF"/>
                </a:solidFill>
              </a:rPr>
              <a:t>Winner</a:t>
            </a:r>
            <a:endParaRPr lang="en-US" sz="1000" dirty="0"/>
          </a:p>
        </p:txBody>
      </p:sp>
      <p:sp>
        <p:nvSpPr>
          <p:cNvPr id="8" name="Text 6"/>
          <p:cNvSpPr/>
          <p:nvPr/>
        </p:nvSpPr>
        <p:spPr>
          <a:xfrm>
            <a:off x="5120640" y="1965960"/>
            <a:ext cx="1188720" cy="228600"/>
          </a:xfrm>
          <a:prstGeom prst="rect">
            <a:avLst/>
          </a:prstGeom>
          <a:noFill/>
          <a:ln/>
        </p:spPr>
        <p:txBody>
          <a:bodyPr wrap="square" lIns="0" tIns="0" rIns="0" bIns="0" rtlCol="0" anchor="ctr">
            <a:normAutofit/>
          </a:bodyPr>
          <a:lstStyle/>
          <a:p>
            <a:pPr indent="0" marL="0">
              <a:buNone/>
            </a:pPr>
            <a:r>
              <a:rPr lang="en-US" sz="1000" b="1" dirty="0">
                <a:solidFill>
                  <a:srgbClr val="FFFFFF"/>
                </a:solidFill>
              </a:rPr>
              <a:t>AutoAD rank</a:t>
            </a:r>
            <a:endParaRPr lang="en-US" sz="1000" dirty="0"/>
          </a:p>
        </p:txBody>
      </p:sp>
      <p:sp>
        <p:nvSpPr>
          <p:cNvPr id="9" name="Text 7"/>
          <p:cNvSpPr/>
          <p:nvPr/>
        </p:nvSpPr>
        <p:spPr>
          <a:xfrm>
            <a:off x="6675120" y="1965960"/>
            <a:ext cx="4114800" cy="228600"/>
          </a:xfrm>
          <a:prstGeom prst="rect">
            <a:avLst/>
          </a:prstGeom>
          <a:noFill/>
          <a:ln/>
        </p:spPr>
        <p:txBody>
          <a:bodyPr wrap="square" lIns="0" tIns="0" rIns="0" bIns="0" rtlCol="0" anchor="ctr">
            <a:normAutofit/>
          </a:bodyPr>
          <a:lstStyle/>
          <a:p>
            <a:pPr indent="0" marL="0">
              <a:buNone/>
            </a:pPr>
            <a:r>
              <a:rPr lang="en-US" sz="1000" b="1" dirty="0">
                <a:solidFill>
                  <a:srgbClr val="FFFFFF"/>
                </a:solidFill>
              </a:rPr>
              <a:t>Meaning</a:t>
            </a:r>
            <a:endParaRPr lang="en-US" sz="1000" dirty="0"/>
          </a:p>
        </p:txBody>
      </p:sp>
      <p:sp>
        <p:nvSpPr>
          <p:cNvPr id="10" name="Shape 8"/>
          <p:cNvSpPr/>
          <p:nvPr/>
        </p:nvSpPr>
        <p:spPr>
          <a:xfrm>
            <a:off x="713232" y="2514600"/>
            <a:ext cx="10652760" cy="512064"/>
          </a:xfrm>
          <a:prstGeom prst="rect">
            <a:avLst/>
          </a:prstGeom>
          <a:solidFill>
            <a:srgbClr val="EEF6FF"/>
          </a:solidFill>
          <a:ln w="12700">
            <a:solidFill>
              <a:srgbClr val="D9E2EF"/>
            </a:solidFill>
            <a:prstDash val="solid"/>
          </a:ln>
        </p:spPr>
      </p:sp>
      <p:sp>
        <p:nvSpPr>
          <p:cNvPr id="11" name="Text 9"/>
          <p:cNvSpPr/>
          <p:nvPr/>
        </p:nvSpPr>
        <p:spPr>
          <a:xfrm>
            <a:off x="822960" y="2624328"/>
            <a:ext cx="219456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Synthetic validation</a:t>
            </a:r>
            <a:endParaRPr lang="en-US" sz="1150" dirty="0"/>
          </a:p>
        </p:txBody>
      </p:sp>
      <p:sp>
        <p:nvSpPr>
          <p:cNvPr id="12" name="Text 10"/>
          <p:cNvSpPr/>
          <p:nvPr/>
        </p:nvSpPr>
        <p:spPr>
          <a:xfrm>
            <a:off x="3291840" y="2624328"/>
            <a:ext cx="146304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AutoAD</a:t>
            </a:r>
            <a:endParaRPr lang="en-US" sz="1150" dirty="0"/>
          </a:p>
        </p:txBody>
      </p:sp>
      <p:sp>
        <p:nvSpPr>
          <p:cNvPr id="13" name="Text 11"/>
          <p:cNvSpPr/>
          <p:nvPr/>
        </p:nvSpPr>
        <p:spPr>
          <a:xfrm>
            <a:off x="5120640" y="2624328"/>
            <a:ext cx="118872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1st</a:t>
            </a:r>
            <a:endParaRPr lang="en-US" sz="1150" dirty="0"/>
          </a:p>
        </p:txBody>
      </p:sp>
      <p:sp>
        <p:nvSpPr>
          <p:cNvPr id="14" name="Text 12"/>
          <p:cNvSpPr/>
          <p:nvPr/>
        </p:nvSpPr>
        <p:spPr>
          <a:xfrm>
            <a:off x="6675120" y="2624328"/>
            <a:ext cx="411480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Promising on controlled anomalies</a:t>
            </a:r>
            <a:endParaRPr lang="en-US" sz="1150" dirty="0"/>
          </a:p>
        </p:txBody>
      </p:sp>
      <p:sp>
        <p:nvSpPr>
          <p:cNvPr id="15" name="Shape 13"/>
          <p:cNvSpPr/>
          <p:nvPr/>
        </p:nvSpPr>
        <p:spPr>
          <a:xfrm>
            <a:off x="713232" y="3172968"/>
            <a:ext cx="10652760" cy="512064"/>
          </a:xfrm>
          <a:prstGeom prst="rect">
            <a:avLst/>
          </a:prstGeom>
          <a:solidFill>
            <a:srgbClr val="FFF7ED"/>
          </a:solidFill>
          <a:ln w="12700">
            <a:solidFill>
              <a:srgbClr val="D9E2EF"/>
            </a:solidFill>
            <a:prstDash val="solid"/>
          </a:ln>
        </p:spPr>
      </p:sp>
      <p:sp>
        <p:nvSpPr>
          <p:cNvPr id="16" name="Text 14"/>
          <p:cNvSpPr/>
          <p:nvPr/>
        </p:nvSpPr>
        <p:spPr>
          <a:xfrm>
            <a:off x="822960" y="3282696"/>
            <a:ext cx="219456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Expanded real benchmark</a:t>
            </a:r>
            <a:endParaRPr lang="en-US" sz="1150" dirty="0"/>
          </a:p>
        </p:txBody>
      </p:sp>
      <p:sp>
        <p:nvSpPr>
          <p:cNvPr id="17" name="Text 15"/>
          <p:cNvSpPr/>
          <p:nvPr/>
        </p:nvSpPr>
        <p:spPr>
          <a:xfrm>
            <a:off x="3291840" y="3282696"/>
            <a:ext cx="146304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OCSVM</a:t>
            </a:r>
            <a:endParaRPr lang="en-US" sz="1150" dirty="0"/>
          </a:p>
        </p:txBody>
      </p:sp>
      <p:sp>
        <p:nvSpPr>
          <p:cNvPr id="18" name="Text 16"/>
          <p:cNvSpPr/>
          <p:nvPr/>
        </p:nvSpPr>
        <p:spPr>
          <a:xfrm>
            <a:off x="5120640" y="3282696"/>
            <a:ext cx="118872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4th</a:t>
            </a:r>
            <a:endParaRPr lang="en-US" sz="1150" dirty="0"/>
          </a:p>
        </p:txBody>
      </p:sp>
      <p:sp>
        <p:nvSpPr>
          <p:cNvPr id="19" name="Text 17"/>
          <p:cNvSpPr/>
          <p:nvPr/>
        </p:nvSpPr>
        <p:spPr>
          <a:xfrm>
            <a:off x="6675120" y="3282696"/>
            <a:ext cx="411480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Popular baseline still leads</a:t>
            </a:r>
            <a:endParaRPr lang="en-US" sz="1150" dirty="0"/>
          </a:p>
        </p:txBody>
      </p:sp>
      <p:sp>
        <p:nvSpPr>
          <p:cNvPr id="20" name="Shape 18"/>
          <p:cNvSpPr/>
          <p:nvPr/>
        </p:nvSpPr>
        <p:spPr>
          <a:xfrm>
            <a:off x="713232" y="3831336"/>
            <a:ext cx="10652760" cy="512064"/>
          </a:xfrm>
          <a:prstGeom prst="rect">
            <a:avLst/>
          </a:prstGeom>
          <a:solidFill>
            <a:srgbClr val="FFF7ED"/>
          </a:solidFill>
          <a:ln w="12700">
            <a:solidFill>
              <a:srgbClr val="D9E2EF"/>
            </a:solidFill>
            <a:prstDash val="solid"/>
          </a:ln>
        </p:spPr>
      </p:sp>
      <p:sp>
        <p:nvSpPr>
          <p:cNvPr id="21" name="Text 19"/>
          <p:cNvSpPr/>
          <p:nvPr/>
        </p:nvSpPr>
        <p:spPr>
          <a:xfrm>
            <a:off x="822960" y="3941064"/>
            <a:ext cx="219456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10-dataset LODO</a:t>
            </a:r>
            <a:endParaRPr lang="en-US" sz="1150" dirty="0"/>
          </a:p>
        </p:txBody>
      </p:sp>
      <p:sp>
        <p:nvSpPr>
          <p:cNvPr id="22" name="Text 20"/>
          <p:cNvSpPr/>
          <p:nvPr/>
        </p:nvSpPr>
        <p:spPr>
          <a:xfrm>
            <a:off x="3291840" y="3941064"/>
            <a:ext cx="146304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N/A</a:t>
            </a:r>
            <a:endParaRPr lang="en-US" sz="1150" dirty="0"/>
          </a:p>
        </p:txBody>
      </p:sp>
      <p:sp>
        <p:nvSpPr>
          <p:cNvPr id="23" name="Text 21"/>
          <p:cNvSpPr/>
          <p:nvPr/>
        </p:nvSpPr>
        <p:spPr>
          <a:xfrm>
            <a:off x="5120640" y="3941064"/>
            <a:ext cx="118872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0.127 F1</a:t>
            </a:r>
            <a:endParaRPr lang="en-US" sz="1150" dirty="0"/>
          </a:p>
        </p:txBody>
      </p:sp>
      <p:sp>
        <p:nvSpPr>
          <p:cNvPr id="24" name="Text 22"/>
          <p:cNvSpPr/>
          <p:nvPr/>
        </p:nvSpPr>
        <p:spPr>
          <a:xfrm>
            <a:off x="6675120" y="3941064"/>
            <a:ext cx="4114800" cy="228600"/>
          </a:xfrm>
          <a:prstGeom prst="rect">
            <a:avLst/>
          </a:prstGeom>
          <a:noFill/>
          <a:ln/>
        </p:spPr>
        <p:txBody>
          <a:bodyPr wrap="square" lIns="0" tIns="0" rIns="0" bIns="0" rtlCol="0" anchor="ctr">
            <a:normAutofit/>
          </a:bodyPr>
          <a:lstStyle/>
          <a:p>
            <a:pPr indent="0" marL="0">
              <a:buNone/>
            </a:pPr>
            <a:r>
              <a:rPr lang="en-US" sz="1150" dirty="0">
                <a:solidFill>
                  <a:srgbClr val="16213A"/>
                </a:solidFill>
              </a:rPr>
              <a:t>Selector works, not best yet</a:t>
            </a:r>
            <a:endParaRPr lang="en-US" sz="1150" dirty="0"/>
          </a:p>
        </p:txBody>
      </p:sp>
      <p:sp>
        <p:nvSpPr>
          <p:cNvPr id="25" name="Text 23"/>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21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731520" y="2103120"/>
            <a:ext cx="8686800" cy="594360"/>
          </a:xfrm>
          <a:prstGeom prst="rect">
            <a:avLst/>
          </a:prstGeom>
          <a:noFill/>
          <a:ln/>
        </p:spPr>
        <p:txBody>
          <a:bodyPr wrap="square" lIns="0" tIns="0" rIns="0" bIns="0" rtlCol="0" anchor="ctr"/>
          <a:lstStyle/>
          <a:p>
            <a:pPr indent="0" marL="0">
              <a:buNone/>
            </a:pPr>
            <a:r>
              <a:rPr lang="en-US" sz="3800" b="1" dirty="0">
                <a:solidFill>
                  <a:srgbClr val="FFFFFF"/>
                </a:solidFill>
              </a:rPr>
              <a:t>Current Validation</a:t>
            </a:r>
            <a:endParaRPr lang="en-US" sz="3800" dirty="0"/>
          </a:p>
        </p:txBody>
      </p:sp>
      <p:sp>
        <p:nvSpPr>
          <p:cNvPr id="4" name="Text 2"/>
          <p:cNvSpPr/>
          <p:nvPr/>
        </p:nvSpPr>
        <p:spPr>
          <a:xfrm>
            <a:off x="768096" y="2880360"/>
            <a:ext cx="7589520" cy="347472"/>
          </a:xfrm>
          <a:prstGeom prst="rect">
            <a:avLst/>
          </a:prstGeom>
          <a:noFill/>
          <a:ln/>
        </p:spPr>
        <p:txBody>
          <a:bodyPr wrap="square" lIns="0" tIns="0" rIns="0" bIns="0" rtlCol="0" anchor="ctr"/>
          <a:lstStyle/>
          <a:p>
            <a:pPr indent="0" marL="0">
              <a:buNone/>
            </a:pPr>
            <a:r>
              <a:rPr lang="en-US" sz="1600" dirty="0">
                <a:solidFill>
                  <a:srgbClr val="D8E4F8"/>
                </a:solidFill>
              </a:rPr>
              <a:t>The current model includes a wider detector set and stronger validation.</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Why LODO Matters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Leave-one-dataset-out checks whether meta-selection generalizes.</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Hold out one real dataset completely</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Train selector profiles on the remaining datasets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Run AutoAD+ on the hidden dataset</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Repeat until every dataset has been held out</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Implemented Changes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current version adds stronger detector coverage and validation evidence.</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KNN-distance detector added to the candidate model set</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Train/test stability diagnostic added for overfitting checks</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Ten-dataset LODO validation used for selector evaluation</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Expanded result reporting for F1, ROC-AUC, and PR-AUC</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Current Model Ranking</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OCSVM remains the strongest average F1 baseline.</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OCSVM</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1218438" cy="310896"/>
          </a:xfrm>
          <a:prstGeom prst="rect">
            <a:avLst/>
          </a:prstGeom>
          <a:solidFill>
            <a:srgbClr val="2563EB"/>
          </a:solidFill>
          <a:ln w="12700">
            <a:solidFill>
              <a:srgbClr val="2563EB"/>
            </a:solidFill>
            <a:prstDash val="solid"/>
          </a:ln>
        </p:spPr>
      </p:sp>
      <p:sp>
        <p:nvSpPr>
          <p:cNvPr id="8" name="Text 6"/>
          <p:cNvSpPr/>
          <p:nvPr/>
        </p:nvSpPr>
        <p:spPr>
          <a:xfrm>
            <a:off x="4117086"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0.205</a:t>
            </a:r>
            <a:endParaRPr lang="en-US" sz="900" dirty="0"/>
          </a:p>
        </p:txBody>
      </p:sp>
      <p:sp>
        <p:nvSpPr>
          <p:cNvPr id="9" name="Text 7"/>
          <p:cNvSpPr/>
          <p:nvPr/>
        </p:nvSpPr>
        <p:spPr>
          <a:xfrm>
            <a:off x="960120" y="2450592"/>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Autoencoder</a:t>
            </a:r>
            <a:endParaRPr lang="en-US" sz="1050" dirty="0"/>
          </a:p>
        </p:txBody>
      </p:sp>
      <p:sp>
        <p:nvSpPr>
          <p:cNvPr id="10" name="Shape 8"/>
          <p:cNvSpPr/>
          <p:nvPr/>
        </p:nvSpPr>
        <p:spPr>
          <a:xfrm>
            <a:off x="2834640" y="2432304"/>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432304"/>
            <a:ext cx="897484" cy="310896"/>
          </a:xfrm>
          <a:prstGeom prst="rect">
            <a:avLst/>
          </a:prstGeom>
          <a:solidFill>
            <a:srgbClr val="2563EB"/>
          </a:solidFill>
          <a:ln w="12700">
            <a:solidFill>
              <a:srgbClr val="2563EB"/>
            </a:solidFill>
            <a:prstDash val="solid"/>
          </a:ln>
        </p:spPr>
      </p:sp>
      <p:sp>
        <p:nvSpPr>
          <p:cNvPr id="12" name="Text 10"/>
          <p:cNvSpPr/>
          <p:nvPr/>
        </p:nvSpPr>
        <p:spPr>
          <a:xfrm>
            <a:off x="3796132" y="2459736"/>
            <a:ext cx="640080" cy="182880"/>
          </a:xfrm>
          <a:prstGeom prst="rect">
            <a:avLst/>
          </a:prstGeom>
          <a:noFill/>
          <a:ln/>
        </p:spPr>
        <p:txBody>
          <a:bodyPr wrap="square" lIns="0" tIns="0" rIns="0" bIns="0" rtlCol="0" anchor="ctr"/>
          <a:lstStyle/>
          <a:p>
            <a:pPr indent="0" marL="0">
              <a:buNone/>
            </a:pPr>
            <a:r>
              <a:rPr lang="en-US" sz="900" dirty="0">
                <a:solidFill>
                  <a:srgbClr val="16213A"/>
                </a:solidFill>
              </a:rPr>
              <a:t>0.151</a:t>
            </a:r>
            <a:endParaRPr lang="en-US" sz="900" dirty="0"/>
          </a:p>
        </p:txBody>
      </p:sp>
      <p:sp>
        <p:nvSpPr>
          <p:cNvPr id="13" name="Text 11"/>
          <p:cNvSpPr/>
          <p:nvPr/>
        </p:nvSpPr>
        <p:spPr>
          <a:xfrm>
            <a:off x="960120" y="3054096"/>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LSTM</a:t>
            </a:r>
            <a:endParaRPr lang="en-US" sz="1050" dirty="0"/>
          </a:p>
        </p:txBody>
      </p:sp>
      <p:sp>
        <p:nvSpPr>
          <p:cNvPr id="14" name="Shape 12"/>
          <p:cNvSpPr/>
          <p:nvPr/>
        </p:nvSpPr>
        <p:spPr>
          <a:xfrm>
            <a:off x="2834640" y="3035808"/>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035808"/>
            <a:ext cx="891540" cy="310896"/>
          </a:xfrm>
          <a:prstGeom prst="rect">
            <a:avLst/>
          </a:prstGeom>
          <a:solidFill>
            <a:srgbClr val="2563EB"/>
          </a:solidFill>
          <a:ln w="12700">
            <a:solidFill>
              <a:srgbClr val="2563EB"/>
            </a:solidFill>
            <a:prstDash val="solid"/>
          </a:ln>
        </p:spPr>
      </p:sp>
      <p:sp>
        <p:nvSpPr>
          <p:cNvPr id="16" name="Text 14"/>
          <p:cNvSpPr/>
          <p:nvPr/>
        </p:nvSpPr>
        <p:spPr>
          <a:xfrm>
            <a:off x="3790188" y="3063240"/>
            <a:ext cx="640080" cy="182880"/>
          </a:xfrm>
          <a:prstGeom prst="rect">
            <a:avLst/>
          </a:prstGeom>
          <a:noFill/>
          <a:ln/>
        </p:spPr>
        <p:txBody>
          <a:bodyPr wrap="square" lIns="0" tIns="0" rIns="0" bIns="0" rtlCol="0" anchor="ctr"/>
          <a:lstStyle/>
          <a:p>
            <a:pPr indent="0" marL="0">
              <a:buNone/>
            </a:pPr>
            <a:r>
              <a:rPr lang="en-US" sz="900" dirty="0">
                <a:solidFill>
                  <a:srgbClr val="16213A"/>
                </a:solidFill>
              </a:rPr>
              <a:t>0.150</a:t>
            </a:r>
            <a:endParaRPr lang="en-US" sz="900" dirty="0"/>
          </a:p>
        </p:txBody>
      </p:sp>
      <p:sp>
        <p:nvSpPr>
          <p:cNvPr id="17" name="Text 15"/>
          <p:cNvSpPr/>
          <p:nvPr/>
        </p:nvSpPr>
        <p:spPr>
          <a:xfrm>
            <a:off x="960120" y="3657600"/>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 ensemble</a:t>
            </a:r>
            <a:endParaRPr lang="en-US" sz="1050" dirty="0"/>
          </a:p>
        </p:txBody>
      </p:sp>
      <p:sp>
        <p:nvSpPr>
          <p:cNvPr id="18" name="Shape 16"/>
          <p:cNvSpPr/>
          <p:nvPr/>
        </p:nvSpPr>
        <p:spPr>
          <a:xfrm>
            <a:off x="2834640" y="3639312"/>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3639312"/>
            <a:ext cx="760781" cy="310896"/>
          </a:xfrm>
          <a:prstGeom prst="rect">
            <a:avLst/>
          </a:prstGeom>
          <a:solidFill>
            <a:srgbClr val="2563EB"/>
          </a:solidFill>
          <a:ln w="12700">
            <a:solidFill>
              <a:srgbClr val="2563EB"/>
            </a:solidFill>
            <a:prstDash val="solid"/>
          </a:ln>
        </p:spPr>
      </p:sp>
      <p:sp>
        <p:nvSpPr>
          <p:cNvPr id="20" name="Text 18"/>
          <p:cNvSpPr/>
          <p:nvPr/>
        </p:nvSpPr>
        <p:spPr>
          <a:xfrm>
            <a:off x="3659429" y="3666744"/>
            <a:ext cx="640080" cy="182880"/>
          </a:xfrm>
          <a:prstGeom prst="rect">
            <a:avLst/>
          </a:prstGeom>
          <a:noFill/>
          <a:ln/>
        </p:spPr>
        <p:txBody>
          <a:bodyPr wrap="square" lIns="0" tIns="0" rIns="0" bIns="0" rtlCol="0" anchor="ctr"/>
          <a:lstStyle/>
          <a:p>
            <a:pPr indent="0" marL="0">
              <a:buNone/>
            </a:pPr>
            <a:r>
              <a:rPr lang="en-US" sz="900" dirty="0">
                <a:solidFill>
                  <a:srgbClr val="16213A"/>
                </a:solidFill>
              </a:rPr>
              <a:t>0.128</a:t>
            </a:r>
            <a:endParaRPr lang="en-US" sz="900" dirty="0"/>
          </a:p>
        </p:txBody>
      </p:sp>
      <p:sp>
        <p:nvSpPr>
          <p:cNvPr id="21" name="Text 19"/>
          <p:cNvSpPr/>
          <p:nvPr/>
        </p:nvSpPr>
        <p:spPr>
          <a:xfrm>
            <a:off x="960120" y="4261104"/>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KNN distance</a:t>
            </a:r>
            <a:endParaRPr lang="en-US" sz="1050" dirty="0"/>
          </a:p>
        </p:txBody>
      </p:sp>
      <p:sp>
        <p:nvSpPr>
          <p:cNvPr id="22" name="Shape 20"/>
          <p:cNvSpPr/>
          <p:nvPr/>
        </p:nvSpPr>
        <p:spPr>
          <a:xfrm>
            <a:off x="2834640" y="4242816"/>
            <a:ext cx="5669280" cy="310896"/>
          </a:xfrm>
          <a:prstGeom prst="rect">
            <a:avLst/>
          </a:prstGeom>
          <a:solidFill>
            <a:srgbClr val="F4F7FB"/>
          </a:solidFill>
          <a:ln w="12700">
            <a:solidFill>
              <a:srgbClr val="D9E2EF"/>
            </a:solidFill>
            <a:prstDash val="solid"/>
          </a:ln>
        </p:spPr>
      </p:sp>
      <p:sp>
        <p:nvSpPr>
          <p:cNvPr id="23" name="Shape 21"/>
          <p:cNvSpPr/>
          <p:nvPr/>
        </p:nvSpPr>
        <p:spPr>
          <a:xfrm>
            <a:off x="2834640" y="4242816"/>
            <a:ext cx="641909" cy="310896"/>
          </a:xfrm>
          <a:prstGeom prst="rect">
            <a:avLst/>
          </a:prstGeom>
          <a:solidFill>
            <a:srgbClr val="2563EB"/>
          </a:solidFill>
          <a:ln w="12700">
            <a:solidFill>
              <a:srgbClr val="2563EB"/>
            </a:solidFill>
            <a:prstDash val="solid"/>
          </a:ln>
        </p:spPr>
      </p:sp>
      <p:sp>
        <p:nvSpPr>
          <p:cNvPr id="24" name="Text 22"/>
          <p:cNvSpPr/>
          <p:nvPr/>
        </p:nvSpPr>
        <p:spPr>
          <a:xfrm>
            <a:off x="3540557" y="4270248"/>
            <a:ext cx="640080" cy="182880"/>
          </a:xfrm>
          <a:prstGeom prst="rect">
            <a:avLst/>
          </a:prstGeom>
          <a:noFill/>
          <a:ln/>
        </p:spPr>
        <p:txBody>
          <a:bodyPr wrap="square" lIns="0" tIns="0" rIns="0" bIns="0" rtlCol="0" anchor="ctr"/>
          <a:lstStyle/>
          <a:p>
            <a:pPr indent="0" marL="0">
              <a:buNone/>
            </a:pPr>
            <a:r>
              <a:rPr lang="en-US" sz="900" dirty="0">
                <a:solidFill>
                  <a:srgbClr val="16213A"/>
                </a:solidFill>
              </a:rPr>
              <a:t>0.108</a:t>
            </a:r>
            <a:endParaRPr lang="en-US" sz="900" dirty="0"/>
          </a:p>
        </p:txBody>
      </p:sp>
      <p:sp>
        <p:nvSpPr>
          <p:cNvPr id="25" name="Text 23"/>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F1 across ten real datasets</a:t>
            </a:r>
            <a:endParaRPr lang="en-US" sz="1000" dirty="0"/>
          </a:p>
        </p:txBody>
      </p:sp>
      <p:sp>
        <p:nvSpPr>
          <p:cNvPr id="26" name="Text 24"/>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Overfitting Diagnostic</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current evaluation includes a train/test stability check.</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Annthyroid 500-row stratified diagnostic</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Train F1 mean: 0.505</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Test F1 mean: 0.471</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Mean gap: 0.034, no strong overfitting signal</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Updated Real F1 Comparison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learned selector reaches 0.127 F1 on 10-dataset LODO.</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LODO selector</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754837" cy="310896"/>
          </a:xfrm>
          <a:prstGeom prst="rect">
            <a:avLst/>
          </a:prstGeom>
          <a:solidFill>
            <a:srgbClr val="D97706"/>
          </a:solidFill>
          <a:ln w="12700">
            <a:solidFill>
              <a:srgbClr val="D97706"/>
            </a:solidFill>
            <a:prstDash val="solid"/>
          </a:ln>
        </p:spPr>
      </p:sp>
      <p:sp>
        <p:nvSpPr>
          <p:cNvPr id="8" name="Text 6"/>
          <p:cNvSpPr/>
          <p:nvPr/>
        </p:nvSpPr>
        <p:spPr>
          <a:xfrm>
            <a:off x="3653485"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0.127</a:t>
            </a:r>
            <a:endParaRPr lang="en-US" sz="900" dirty="0"/>
          </a:p>
        </p:txBody>
      </p:sp>
      <p:sp>
        <p:nvSpPr>
          <p:cNvPr id="9" name="Text 7"/>
          <p:cNvSpPr/>
          <p:nvPr/>
        </p:nvSpPr>
        <p:spPr>
          <a:xfrm>
            <a:off x="960120" y="2450592"/>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 ensemble</a:t>
            </a:r>
            <a:endParaRPr lang="en-US" sz="1050" dirty="0"/>
          </a:p>
        </p:txBody>
      </p:sp>
      <p:sp>
        <p:nvSpPr>
          <p:cNvPr id="10" name="Shape 8"/>
          <p:cNvSpPr/>
          <p:nvPr/>
        </p:nvSpPr>
        <p:spPr>
          <a:xfrm>
            <a:off x="2834640" y="2432304"/>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432304"/>
            <a:ext cx="760781" cy="310896"/>
          </a:xfrm>
          <a:prstGeom prst="rect">
            <a:avLst/>
          </a:prstGeom>
          <a:solidFill>
            <a:srgbClr val="D97706"/>
          </a:solidFill>
          <a:ln w="12700">
            <a:solidFill>
              <a:srgbClr val="D97706"/>
            </a:solidFill>
            <a:prstDash val="solid"/>
          </a:ln>
        </p:spPr>
      </p:sp>
      <p:sp>
        <p:nvSpPr>
          <p:cNvPr id="12" name="Text 10"/>
          <p:cNvSpPr/>
          <p:nvPr/>
        </p:nvSpPr>
        <p:spPr>
          <a:xfrm>
            <a:off x="3659429" y="2459736"/>
            <a:ext cx="640080" cy="182880"/>
          </a:xfrm>
          <a:prstGeom prst="rect">
            <a:avLst/>
          </a:prstGeom>
          <a:noFill/>
          <a:ln/>
        </p:spPr>
        <p:txBody>
          <a:bodyPr wrap="square" lIns="0" tIns="0" rIns="0" bIns="0" rtlCol="0" anchor="ctr"/>
          <a:lstStyle/>
          <a:p>
            <a:pPr indent="0" marL="0">
              <a:buNone/>
            </a:pPr>
            <a:r>
              <a:rPr lang="en-US" sz="900" dirty="0">
                <a:solidFill>
                  <a:srgbClr val="16213A"/>
                </a:solidFill>
              </a:rPr>
              <a:t>0.128</a:t>
            </a:r>
            <a:endParaRPr lang="en-US" sz="900" dirty="0"/>
          </a:p>
        </p:txBody>
      </p:sp>
      <p:sp>
        <p:nvSpPr>
          <p:cNvPr id="13" name="Text 11"/>
          <p:cNvSpPr/>
          <p:nvPr/>
        </p:nvSpPr>
        <p:spPr>
          <a:xfrm>
            <a:off x="960120" y="3054096"/>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OCSVM baseline</a:t>
            </a:r>
            <a:endParaRPr lang="en-US" sz="1050" dirty="0"/>
          </a:p>
        </p:txBody>
      </p:sp>
      <p:sp>
        <p:nvSpPr>
          <p:cNvPr id="14" name="Shape 12"/>
          <p:cNvSpPr/>
          <p:nvPr/>
        </p:nvSpPr>
        <p:spPr>
          <a:xfrm>
            <a:off x="2834640" y="3035808"/>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035808"/>
            <a:ext cx="1218438" cy="310896"/>
          </a:xfrm>
          <a:prstGeom prst="rect">
            <a:avLst/>
          </a:prstGeom>
          <a:solidFill>
            <a:srgbClr val="D97706"/>
          </a:solidFill>
          <a:ln w="12700">
            <a:solidFill>
              <a:srgbClr val="D97706"/>
            </a:solidFill>
            <a:prstDash val="solid"/>
          </a:ln>
        </p:spPr>
      </p:sp>
      <p:sp>
        <p:nvSpPr>
          <p:cNvPr id="16" name="Text 14"/>
          <p:cNvSpPr/>
          <p:nvPr/>
        </p:nvSpPr>
        <p:spPr>
          <a:xfrm>
            <a:off x="4117086" y="3063240"/>
            <a:ext cx="640080" cy="182880"/>
          </a:xfrm>
          <a:prstGeom prst="rect">
            <a:avLst/>
          </a:prstGeom>
          <a:noFill/>
          <a:ln/>
        </p:spPr>
        <p:txBody>
          <a:bodyPr wrap="square" lIns="0" tIns="0" rIns="0" bIns="0" rtlCol="0" anchor="ctr"/>
          <a:lstStyle/>
          <a:p>
            <a:pPr indent="0" marL="0">
              <a:buNone/>
            </a:pPr>
            <a:r>
              <a:rPr lang="en-US" sz="900" dirty="0">
                <a:solidFill>
                  <a:srgbClr val="16213A"/>
                </a:solidFill>
              </a:rPr>
              <a:t>0.205</a:t>
            </a:r>
            <a:endParaRPr lang="en-US" sz="900" dirty="0"/>
          </a:p>
        </p:txBody>
      </p:sp>
      <p:sp>
        <p:nvSpPr>
          <p:cNvPr id="17" name="Text 15"/>
          <p:cNvSpPr/>
          <p:nvPr/>
        </p:nvSpPr>
        <p:spPr>
          <a:xfrm>
            <a:off x="960120" y="3657600"/>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Autoencoder</a:t>
            </a:r>
            <a:endParaRPr lang="en-US" sz="1050" dirty="0"/>
          </a:p>
        </p:txBody>
      </p:sp>
      <p:sp>
        <p:nvSpPr>
          <p:cNvPr id="18" name="Shape 16"/>
          <p:cNvSpPr/>
          <p:nvPr/>
        </p:nvSpPr>
        <p:spPr>
          <a:xfrm>
            <a:off x="2834640" y="3639312"/>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3639312"/>
            <a:ext cx="897484" cy="310896"/>
          </a:xfrm>
          <a:prstGeom prst="rect">
            <a:avLst/>
          </a:prstGeom>
          <a:solidFill>
            <a:srgbClr val="D97706"/>
          </a:solidFill>
          <a:ln w="12700">
            <a:solidFill>
              <a:srgbClr val="D97706"/>
            </a:solidFill>
            <a:prstDash val="solid"/>
          </a:ln>
        </p:spPr>
      </p:sp>
      <p:sp>
        <p:nvSpPr>
          <p:cNvPr id="20" name="Text 18"/>
          <p:cNvSpPr/>
          <p:nvPr/>
        </p:nvSpPr>
        <p:spPr>
          <a:xfrm>
            <a:off x="3796132" y="3666744"/>
            <a:ext cx="640080" cy="182880"/>
          </a:xfrm>
          <a:prstGeom prst="rect">
            <a:avLst/>
          </a:prstGeom>
          <a:noFill/>
          <a:ln/>
        </p:spPr>
        <p:txBody>
          <a:bodyPr wrap="square" lIns="0" tIns="0" rIns="0" bIns="0" rtlCol="0" anchor="ctr"/>
          <a:lstStyle/>
          <a:p>
            <a:pPr indent="0" marL="0">
              <a:buNone/>
            </a:pPr>
            <a:r>
              <a:rPr lang="en-US" sz="900" dirty="0">
                <a:solidFill>
                  <a:srgbClr val="16213A"/>
                </a:solidFill>
              </a:rPr>
              <a:t>0.151</a:t>
            </a:r>
            <a:endParaRPr lang="en-US" sz="900" dirty="0"/>
          </a:p>
        </p:txBody>
      </p:sp>
      <p:sp>
        <p:nvSpPr>
          <p:cNvPr id="21" name="Text 19"/>
          <p:cNvSpPr/>
          <p:nvPr/>
        </p:nvSpPr>
        <p:spPr>
          <a:xfrm>
            <a:off x="960120" y="4261104"/>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LSTM</a:t>
            </a:r>
            <a:endParaRPr lang="en-US" sz="1050" dirty="0"/>
          </a:p>
        </p:txBody>
      </p:sp>
      <p:sp>
        <p:nvSpPr>
          <p:cNvPr id="22" name="Shape 20"/>
          <p:cNvSpPr/>
          <p:nvPr/>
        </p:nvSpPr>
        <p:spPr>
          <a:xfrm>
            <a:off x="2834640" y="4242816"/>
            <a:ext cx="5669280" cy="310896"/>
          </a:xfrm>
          <a:prstGeom prst="rect">
            <a:avLst/>
          </a:prstGeom>
          <a:solidFill>
            <a:srgbClr val="F4F7FB"/>
          </a:solidFill>
          <a:ln w="12700">
            <a:solidFill>
              <a:srgbClr val="D9E2EF"/>
            </a:solidFill>
            <a:prstDash val="solid"/>
          </a:ln>
        </p:spPr>
      </p:sp>
      <p:sp>
        <p:nvSpPr>
          <p:cNvPr id="23" name="Shape 21"/>
          <p:cNvSpPr/>
          <p:nvPr/>
        </p:nvSpPr>
        <p:spPr>
          <a:xfrm>
            <a:off x="2834640" y="4242816"/>
            <a:ext cx="891540" cy="310896"/>
          </a:xfrm>
          <a:prstGeom prst="rect">
            <a:avLst/>
          </a:prstGeom>
          <a:solidFill>
            <a:srgbClr val="D97706"/>
          </a:solidFill>
          <a:ln w="12700">
            <a:solidFill>
              <a:srgbClr val="D97706"/>
            </a:solidFill>
            <a:prstDash val="solid"/>
          </a:ln>
        </p:spPr>
      </p:sp>
      <p:sp>
        <p:nvSpPr>
          <p:cNvPr id="24" name="Text 22"/>
          <p:cNvSpPr/>
          <p:nvPr/>
        </p:nvSpPr>
        <p:spPr>
          <a:xfrm>
            <a:off x="3790188" y="4270248"/>
            <a:ext cx="640080" cy="182880"/>
          </a:xfrm>
          <a:prstGeom prst="rect">
            <a:avLst/>
          </a:prstGeom>
          <a:noFill/>
          <a:ln/>
        </p:spPr>
        <p:txBody>
          <a:bodyPr wrap="square" lIns="0" tIns="0" rIns="0" bIns="0" rtlCol="0" anchor="ctr"/>
          <a:lstStyle/>
          <a:p>
            <a:pPr indent="0" marL="0">
              <a:buNone/>
            </a:pPr>
            <a:r>
              <a:rPr lang="en-US" sz="900" dirty="0">
                <a:solidFill>
                  <a:srgbClr val="16213A"/>
                </a:solidFill>
              </a:rPr>
              <a:t>0.150</a:t>
            </a:r>
            <a:endParaRPr lang="en-US" sz="900" dirty="0"/>
          </a:p>
        </p:txBody>
      </p:sp>
      <p:sp>
        <p:nvSpPr>
          <p:cNvPr id="25" name="Text 23"/>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F1 across ten real datasets</a:t>
            </a:r>
            <a:endParaRPr lang="en-US" sz="1000" dirty="0"/>
          </a:p>
        </p:txBody>
      </p:sp>
      <p:sp>
        <p:nvSpPr>
          <p:cNvPr id="26" name="Text 24"/>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Updated Real ROC-AUC</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learned selector has weaker ranking quality than the strongest baselines.</a:t>
            </a:r>
            <a:endParaRPr lang="en-US" sz="1600" dirty="0"/>
          </a:p>
        </p:txBody>
      </p:sp>
      <p:sp>
        <p:nvSpPr>
          <p:cNvPr id="5" name="Text 3"/>
          <p:cNvSpPr/>
          <p:nvPr/>
        </p:nvSpPr>
        <p:spPr>
          <a:xfrm>
            <a:off x="960120" y="184708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LODO selector</a:t>
            </a:r>
            <a:endParaRPr lang="en-US" sz="1050" dirty="0"/>
          </a:p>
        </p:txBody>
      </p:sp>
      <p:sp>
        <p:nvSpPr>
          <p:cNvPr id="6" name="Shape 4"/>
          <p:cNvSpPr/>
          <p:nvPr/>
        </p:nvSpPr>
        <p:spPr>
          <a:xfrm>
            <a:off x="2834640" y="1828800"/>
            <a:ext cx="5669280" cy="310896"/>
          </a:xfrm>
          <a:prstGeom prst="rect">
            <a:avLst/>
          </a:prstGeom>
          <a:solidFill>
            <a:srgbClr val="F4F7FB"/>
          </a:solidFill>
          <a:ln w="12700">
            <a:solidFill>
              <a:srgbClr val="D9E2EF"/>
            </a:solidFill>
            <a:prstDash val="solid"/>
          </a:ln>
        </p:spPr>
      </p:sp>
      <p:sp>
        <p:nvSpPr>
          <p:cNvPr id="7" name="Shape 5"/>
          <p:cNvSpPr/>
          <p:nvPr/>
        </p:nvSpPr>
        <p:spPr>
          <a:xfrm>
            <a:off x="2834640" y="1828800"/>
            <a:ext cx="3405683" cy="310896"/>
          </a:xfrm>
          <a:prstGeom prst="rect">
            <a:avLst/>
          </a:prstGeom>
          <a:solidFill>
            <a:srgbClr val="D97706"/>
          </a:solidFill>
          <a:ln w="12700">
            <a:solidFill>
              <a:srgbClr val="D97706"/>
            </a:solidFill>
            <a:prstDash val="solid"/>
          </a:ln>
        </p:spPr>
      </p:sp>
      <p:sp>
        <p:nvSpPr>
          <p:cNvPr id="8" name="Text 6"/>
          <p:cNvSpPr/>
          <p:nvPr/>
        </p:nvSpPr>
        <p:spPr>
          <a:xfrm>
            <a:off x="6304331" y="1856232"/>
            <a:ext cx="640080" cy="182880"/>
          </a:xfrm>
          <a:prstGeom prst="rect">
            <a:avLst/>
          </a:prstGeom>
          <a:noFill/>
          <a:ln/>
        </p:spPr>
        <p:txBody>
          <a:bodyPr wrap="square" lIns="0" tIns="0" rIns="0" bIns="0" rtlCol="0" anchor="ctr"/>
          <a:lstStyle/>
          <a:p>
            <a:pPr indent="0" marL="0">
              <a:buNone/>
            </a:pPr>
            <a:r>
              <a:rPr lang="en-US" sz="900" dirty="0">
                <a:solidFill>
                  <a:srgbClr val="16213A"/>
                </a:solidFill>
              </a:rPr>
              <a:t>0.573</a:t>
            </a:r>
            <a:endParaRPr lang="en-US" sz="900" dirty="0"/>
          </a:p>
        </p:txBody>
      </p:sp>
      <p:sp>
        <p:nvSpPr>
          <p:cNvPr id="9" name="Text 7"/>
          <p:cNvSpPr/>
          <p:nvPr/>
        </p:nvSpPr>
        <p:spPr>
          <a:xfrm>
            <a:off x="960120" y="2450592"/>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AutoAD ensemble</a:t>
            </a:r>
            <a:endParaRPr lang="en-US" sz="1050" dirty="0"/>
          </a:p>
        </p:txBody>
      </p:sp>
      <p:sp>
        <p:nvSpPr>
          <p:cNvPr id="10" name="Shape 8"/>
          <p:cNvSpPr/>
          <p:nvPr/>
        </p:nvSpPr>
        <p:spPr>
          <a:xfrm>
            <a:off x="2834640" y="2432304"/>
            <a:ext cx="5669280" cy="310896"/>
          </a:xfrm>
          <a:prstGeom prst="rect">
            <a:avLst/>
          </a:prstGeom>
          <a:solidFill>
            <a:srgbClr val="F4F7FB"/>
          </a:solidFill>
          <a:ln w="12700">
            <a:solidFill>
              <a:srgbClr val="D9E2EF"/>
            </a:solidFill>
            <a:prstDash val="solid"/>
          </a:ln>
        </p:spPr>
      </p:sp>
      <p:sp>
        <p:nvSpPr>
          <p:cNvPr id="11" name="Shape 9"/>
          <p:cNvSpPr/>
          <p:nvPr/>
        </p:nvSpPr>
        <p:spPr>
          <a:xfrm>
            <a:off x="2834640" y="2432304"/>
            <a:ext cx="3976268" cy="310896"/>
          </a:xfrm>
          <a:prstGeom prst="rect">
            <a:avLst/>
          </a:prstGeom>
          <a:solidFill>
            <a:srgbClr val="D97706"/>
          </a:solidFill>
          <a:ln w="12700">
            <a:solidFill>
              <a:srgbClr val="D97706"/>
            </a:solidFill>
            <a:prstDash val="solid"/>
          </a:ln>
        </p:spPr>
      </p:sp>
      <p:sp>
        <p:nvSpPr>
          <p:cNvPr id="12" name="Text 10"/>
          <p:cNvSpPr/>
          <p:nvPr/>
        </p:nvSpPr>
        <p:spPr>
          <a:xfrm>
            <a:off x="6874916" y="2459736"/>
            <a:ext cx="640080" cy="182880"/>
          </a:xfrm>
          <a:prstGeom prst="rect">
            <a:avLst/>
          </a:prstGeom>
          <a:noFill/>
          <a:ln/>
        </p:spPr>
        <p:txBody>
          <a:bodyPr wrap="square" lIns="0" tIns="0" rIns="0" bIns="0" rtlCol="0" anchor="ctr"/>
          <a:lstStyle/>
          <a:p>
            <a:pPr indent="0" marL="0">
              <a:buNone/>
            </a:pPr>
            <a:r>
              <a:rPr lang="en-US" sz="900" dirty="0">
                <a:solidFill>
                  <a:srgbClr val="16213A"/>
                </a:solidFill>
              </a:rPr>
              <a:t>0.669</a:t>
            </a:r>
            <a:endParaRPr lang="en-US" sz="900" dirty="0"/>
          </a:p>
        </p:txBody>
      </p:sp>
      <p:sp>
        <p:nvSpPr>
          <p:cNvPr id="13" name="Text 11"/>
          <p:cNvSpPr/>
          <p:nvPr/>
        </p:nvSpPr>
        <p:spPr>
          <a:xfrm>
            <a:off x="960120" y="3054096"/>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OCSVM baseline</a:t>
            </a:r>
            <a:endParaRPr lang="en-US" sz="1050" dirty="0"/>
          </a:p>
        </p:txBody>
      </p:sp>
      <p:sp>
        <p:nvSpPr>
          <p:cNvPr id="14" name="Shape 12"/>
          <p:cNvSpPr/>
          <p:nvPr/>
        </p:nvSpPr>
        <p:spPr>
          <a:xfrm>
            <a:off x="2834640" y="3035808"/>
            <a:ext cx="5669280" cy="310896"/>
          </a:xfrm>
          <a:prstGeom prst="rect">
            <a:avLst/>
          </a:prstGeom>
          <a:solidFill>
            <a:srgbClr val="F4F7FB"/>
          </a:solidFill>
          <a:ln w="12700">
            <a:solidFill>
              <a:srgbClr val="D9E2EF"/>
            </a:solidFill>
            <a:prstDash val="solid"/>
          </a:ln>
        </p:spPr>
      </p:sp>
      <p:sp>
        <p:nvSpPr>
          <p:cNvPr id="15" name="Shape 13"/>
          <p:cNvSpPr/>
          <p:nvPr/>
        </p:nvSpPr>
        <p:spPr>
          <a:xfrm>
            <a:off x="2834640" y="3035808"/>
            <a:ext cx="4059479" cy="310896"/>
          </a:xfrm>
          <a:prstGeom prst="rect">
            <a:avLst/>
          </a:prstGeom>
          <a:solidFill>
            <a:srgbClr val="D97706"/>
          </a:solidFill>
          <a:ln w="12700">
            <a:solidFill>
              <a:srgbClr val="D97706"/>
            </a:solidFill>
            <a:prstDash val="solid"/>
          </a:ln>
        </p:spPr>
      </p:sp>
      <p:sp>
        <p:nvSpPr>
          <p:cNvPr id="16" name="Text 14"/>
          <p:cNvSpPr/>
          <p:nvPr/>
        </p:nvSpPr>
        <p:spPr>
          <a:xfrm>
            <a:off x="6958127" y="3063240"/>
            <a:ext cx="640080" cy="182880"/>
          </a:xfrm>
          <a:prstGeom prst="rect">
            <a:avLst/>
          </a:prstGeom>
          <a:noFill/>
          <a:ln/>
        </p:spPr>
        <p:txBody>
          <a:bodyPr wrap="square" lIns="0" tIns="0" rIns="0" bIns="0" rtlCol="0" anchor="ctr"/>
          <a:lstStyle/>
          <a:p>
            <a:pPr indent="0" marL="0">
              <a:buNone/>
            </a:pPr>
            <a:r>
              <a:rPr lang="en-US" sz="900" dirty="0">
                <a:solidFill>
                  <a:srgbClr val="16213A"/>
                </a:solidFill>
              </a:rPr>
              <a:t>0.683</a:t>
            </a:r>
            <a:endParaRPr lang="en-US" sz="900" dirty="0"/>
          </a:p>
        </p:txBody>
      </p:sp>
      <p:sp>
        <p:nvSpPr>
          <p:cNvPr id="17" name="Text 15"/>
          <p:cNvSpPr/>
          <p:nvPr/>
        </p:nvSpPr>
        <p:spPr>
          <a:xfrm>
            <a:off x="960120" y="3657600"/>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Autoencoder</a:t>
            </a:r>
            <a:endParaRPr lang="en-US" sz="1050" dirty="0"/>
          </a:p>
        </p:txBody>
      </p:sp>
      <p:sp>
        <p:nvSpPr>
          <p:cNvPr id="18" name="Shape 16"/>
          <p:cNvSpPr/>
          <p:nvPr/>
        </p:nvSpPr>
        <p:spPr>
          <a:xfrm>
            <a:off x="2834640" y="3639312"/>
            <a:ext cx="5669280" cy="310896"/>
          </a:xfrm>
          <a:prstGeom prst="rect">
            <a:avLst/>
          </a:prstGeom>
          <a:solidFill>
            <a:srgbClr val="F4F7FB"/>
          </a:solidFill>
          <a:ln w="12700">
            <a:solidFill>
              <a:srgbClr val="D9E2EF"/>
            </a:solidFill>
            <a:prstDash val="solid"/>
          </a:ln>
        </p:spPr>
      </p:sp>
      <p:sp>
        <p:nvSpPr>
          <p:cNvPr id="19" name="Shape 17"/>
          <p:cNvSpPr/>
          <p:nvPr/>
        </p:nvSpPr>
        <p:spPr>
          <a:xfrm>
            <a:off x="2834640" y="3639312"/>
            <a:ext cx="4166464" cy="310896"/>
          </a:xfrm>
          <a:prstGeom prst="rect">
            <a:avLst/>
          </a:prstGeom>
          <a:solidFill>
            <a:srgbClr val="D97706"/>
          </a:solidFill>
          <a:ln w="12700">
            <a:solidFill>
              <a:srgbClr val="D97706"/>
            </a:solidFill>
            <a:prstDash val="solid"/>
          </a:ln>
        </p:spPr>
      </p:sp>
      <p:sp>
        <p:nvSpPr>
          <p:cNvPr id="20" name="Text 18"/>
          <p:cNvSpPr/>
          <p:nvPr/>
        </p:nvSpPr>
        <p:spPr>
          <a:xfrm>
            <a:off x="7065112" y="3666744"/>
            <a:ext cx="640080" cy="182880"/>
          </a:xfrm>
          <a:prstGeom prst="rect">
            <a:avLst/>
          </a:prstGeom>
          <a:noFill/>
          <a:ln/>
        </p:spPr>
        <p:txBody>
          <a:bodyPr wrap="square" lIns="0" tIns="0" rIns="0" bIns="0" rtlCol="0" anchor="ctr"/>
          <a:lstStyle/>
          <a:p>
            <a:pPr indent="0" marL="0">
              <a:buNone/>
            </a:pPr>
            <a:r>
              <a:rPr lang="en-US" sz="900" dirty="0">
                <a:solidFill>
                  <a:srgbClr val="16213A"/>
                </a:solidFill>
              </a:rPr>
              <a:t>0.701</a:t>
            </a:r>
            <a:endParaRPr lang="en-US" sz="900" dirty="0"/>
          </a:p>
        </p:txBody>
      </p:sp>
      <p:sp>
        <p:nvSpPr>
          <p:cNvPr id="21" name="Text 19"/>
          <p:cNvSpPr/>
          <p:nvPr/>
        </p:nvSpPr>
        <p:spPr>
          <a:xfrm>
            <a:off x="960120" y="4261104"/>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LSTM</a:t>
            </a:r>
            <a:endParaRPr lang="en-US" sz="1050" dirty="0"/>
          </a:p>
        </p:txBody>
      </p:sp>
      <p:sp>
        <p:nvSpPr>
          <p:cNvPr id="22" name="Shape 20"/>
          <p:cNvSpPr/>
          <p:nvPr/>
        </p:nvSpPr>
        <p:spPr>
          <a:xfrm>
            <a:off x="2834640" y="4242816"/>
            <a:ext cx="5669280" cy="310896"/>
          </a:xfrm>
          <a:prstGeom prst="rect">
            <a:avLst/>
          </a:prstGeom>
          <a:solidFill>
            <a:srgbClr val="F4F7FB"/>
          </a:solidFill>
          <a:ln w="12700">
            <a:solidFill>
              <a:srgbClr val="D9E2EF"/>
            </a:solidFill>
            <a:prstDash val="solid"/>
          </a:ln>
        </p:spPr>
      </p:sp>
      <p:sp>
        <p:nvSpPr>
          <p:cNvPr id="23" name="Shape 21"/>
          <p:cNvSpPr/>
          <p:nvPr/>
        </p:nvSpPr>
        <p:spPr>
          <a:xfrm>
            <a:off x="2834640" y="4242816"/>
            <a:ext cx="4368546" cy="310896"/>
          </a:xfrm>
          <a:prstGeom prst="rect">
            <a:avLst/>
          </a:prstGeom>
          <a:solidFill>
            <a:srgbClr val="D97706"/>
          </a:solidFill>
          <a:ln w="12700">
            <a:solidFill>
              <a:srgbClr val="D97706"/>
            </a:solidFill>
            <a:prstDash val="solid"/>
          </a:ln>
        </p:spPr>
      </p:sp>
      <p:sp>
        <p:nvSpPr>
          <p:cNvPr id="24" name="Text 22"/>
          <p:cNvSpPr/>
          <p:nvPr/>
        </p:nvSpPr>
        <p:spPr>
          <a:xfrm>
            <a:off x="7267194" y="4270248"/>
            <a:ext cx="640080" cy="182880"/>
          </a:xfrm>
          <a:prstGeom prst="rect">
            <a:avLst/>
          </a:prstGeom>
          <a:noFill/>
          <a:ln/>
        </p:spPr>
        <p:txBody>
          <a:bodyPr wrap="square" lIns="0" tIns="0" rIns="0" bIns="0" rtlCol="0" anchor="ctr"/>
          <a:lstStyle/>
          <a:p>
            <a:pPr indent="0" marL="0">
              <a:buNone/>
            </a:pPr>
            <a:r>
              <a:rPr lang="en-US" sz="900" dirty="0">
                <a:solidFill>
                  <a:srgbClr val="16213A"/>
                </a:solidFill>
              </a:rPr>
              <a:t>0.735</a:t>
            </a:r>
            <a:endParaRPr lang="en-US" sz="900" dirty="0"/>
          </a:p>
        </p:txBody>
      </p:sp>
      <p:sp>
        <p:nvSpPr>
          <p:cNvPr id="25" name="Text 23"/>
          <p:cNvSpPr/>
          <p:nvPr/>
        </p:nvSpPr>
        <p:spPr>
          <a:xfrm>
            <a:off x="960120" y="5212080"/>
            <a:ext cx="4937760" cy="228600"/>
          </a:xfrm>
          <a:prstGeom prst="rect">
            <a:avLst/>
          </a:prstGeom>
          <a:noFill/>
          <a:ln/>
        </p:spPr>
        <p:txBody>
          <a:bodyPr wrap="square" lIns="0" tIns="0" rIns="0" bIns="0" rtlCol="0" anchor="ctr"/>
          <a:lstStyle/>
          <a:p>
            <a:pPr indent="0" marL="0">
              <a:buNone/>
            </a:pPr>
            <a:r>
              <a:rPr lang="en-US" sz="1000" dirty="0">
                <a:solidFill>
                  <a:srgbClr val="5E6B7A"/>
                </a:solidFill>
              </a:rPr>
              <a:t>Average ROC-AUC across ten real datasets</a:t>
            </a:r>
            <a:endParaRPr lang="en-US" sz="1000" dirty="0"/>
          </a:p>
        </p:txBody>
      </p:sp>
      <p:sp>
        <p:nvSpPr>
          <p:cNvPr id="26" name="Text 24"/>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LODO Learned Selector Detail</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selector often matched the held-out dataset to the wrong training profile.</a:t>
            </a:r>
            <a:endParaRPr lang="en-US" sz="1600" dirty="0"/>
          </a:p>
        </p:txBody>
      </p:sp>
      <p:sp>
        <p:nvSpPr>
          <p:cNvPr id="5" name="Shape 3"/>
          <p:cNvSpPr/>
          <p:nvPr/>
        </p:nvSpPr>
        <p:spPr>
          <a:xfrm>
            <a:off x="566928" y="1627632"/>
            <a:ext cx="9098280" cy="502920"/>
          </a:xfrm>
          <a:prstGeom prst="rect">
            <a:avLst/>
          </a:prstGeom>
          <a:solidFill>
            <a:srgbClr val="16213A"/>
          </a:solidFill>
          <a:ln w="12700">
            <a:solidFill>
              <a:srgbClr val="16213A"/>
            </a:solidFill>
            <a:prstDash val="solid"/>
          </a:ln>
        </p:spPr>
      </p:sp>
      <p:sp>
        <p:nvSpPr>
          <p:cNvPr id="6" name="Text 4"/>
          <p:cNvSpPr/>
          <p:nvPr/>
        </p:nvSpPr>
        <p:spPr>
          <a:xfrm>
            <a:off x="685800" y="1783080"/>
            <a:ext cx="1691640" cy="219456"/>
          </a:xfrm>
          <a:prstGeom prst="rect">
            <a:avLst/>
          </a:prstGeom>
          <a:noFill/>
          <a:ln/>
        </p:spPr>
        <p:txBody>
          <a:bodyPr wrap="square" lIns="0" tIns="0" rIns="0" bIns="0" rtlCol="0" anchor="ctr">
            <a:normAutofit/>
          </a:bodyPr>
          <a:lstStyle/>
          <a:p>
            <a:pPr indent="0" marL="0">
              <a:buNone/>
            </a:pPr>
            <a:r>
              <a:rPr lang="en-US" sz="1050" b="1" dirty="0">
                <a:solidFill>
                  <a:srgbClr val="FFFFFF"/>
                </a:solidFill>
              </a:rPr>
              <a:t>Held-out</a:t>
            </a:r>
            <a:endParaRPr lang="en-US" sz="1050" dirty="0"/>
          </a:p>
        </p:txBody>
      </p:sp>
      <p:sp>
        <p:nvSpPr>
          <p:cNvPr id="7" name="Text 5"/>
          <p:cNvSpPr/>
          <p:nvPr/>
        </p:nvSpPr>
        <p:spPr>
          <a:xfrm>
            <a:off x="2743200" y="1783080"/>
            <a:ext cx="1417320" cy="219456"/>
          </a:xfrm>
          <a:prstGeom prst="rect">
            <a:avLst/>
          </a:prstGeom>
          <a:noFill/>
          <a:ln/>
        </p:spPr>
        <p:txBody>
          <a:bodyPr wrap="square" lIns="0" tIns="0" rIns="0" bIns="0" rtlCol="0" anchor="ctr">
            <a:normAutofit/>
          </a:bodyPr>
          <a:lstStyle/>
          <a:p>
            <a:pPr indent="0" marL="0">
              <a:buNone/>
            </a:pPr>
            <a:r>
              <a:rPr lang="en-US" sz="1050" b="1" dirty="0">
                <a:solidFill>
                  <a:srgbClr val="FFFFFF"/>
                </a:solidFill>
              </a:rPr>
              <a:t>Selected</a:t>
            </a:r>
            <a:endParaRPr lang="en-US" sz="1050" dirty="0"/>
          </a:p>
        </p:txBody>
      </p:sp>
      <p:sp>
        <p:nvSpPr>
          <p:cNvPr id="8" name="Text 6"/>
          <p:cNvSpPr/>
          <p:nvPr/>
        </p:nvSpPr>
        <p:spPr>
          <a:xfrm>
            <a:off x="4572000" y="1783080"/>
            <a:ext cx="2194560" cy="219456"/>
          </a:xfrm>
          <a:prstGeom prst="rect">
            <a:avLst/>
          </a:prstGeom>
          <a:noFill/>
          <a:ln/>
        </p:spPr>
        <p:txBody>
          <a:bodyPr wrap="square" lIns="0" tIns="0" rIns="0" bIns="0" rtlCol="0" anchor="ctr">
            <a:normAutofit/>
          </a:bodyPr>
          <a:lstStyle/>
          <a:p>
            <a:pPr indent="0" marL="0">
              <a:buNone/>
            </a:pPr>
            <a:r>
              <a:rPr lang="en-US" sz="1050" b="1" dirty="0">
                <a:solidFill>
                  <a:srgbClr val="FFFFFF"/>
                </a:solidFill>
              </a:rPr>
              <a:t>Matched</a:t>
            </a:r>
            <a:endParaRPr lang="en-US" sz="1050" dirty="0"/>
          </a:p>
        </p:txBody>
      </p:sp>
      <p:sp>
        <p:nvSpPr>
          <p:cNvPr id="9" name="Text 7"/>
          <p:cNvSpPr/>
          <p:nvPr/>
        </p:nvSpPr>
        <p:spPr>
          <a:xfrm>
            <a:off x="7315200" y="1783080"/>
            <a:ext cx="731520" cy="219456"/>
          </a:xfrm>
          <a:prstGeom prst="rect">
            <a:avLst/>
          </a:prstGeom>
          <a:noFill/>
          <a:ln/>
        </p:spPr>
        <p:txBody>
          <a:bodyPr wrap="square" lIns="0" tIns="0" rIns="0" bIns="0" rtlCol="0" anchor="ctr">
            <a:normAutofit/>
          </a:bodyPr>
          <a:lstStyle/>
          <a:p>
            <a:pPr indent="0" marL="0">
              <a:buNone/>
            </a:pPr>
            <a:r>
              <a:rPr lang="en-US" sz="1050" b="1" dirty="0">
                <a:solidFill>
                  <a:srgbClr val="FFFFFF"/>
                </a:solidFill>
              </a:rPr>
              <a:t>F1</a:t>
            </a:r>
            <a:endParaRPr lang="en-US" sz="1050" dirty="0"/>
          </a:p>
        </p:txBody>
      </p:sp>
      <p:sp>
        <p:nvSpPr>
          <p:cNvPr id="10" name="Text 8"/>
          <p:cNvSpPr/>
          <p:nvPr/>
        </p:nvSpPr>
        <p:spPr>
          <a:xfrm>
            <a:off x="8412480" y="1783080"/>
            <a:ext cx="731520" cy="219456"/>
          </a:xfrm>
          <a:prstGeom prst="rect">
            <a:avLst/>
          </a:prstGeom>
          <a:noFill/>
          <a:ln/>
        </p:spPr>
        <p:txBody>
          <a:bodyPr wrap="square" lIns="0" tIns="0" rIns="0" bIns="0" rtlCol="0" anchor="ctr">
            <a:normAutofit/>
          </a:bodyPr>
          <a:lstStyle/>
          <a:p>
            <a:pPr indent="0" marL="0">
              <a:buNone/>
            </a:pPr>
            <a:r>
              <a:rPr lang="en-US" sz="1050" b="1" dirty="0">
                <a:solidFill>
                  <a:srgbClr val="FFFFFF"/>
                </a:solidFill>
              </a:rPr>
              <a:t>ROC</a:t>
            </a:r>
            <a:endParaRPr lang="en-US" sz="1050" dirty="0"/>
          </a:p>
        </p:txBody>
      </p:sp>
      <p:sp>
        <p:nvSpPr>
          <p:cNvPr id="11" name="Shape 9"/>
          <p:cNvSpPr/>
          <p:nvPr/>
        </p:nvSpPr>
        <p:spPr>
          <a:xfrm>
            <a:off x="566928" y="2103120"/>
            <a:ext cx="9098280" cy="256032"/>
          </a:xfrm>
          <a:prstGeom prst="rect">
            <a:avLst/>
          </a:prstGeom>
          <a:solidFill>
            <a:srgbClr val="EEF6FF"/>
          </a:solidFill>
          <a:ln w="12700">
            <a:solidFill>
              <a:srgbClr val="D9E2EF"/>
            </a:solidFill>
            <a:prstDash val="solid"/>
          </a:ln>
        </p:spPr>
      </p:sp>
      <p:sp>
        <p:nvSpPr>
          <p:cNvPr id="12" name="Text 10"/>
          <p:cNvSpPr/>
          <p:nvPr/>
        </p:nvSpPr>
        <p:spPr>
          <a:xfrm>
            <a:off x="685800" y="2176272"/>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Annthyroid</a:t>
            </a:r>
            <a:endParaRPr lang="en-US" sz="860" dirty="0"/>
          </a:p>
        </p:txBody>
      </p:sp>
      <p:sp>
        <p:nvSpPr>
          <p:cNvPr id="13" name="Text 11"/>
          <p:cNvSpPr/>
          <p:nvPr/>
        </p:nvSpPr>
        <p:spPr>
          <a:xfrm>
            <a:off x="2743200" y="2176272"/>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KNN</a:t>
            </a:r>
            <a:endParaRPr lang="en-US" sz="860" dirty="0"/>
          </a:p>
        </p:txBody>
      </p:sp>
      <p:sp>
        <p:nvSpPr>
          <p:cNvPr id="14" name="Text 12"/>
          <p:cNvSpPr/>
          <p:nvPr/>
        </p:nvSpPr>
        <p:spPr>
          <a:xfrm>
            <a:off x="4572000" y="2176272"/>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KDD SMTP</a:t>
            </a:r>
            <a:endParaRPr lang="en-US" sz="860" dirty="0"/>
          </a:p>
        </p:txBody>
      </p:sp>
      <p:sp>
        <p:nvSpPr>
          <p:cNvPr id="15" name="Text 13"/>
          <p:cNvSpPr/>
          <p:nvPr/>
        </p:nvSpPr>
        <p:spPr>
          <a:xfrm>
            <a:off x="7315200" y="2176272"/>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0.205</a:t>
            </a:r>
            <a:endParaRPr lang="en-US" sz="860" dirty="0"/>
          </a:p>
        </p:txBody>
      </p:sp>
      <p:sp>
        <p:nvSpPr>
          <p:cNvPr id="16" name="Text 14"/>
          <p:cNvSpPr/>
          <p:nvPr/>
        </p:nvSpPr>
        <p:spPr>
          <a:xfrm>
            <a:off x="8412480" y="2176272"/>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0.910</a:t>
            </a:r>
            <a:endParaRPr lang="en-US" sz="860" dirty="0"/>
          </a:p>
        </p:txBody>
      </p:sp>
      <p:sp>
        <p:nvSpPr>
          <p:cNvPr id="17" name="Shape 15"/>
          <p:cNvSpPr/>
          <p:nvPr/>
        </p:nvSpPr>
        <p:spPr>
          <a:xfrm>
            <a:off x="566928" y="2414016"/>
            <a:ext cx="9098280" cy="256032"/>
          </a:xfrm>
          <a:prstGeom prst="rect">
            <a:avLst/>
          </a:prstGeom>
          <a:solidFill>
            <a:srgbClr val="F8FAFC"/>
          </a:solidFill>
          <a:ln w="12700">
            <a:solidFill>
              <a:srgbClr val="D9E2EF"/>
            </a:solidFill>
            <a:prstDash val="solid"/>
          </a:ln>
        </p:spPr>
      </p:sp>
      <p:sp>
        <p:nvSpPr>
          <p:cNvPr id="18" name="Text 16"/>
          <p:cNvSpPr/>
          <p:nvPr/>
        </p:nvSpPr>
        <p:spPr>
          <a:xfrm>
            <a:off x="685800" y="2487168"/>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KDD HTTP</a:t>
            </a:r>
            <a:endParaRPr lang="en-US" sz="860" dirty="0"/>
          </a:p>
        </p:txBody>
      </p:sp>
      <p:sp>
        <p:nvSpPr>
          <p:cNvPr id="19" name="Text 17"/>
          <p:cNvSpPr/>
          <p:nvPr/>
        </p:nvSpPr>
        <p:spPr>
          <a:xfrm>
            <a:off x="2743200" y="2487168"/>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KNN</a:t>
            </a:r>
            <a:endParaRPr lang="en-US" sz="860" dirty="0"/>
          </a:p>
        </p:txBody>
      </p:sp>
      <p:sp>
        <p:nvSpPr>
          <p:cNvPr id="20" name="Text 18"/>
          <p:cNvSpPr/>
          <p:nvPr/>
        </p:nvSpPr>
        <p:spPr>
          <a:xfrm>
            <a:off x="4572000" y="2487168"/>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KDD SMTP</a:t>
            </a:r>
            <a:endParaRPr lang="en-US" sz="860" dirty="0"/>
          </a:p>
        </p:txBody>
      </p:sp>
      <p:sp>
        <p:nvSpPr>
          <p:cNvPr id="21" name="Text 19"/>
          <p:cNvSpPr/>
          <p:nvPr/>
        </p:nvSpPr>
        <p:spPr>
          <a:xfrm>
            <a:off x="7315200" y="2487168"/>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0.038</a:t>
            </a:r>
            <a:endParaRPr lang="en-US" sz="860" dirty="0"/>
          </a:p>
        </p:txBody>
      </p:sp>
      <p:sp>
        <p:nvSpPr>
          <p:cNvPr id="22" name="Text 20"/>
          <p:cNvSpPr/>
          <p:nvPr/>
        </p:nvSpPr>
        <p:spPr>
          <a:xfrm>
            <a:off x="8412480" y="2487168"/>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0.031</a:t>
            </a:r>
            <a:endParaRPr lang="en-US" sz="860" dirty="0"/>
          </a:p>
        </p:txBody>
      </p:sp>
      <p:sp>
        <p:nvSpPr>
          <p:cNvPr id="23" name="Shape 21"/>
          <p:cNvSpPr/>
          <p:nvPr/>
        </p:nvSpPr>
        <p:spPr>
          <a:xfrm>
            <a:off x="566928" y="2724912"/>
            <a:ext cx="9098280" cy="256032"/>
          </a:xfrm>
          <a:prstGeom prst="rect">
            <a:avLst/>
          </a:prstGeom>
          <a:solidFill>
            <a:srgbClr val="EEF6FF"/>
          </a:solidFill>
          <a:ln w="12700">
            <a:solidFill>
              <a:srgbClr val="D9E2EF"/>
            </a:solidFill>
            <a:prstDash val="solid"/>
          </a:ln>
        </p:spPr>
      </p:sp>
      <p:sp>
        <p:nvSpPr>
          <p:cNvPr id="24" name="Text 22"/>
          <p:cNvSpPr/>
          <p:nvPr/>
        </p:nvSpPr>
        <p:spPr>
          <a:xfrm>
            <a:off x="685800" y="2798064"/>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KDD SMTP</a:t>
            </a:r>
            <a:endParaRPr lang="en-US" sz="860" dirty="0"/>
          </a:p>
        </p:txBody>
      </p:sp>
      <p:sp>
        <p:nvSpPr>
          <p:cNvPr id="25" name="Text 23"/>
          <p:cNvSpPr/>
          <p:nvPr/>
        </p:nvSpPr>
        <p:spPr>
          <a:xfrm>
            <a:off x="2743200" y="2798064"/>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OCSVM</a:t>
            </a:r>
            <a:endParaRPr lang="en-US" sz="860" dirty="0"/>
          </a:p>
        </p:txBody>
      </p:sp>
      <p:sp>
        <p:nvSpPr>
          <p:cNvPr id="26" name="Text 24"/>
          <p:cNvSpPr/>
          <p:nvPr/>
        </p:nvSpPr>
        <p:spPr>
          <a:xfrm>
            <a:off x="4572000" y="2798064"/>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Annthyroid</a:t>
            </a:r>
            <a:endParaRPr lang="en-US" sz="860" dirty="0"/>
          </a:p>
        </p:txBody>
      </p:sp>
      <p:sp>
        <p:nvSpPr>
          <p:cNvPr id="27" name="Text 25"/>
          <p:cNvSpPr/>
          <p:nvPr/>
        </p:nvSpPr>
        <p:spPr>
          <a:xfrm>
            <a:off x="7315200" y="2798064"/>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0.006</a:t>
            </a:r>
            <a:endParaRPr lang="en-US" sz="860" dirty="0"/>
          </a:p>
        </p:txBody>
      </p:sp>
      <p:sp>
        <p:nvSpPr>
          <p:cNvPr id="28" name="Text 26"/>
          <p:cNvSpPr/>
          <p:nvPr/>
        </p:nvSpPr>
        <p:spPr>
          <a:xfrm>
            <a:off x="8412480" y="2798064"/>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0.689</a:t>
            </a:r>
            <a:endParaRPr lang="en-US" sz="860" dirty="0"/>
          </a:p>
        </p:txBody>
      </p:sp>
      <p:sp>
        <p:nvSpPr>
          <p:cNvPr id="29" name="Shape 27"/>
          <p:cNvSpPr/>
          <p:nvPr/>
        </p:nvSpPr>
        <p:spPr>
          <a:xfrm>
            <a:off x="566928" y="3035808"/>
            <a:ext cx="9098280" cy="256032"/>
          </a:xfrm>
          <a:prstGeom prst="rect">
            <a:avLst/>
          </a:prstGeom>
          <a:solidFill>
            <a:srgbClr val="F8FAFC"/>
          </a:solidFill>
          <a:ln w="12700">
            <a:solidFill>
              <a:srgbClr val="D9E2EF"/>
            </a:solidFill>
            <a:prstDash val="solid"/>
          </a:ln>
        </p:spPr>
      </p:sp>
      <p:sp>
        <p:nvSpPr>
          <p:cNvPr id="30" name="Text 28"/>
          <p:cNvSpPr/>
          <p:nvPr/>
        </p:nvSpPr>
        <p:spPr>
          <a:xfrm>
            <a:off x="685800" y="3108960"/>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Glass</a:t>
            </a:r>
            <a:endParaRPr lang="en-US" sz="860" dirty="0"/>
          </a:p>
        </p:txBody>
      </p:sp>
      <p:sp>
        <p:nvSpPr>
          <p:cNvPr id="31" name="Text 29"/>
          <p:cNvSpPr/>
          <p:nvPr/>
        </p:nvSpPr>
        <p:spPr>
          <a:xfrm>
            <a:off x="2743200" y="3108960"/>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OCSVM</a:t>
            </a:r>
            <a:endParaRPr lang="en-US" sz="860" dirty="0"/>
          </a:p>
        </p:txBody>
      </p:sp>
      <p:sp>
        <p:nvSpPr>
          <p:cNvPr id="32" name="Text 30"/>
          <p:cNvSpPr/>
          <p:nvPr/>
        </p:nvSpPr>
        <p:spPr>
          <a:xfrm>
            <a:off x="4572000" y="3108960"/>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Wine</a:t>
            </a:r>
            <a:endParaRPr lang="en-US" sz="860" dirty="0"/>
          </a:p>
        </p:txBody>
      </p:sp>
      <p:sp>
        <p:nvSpPr>
          <p:cNvPr id="33" name="Text 31"/>
          <p:cNvSpPr/>
          <p:nvPr/>
        </p:nvSpPr>
        <p:spPr>
          <a:xfrm>
            <a:off x="7315200" y="3108960"/>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0.119</a:t>
            </a:r>
            <a:endParaRPr lang="en-US" sz="860" dirty="0"/>
          </a:p>
        </p:txBody>
      </p:sp>
      <p:sp>
        <p:nvSpPr>
          <p:cNvPr id="34" name="Text 32"/>
          <p:cNvSpPr/>
          <p:nvPr/>
        </p:nvSpPr>
        <p:spPr>
          <a:xfrm>
            <a:off x="8412480" y="3108960"/>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0.450</a:t>
            </a:r>
            <a:endParaRPr lang="en-US" sz="860" dirty="0"/>
          </a:p>
        </p:txBody>
      </p:sp>
      <p:sp>
        <p:nvSpPr>
          <p:cNvPr id="35" name="Shape 33"/>
          <p:cNvSpPr/>
          <p:nvPr/>
        </p:nvSpPr>
        <p:spPr>
          <a:xfrm>
            <a:off x="566928" y="3346704"/>
            <a:ext cx="9098280" cy="256032"/>
          </a:xfrm>
          <a:prstGeom prst="rect">
            <a:avLst/>
          </a:prstGeom>
          <a:solidFill>
            <a:srgbClr val="EEF6FF"/>
          </a:solidFill>
          <a:ln w="12700">
            <a:solidFill>
              <a:srgbClr val="D9E2EF"/>
            </a:solidFill>
            <a:prstDash val="solid"/>
          </a:ln>
        </p:spPr>
      </p:sp>
      <p:sp>
        <p:nvSpPr>
          <p:cNvPr id="36" name="Text 34"/>
          <p:cNvSpPr/>
          <p:nvPr/>
        </p:nvSpPr>
        <p:spPr>
          <a:xfrm>
            <a:off x="685800" y="3419856"/>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Pendigits</a:t>
            </a:r>
            <a:endParaRPr lang="en-US" sz="860" dirty="0"/>
          </a:p>
        </p:txBody>
      </p:sp>
      <p:sp>
        <p:nvSpPr>
          <p:cNvPr id="37" name="Text 35"/>
          <p:cNvSpPr/>
          <p:nvPr/>
        </p:nvSpPr>
        <p:spPr>
          <a:xfrm>
            <a:off x="2743200" y="3419856"/>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IForest</a:t>
            </a:r>
            <a:endParaRPr lang="en-US" sz="860" dirty="0"/>
          </a:p>
        </p:txBody>
      </p:sp>
      <p:sp>
        <p:nvSpPr>
          <p:cNvPr id="38" name="Text 36"/>
          <p:cNvSpPr/>
          <p:nvPr/>
        </p:nvSpPr>
        <p:spPr>
          <a:xfrm>
            <a:off x="4572000" y="3419856"/>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Ionosphere</a:t>
            </a:r>
            <a:endParaRPr lang="en-US" sz="860" dirty="0"/>
          </a:p>
        </p:txBody>
      </p:sp>
      <p:sp>
        <p:nvSpPr>
          <p:cNvPr id="39" name="Text 37"/>
          <p:cNvSpPr/>
          <p:nvPr/>
        </p:nvSpPr>
        <p:spPr>
          <a:xfrm>
            <a:off x="7315200" y="3419856"/>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0.198</a:t>
            </a:r>
            <a:endParaRPr lang="en-US" sz="860" dirty="0"/>
          </a:p>
        </p:txBody>
      </p:sp>
      <p:sp>
        <p:nvSpPr>
          <p:cNvPr id="40" name="Text 38"/>
          <p:cNvSpPr/>
          <p:nvPr/>
        </p:nvSpPr>
        <p:spPr>
          <a:xfrm>
            <a:off x="8412480" y="3419856"/>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0.616</a:t>
            </a:r>
            <a:endParaRPr lang="en-US" sz="860" dirty="0"/>
          </a:p>
        </p:txBody>
      </p:sp>
      <p:sp>
        <p:nvSpPr>
          <p:cNvPr id="41" name="Shape 39"/>
          <p:cNvSpPr/>
          <p:nvPr/>
        </p:nvSpPr>
        <p:spPr>
          <a:xfrm>
            <a:off x="566928" y="3657600"/>
            <a:ext cx="9098280" cy="256032"/>
          </a:xfrm>
          <a:prstGeom prst="rect">
            <a:avLst/>
          </a:prstGeom>
          <a:solidFill>
            <a:srgbClr val="F8FAFC"/>
          </a:solidFill>
          <a:ln w="12700">
            <a:solidFill>
              <a:srgbClr val="D9E2EF"/>
            </a:solidFill>
            <a:prstDash val="solid"/>
          </a:ln>
        </p:spPr>
      </p:sp>
      <p:sp>
        <p:nvSpPr>
          <p:cNvPr id="42" name="Text 40"/>
          <p:cNvSpPr/>
          <p:nvPr/>
        </p:nvSpPr>
        <p:spPr>
          <a:xfrm>
            <a:off x="685800" y="3730752"/>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Ionosphere</a:t>
            </a:r>
            <a:endParaRPr lang="en-US" sz="860" dirty="0"/>
          </a:p>
        </p:txBody>
      </p:sp>
      <p:sp>
        <p:nvSpPr>
          <p:cNvPr id="43" name="Text 41"/>
          <p:cNvSpPr/>
          <p:nvPr/>
        </p:nvSpPr>
        <p:spPr>
          <a:xfrm>
            <a:off x="2743200" y="3730752"/>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Temporal</a:t>
            </a:r>
            <a:endParaRPr lang="en-US" sz="860" dirty="0"/>
          </a:p>
        </p:txBody>
      </p:sp>
      <p:sp>
        <p:nvSpPr>
          <p:cNvPr id="44" name="Text 42"/>
          <p:cNvSpPr/>
          <p:nvPr/>
        </p:nvSpPr>
        <p:spPr>
          <a:xfrm>
            <a:off x="4572000" y="3730752"/>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Pendigits</a:t>
            </a:r>
            <a:endParaRPr lang="en-US" sz="860" dirty="0"/>
          </a:p>
        </p:txBody>
      </p:sp>
      <p:sp>
        <p:nvSpPr>
          <p:cNvPr id="45" name="Text 43"/>
          <p:cNvSpPr/>
          <p:nvPr/>
        </p:nvSpPr>
        <p:spPr>
          <a:xfrm>
            <a:off x="7315200" y="3730752"/>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0.221</a:t>
            </a:r>
            <a:endParaRPr lang="en-US" sz="860" dirty="0"/>
          </a:p>
        </p:txBody>
      </p:sp>
      <p:sp>
        <p:nvSpPr>
          <p:cNvPr id="46" name="Text 44"/>
          <p:cNvSpPr/>
          <p:nvPr/>
        </p:nvSpPr>
        <p:spPr>
          <a:xfrm>
            <a:off x="8412480" y="3730752"/>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0.616</a:t>
            </a:r>
            <a:endParaRPr lang="en-US" sz="860" dirty="0"/>
          </a:p>
        </p:txBody>
      </p:sp>
      <p:sp>
        <p:nvSpPr>
          <p:cNvPr id="47" name="Shape 45"/>
          <p:cNvSpPr/>
          <p:nvPr/>
        </p:nvSpPr>
        <p:spPr>
          <a:xfrm>
            <a:off x="566928" y="3968496"/>
            <a:ext cx="9098280" cy="256032"/>
          </a:xfrm>
          <a:prstGeom prst="rect">
            <a:avLst/>
          </a:prstGeom>
          <a:solidFill>
            <a:srgbClr val="EEF6FF"/>
          </a:solidFill>
          <a:ln w="12700">
            <a:solidFill>
              <a:srgbClr val="D9E2EF"/>
            </a:solidFill>
            <a:prstDash val="solid"/>
          </a:ln>
        </p:spPr>
      </p:sp>
      <p:sp>
        <p:nvSpPr>
          <p:cNvPr id="48" name="Text 46"/>
          <p:cNvSpPr/>
          <p:nvPr/>
        </p:nvSpPr>
        <p:spPr>
          <a:xfrm>
            <a:off x="685800" y="4041648"/>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WDBC</a:t>
            </a:r>
            <a:endParaRPr lang="en-US" sz="860" dirty="0"/>
          </a:p>
        </p:txBody>
      </p:sp>
      <p:sp>
        <p:nvSpPr>
          <p:cNvPr id="49" name="Text 47"/>
          <p:cNvSpPr/>
          <p:nvPr/>
        </p:nvSpPr>
        <p:spPr>
          <a:xfrm>
            <a:off x="2743200" y="4041648"/>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OCSVM</a:t>
            </a:r>
            <a:endParaRPr lang="en-US" sz="860" dirty="0"/>
          </a:p>
        </p:txBody>
      </p:sp>
      <p:sp>
        <p:nvSpPr>
          <p:cNvPr id="50" name="Text 48"/>
          <p:cNvSpPr/>
          <p:nvPr/>
        </p:nvSpPr>
        <p:spPr>
          <a:xfrm>
            <a:off x="4572000" y="4041648"/>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Wine</a:t>
            </a:r>
            <a:endParaRPr lang="en-US" sz="860" dirty="0"/>
          </a:p>
        </p:txBody>
      </p:sp>
      <p:sp>
        <p:nvSpPr>
          <p:cNvPr id="51" name="Text 49"/>
          <p:cNvSpPr/>
          <p:nvPr/>
        </p:nvSpPr>
        <p:spPr>
          <a:xfrm>
            <a:off x="7315200" y="4041648"/>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0.459</a:t>
            </a:r>
            <a:endParaRPr lang="en-US" sz="860" dirty="0"/>
          </a:p>
        </p:txBody>
      </p:sp>
      <p:sp>
        <p:nvSpPr>
          <p:cNvPr id="52" name="Text 50"/>
          <p:cNvSpPr/>
          <p:nvPr/>
        </p:nvSpPr>
        <p:spPr>
          <a:xfrm>
            <a:off x="8412480" y="4041648"/>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0.633</a:t>
            </a:r>
            <a:endParaRPr lang="en-US" sz="860" dirty="0"/>
          </a:p>
        </p:txBody>
      </p:sp>
      <p:sp>
        <p:nvSpPr>
          <p:cNvPr id="53" name="Shape 51"/>
          <p:cNvSpPr/>
          <p:nvPr/>
        </p:nvSpPr>
        <p:spPr>
          <a:xfrm>
            <a:off x="566928" y="4279392"/>
            <a:ext cx="9098280" cy="256032"/>
          </a:xfrm>
          <a:prstGeom prst="rect">
            <a:avLst/>
          </a:prstGeom>
          <a:solidFill>
            <a:srgbClr val="F8FAFC"/>
          </a:solidFill>
          <a:ln w="12700">
            <a:solidFill>
              <a:srgbClr val="D9E2EF"/>
            </a:solidFill>
            <a:prstDash val="solid"/>
          </a:ln>
        </p:spPr>
      </p:sp>
      <p:sp>
        <p:nvSpPr>
          <p:cNvPr id="54" name="Text 52"/>
          <p:cNvSpPr/>
          <p:nvPr/>
        </p:nvSpPr>
        <p:spPr>
          <a:xfrm>
            <a:off x="685800" y="4352544"/>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Wine</a:t>
            </a:r>
            <a:endParaRPr lang="en-US" sz="860" dirty="0"/>
          </a:p>
        </p:txBody>
      </p:sp>
      <p:sp>
        <p:nvSpPr>
          <p:cNvPr id="55" name="Text 53"/>
          <p:cNvSpPr/>
          <p:nvPr/>
        </p:nvSpPr>
        <p:spPr>
          <a:xfrm>
            <a:off x="2743200" y="4352544"/>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IForest</a:t>
            </a:r>
            <a:endParaRPr lang="en-US" sz="860" dirty="0"/>
          </a:p>
        </p:txBody>
      </p:sp>
      <p:sp>
        <p:nvSpPr>
          <p:cNvPr id="56" name="Text 54"/>
          <p:cNvSpPr/>
          <p:nvPr/>
        </p:nvSpPr>
        <p:spPr>
          <a:xfrm>
            <a:off x="4572000" y="4352544"/>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Yeast</a:t>
            </a:r>
            <a:endParaRPr lang="en-US" sz="860" dirty="0"/>
          </a:p>
        </p:txBody>
      </p:sp>
      <p:sp>
        <p:nvSpPr>
          <p:cNvPr id="57" name="Text 55"/>
          <p:cNvSpPr/>
          <p:nvPr/>
        </p:nvSpPr>
        <p:spPr>
          <a:xfrm>
            <a:off x="7315200" y="4352544"/>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0.000</a:t>
            </a:r>
            <a:endParaRPr lang="en-US" sz="860" dirty="0"/>
          </a:p>
        </p:txBody>
      </p:sp>
      <p:sp>
        <p:nvSpPr>
          <p:cNvPr id="58" name="Text 56"/>
          <p:cNvSpPr/>
          <p:nvPr/>
        </p:nvSpPr>
        <p:spPr>
          <a:xfrm>
            <a:off x="8412480" y="4352544"/>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0.637</a:t>
            </a:r>
            <a:endParaRPr lang="en-US" sz="860" dirty="0"/>
          </a:p>
        </p:txBody>
      </p:sp>
      <p:sp>
        <p:nvSpPr>
          <p:cNvPr id="59" name="Shape 57"/>
          <p:cNvSpPr/>
          <p:nvPr/>
        </p:nvSpPr>
        <p:spPr>
          <a:xfrm>
            <a:off x="566928" y="4590288"/>
            <a:ext cx="9098280" cy="256032"/>
          </a:xfrm>
          <a:prstGeom prst="rect">
            <a:avLst/>
          </a:prstGeom>
          <a:solidFill>
            <a:srgbClr val="EEF6FF"/>
          </a:solidFill>
          <a:ln w="12700">
            <a:solidFill>
              <a:srgbClr val="D9E2EF"/>
            </a:solidFill>
            <a:prstDash val="solid"/>
          </a:ln>
        </p:spPr>
      </p:sp>
      <p:sp>
        <p:nvSpPr>
          <p:cNvPr id="60" name="Text 58"/>
          <p:cNvSpPr/>
          <p:nvPr/>
        </p:nvSpPr>
        <p:spPr>
          <a:xfrm>
            <a:off x="685800" y="4663440"/>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Ecoli</a:t>
            </a:r>
            <a:endParaRPr lang="en-US" sz="860" dirty="0"/>
          </a:p>
        </p:txBody>
      </p:sp>
      <p:sp>
        <p:nvSpPr>
          <p:cNvPr id="61" name="Text 59"/>
          <p:cNvSpPr/>
          <p:nvPr/>
        </p:nvSpPr>
        <p:spPr>
          <a:xfrm>
            <a:off x="2743200" y="4663440"/>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OCSVM</a:t>
            </a:r>
            <a:endParaRPr lang="en-US" sz="860" dirty="0"/>
          </a:p>
        </p:txBody>
      </p:sp>
      <p:sp>
        <p:nvSpPr>
          <p:cNvPr id="62" name="Text 60"/>
          <p:cNvSpPr/>
          <p:nvPr/>
        </p:nvSpPr>
        <p:spPr>
          <a:xfrm>
            <a:off x="4572000" y="4663440"/>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Wine</a:t>
            </a:r>
            <a:endParaRPr lang="en-US" sz="860" dirty="0"/>
          </a:p>
        </p:txBody>
      </p:sp>
      <p:sp>
        <p:nvSpPr>
          <p:cNvPr id="63" name="Text 61"/>
          <p:cNvSpPr/>
          <p:nvPr/>
        </p:nvSpPr>
        <p:spPr>
          <a:xfrm>
            <a:off x="7315200" y="4663440"/>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0.000</a:t>
            </a:r>
            <a:endParaRPr lang="en-US" sz="860" dirty="0"/>
          </a:p>
        </p:txBody>
      </p:sp>
      <p:sp>
        <p:nvSpPr>
          <p:cNvPr id="64" name="Text 62"/>
          <p:cNvSpPr/>
          <p:nvPr/>
        </p:nvSpPr>
        <p:spPr>
          <a:xfrm>
            <a:off x="8412480" y="4663440"/>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0.299</a:t>
            </a:r>
            <a:endParaRPr lang="en-US" sz="860" dirty="0"/>
          </a:p>
        </p:txBody>
      </p:sp>
      <p:sp>
        <p:nvSpPr>
          <p:cNvPr id="65" name="Shape 63"/>
          <p:cNvSpPr/>
          <p:nvPr/>
        </p:nvSpPr>
        <p:spPr>
          <a:xfrm>
            <a:off x="566928" y="4901184"/>
            <a:ext cx="9098280" cy="256032"/>
          </a:xfrm>
          <a:prstGeom prst="rect">
            <a:avLst/>
          </a:prstGeom>
          <a:solidFill>
            <a:srgbClr val="F8FAFC"/>
          </a:solidFill>
          <a:ln w="12700">
            <a:solidFill>
              <a:srgbClr val="D9E2EF"/>
            </a:solidFill>
            <a:prstDash val="solid"/>
          </a:ln>
        </p:spPr>
      </p:sp>
      <p:sp>
        <p:nvSpPr>
          <p:cNvPr id="66" name="Text 64"/>
          <p:cNvSpPr/>
          <p:nvPr/>
        </p:nvSpPr>
        <p:spPr>
          <a:xfrm>
            <a:off x="685800" y="4974336"/>
            <a:ext cx="169164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Yeast</a:t>
            </a:r>
            <a:endParaRPr lang="en-US" sz="860" dirty="0"/>
          </a:p>
        </p:txBody>
      </p:sp>
      <p:sp>
        <p:nvSpPr>
          <p:cNvPr id="67" name="Text 65"/>
          <p:cNvSpPr/>
          <p:nvPr/>
        </p:nvSpPr>
        <p:spPr>
          <a:xfrm>
            <a:off x="2743200" y="4974336"/>
            <a:ext cx="14173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OCSVM</a:t>
            </a:r>
            <a:endParaRPr lang="en-US" sz="860" dirty="0"/>
          </a:p>
        </p:txBody>
      </p:sp>
      <p:sp>
        <p:nvSpPr>
          <p:cNvPr id="68" name="Text 66"/>
          <p:cNvSpPr/>
          <p:nvPr/>
        </p:nvSpPr>
        <p:spPr>
          <a:xfrm>
            <a:off x="4572000" y="4974336"/>
            <a:ext cx="219456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Wine</a:t>
            </a:r>
            <a:endParaRPr lang="en-US" sz="860" dirty="0"/>
          </a:p>
        </p:txBody>
      </p:sp>
      <p:sp>
        <p:nvSpPr>
          <p:cNvPr id="69" name="Text 67"/>
          <p:cNvSpPr/>
          <p:nvPr/>
        </p:nvSpPr>
        <p:spPr>
          <a:xfrm>
            <a:off x="7315200" y="4974336"/>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0.025</a:t>
            </a:r>
            <a:endParaRPr lang="en-US" sz="860" dirty="0"/>
          </a:p>
        </p:txBody>
      </p:sp>
      <p:sp>
        <p:nvSpPr>
          <p:cNvPr id="70" name="Text 68"/>
          <p:cNvSpPr/>
          <p:nvPr/>
        </p:nvSpPr>
        <p:spPr>
          <a:xfrm>
            <a:off x="8412480" y="4974336"/>
            <a:ext cx="731520" cy="164592"/>
          </a:xfrm>
          <a:prstGeom prst="rect">
            <a:avLst/>
          </a:prstGeom>
          <a:noFill/>
          <a:ln/>
        </p:spPr>
        <p:txBody>
          <a:bodyPr wrap="square" lIns="0" tIns="0" rIns="0" bIns="0" rtlCol="0" anchor="ctr">
            <a:normAutofit/>
          </a:bodyPr>
          <a:lstStyle/>
          <a:p>
            <a:pPr indent="0" marL="0">
              <a:buNone/>
            </a:pPr>
            <a:r>
              <a:rPr lang="en-US" sz="860" dirty="0">
                <a:solidFill>
                  <a:srgbClr val="16213A"/>
                </a:solidFill>
              </a:rPr>
              <a:t>0.846</a:t>
            </a:r>
            <a:endParaRPr lang="en-US" sz="860" dirty="0"/>
          </a:p>
        </p:txBody>
      </p:sp>
      <p:sp>
        <p:nvSpPr>
          <p:cNvPr id="71" name="Text 69"/>
          <p:cNvSpPr/>
          <p:nvPr/>
        </p:nvSpPr>
        <p:spPr>
          <a:xfrm>
            <a:off x="7315200" y="5440680"/>
            <a:ext cx="2011680" cy="256032"/>
          </a:xfrm>
          <a:prstGeom prst="rect">
            <a:avLst/>
          </a:prstGeom>
          <a:noFill/>
          <a:ln/>
        </p:spPr>
        <p:txBody>
          <a:bodyPr wrap="square" lIns="0" tIns="0" rIns="0" bIns="0" rtlCol="0" anchor="ctr"/>
          <a:lstStyle/>
          <a:p>
            <a:pPr indent="0" marL="0">
              <a:buNone/>
            </a:pPr>
            <a:r>
              <a:rPr lang="en-US" sz="1300" b="1" dirty="0">
                <a:solidFill>
                  <a:srgbClr val="16A34A"/>
                </a:solidFill>
              </a:rPr>
              <a:t>Average LODO F1: 0.127</a:t>
            </a:r>
            <a:endParaRPr lang="en-US" sz="1300" dirty="0"/>
          </a:p>
        </p:txBody>
      </p:sp>
      <p:sp>
        <p:nvSpPr>
          <p:cNvPr id="72" name="Text 70"/>
          <p:cNvSpPr/>
          <p:nvPr/>
        </p:nvSpPr>
        <p:spPr>
          <a:xfrm>
            <a:off x="594360" y="5760720"/>
            <a:ext cx="7863840" cy="274320"/>
          </a:xfrm>
          <a:prstGeom prst="rect">
            <a:avLst/>
          </a:prstGeom>
          <a:noFill/>
          <a:ln/>
        </p:spPr>
        <p:txBody>
          <a:bodyPr wrap="square" lIns="0" tIns="0" rIns="0" bIns="0" rtlCol="0" anchor="ctr"/>
          <a:lstStyle/>
          <a:p>
            <a:pPr indent="0" marL="0">
              <a:buNone/>
            </a:pPr>
            <a:r>
              <a:rPr lang="en-US" sz="1150" dirty="0">
                <a:solidFill>
                  <a:srgbClr val="5E6B7A"/>
                </a:solidFill>
              </a:rPr>
              <a:t>Signal: some rare-positive datasets still fail.</a:t>
            </a:r>
            <a:endParaRPr lang="en-US" sz="1150" dirty="0"/>
          </a:p>
        </p:txBody>
      </p:sp>
      <p:sp>
        <p:nvSpPr>
          <p:cNvPr id="73" name="Text 7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What The Result Means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current model is stronger, but it is not the best overall model yet.</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LODO selector F1 is 0.127</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LODO selector PR-AUC is 0.206</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LODO selector ROC-AUC is 0.573</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OCSVM still leads the expanded benchmark</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Updated Engineering Decision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Keep KNN distance and the learned selector, but keep benchmarking honestly.</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Include KNN distance in selector profiles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Use expanded 10-dataset LODO as the main generalization check</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Report OCSVM as the current strongest baseline</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Target rare-positive failures in Wine, Ecoli, and Yeast</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Next Improvements</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The next step is more data for the selector, not more complexity.</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Add more labeled real anomaly datasets</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Group native-label and derived-label datasets separately</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Train the selector with cross-dataset validation only</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Optimize rare-positive thresholding with PR-AUC and recall-at-k</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594360" y="347472"/>
            <a:ext cx="6217920" cy="365760"/>
          </a:xfrm>
          <a:prstGeom prst="rect">
            <a:avLst/>
          </a:prstGeom>
          <a:noFill/>
          <a:ln/>
        </p:spPr>
        <p:txBody>
          <a:bodyPr wrap="square" lIns="0" tIns="0" rIns="0" bIns="0" rtlCol="0" anchor="ctr"/>
          <a:lstStyle/>
          <a:p>
            <a:pPr indent="0" marL="0">
              <a:buNone/>
            </a:pPr>
            <a:r>
              <a:rPr lang="en-US" sz="2100" b="1" dirty="0">
                <a:solidFill>
                  <a:srgbClr val="16213A"/>
                </a:solidFill>
                <a:latin typeface="Aptos Display" pitchFamily="34" charset="0"/>
                <a:ea typeface="Aptos Display" pitchFamily="34" charset="-122"/>
                <a:cs typeface="Aptos Display" pitchFamily="34" charset="-120"/>
              </a:rPr>
              <a:t>Conclusion</a:t>
            </a:r>
            <a:endParaRPr lang="en-US" sz="2100" dirty="0"/>
          </a:p>
        </p:txBody>
      </p:sp>
      <p:sp>
        <p:nvSpPr>
          <p:cNvPr id="4" name="Text 2"/>
          <p:cNvSpPr/>
          <p:nvPr/>
        </p:nvSpPr>
        <p:spPr>
          <a:xfrm>
            <a:off x="594360" y="868680"/>
            <a:ext cx="7680960" cy="502920"/>
          </a:xfrm>
          <a:prstGeom prst="rect">
            <a:avLst/>
          </a:prstGeom>
          <a:noFill/>
          <a:ln/>
        </p:spPr>
        <p:txBody>
          <a:bodyPr wrap="square" lIns="0" tIns="0" rIns="0" bIns="0" rtlCol="0" anchor="ctr">
            <a:normAutofit/>
          </a:bodyPr>
          <a:lstStyle/>
          <a:p>
            <a:pPr indent="0" marL="0">
              <a:buNone/>
            </a:pPr>
            <a:r>
              <a:rPr lang="en-US" sz="1600" dirty="0">
                <a:solidFill>
                  <a:srgbClr val="5E6B7A"/>
                </a:solidFill>
                <a:latin typeface="Aptos" pitchFamily="34" charset="0"/>
                <a:ea typeface="Aptos" pitchFamily="34" charset="-122"/>
                <a:cs typeface="Aptos" pitchFamily="34" charset="-120"/>
              </a:rPr>
              <a:t>AutoAD+ is a strong project prototype, but not a finished universal detector.</a:t>
            </a:r>
            <a:endParaRPr lang="en-US" sz="1600" dirty="0"/>
          </a:p>
        </p:txBody>
      </p:sp>
      <p:sp>
        <p:nvSpPr>
          <p:cNvPr id="5" name="Shape 3"/>
          <p:cNvSpPr/>
          <p:nvPr/>
        </p:nvSpPr>
        <p:spPr>
          <a:xfrm>
            <a:off x="822960" y="1764792"/>
            <a:ext cx="128016" cy="128016"/>
          </a:xfrm>
          <a:prstGeom prst="ellipse">
            <a:avLst/>
          </a:prstGeom>
          <a:solidFill>
            <a:srgbClr val="2563EB"/>
          </a:solidFill>
          <a:ln w="12700">
            <a:solidFill>
              <a:srgbClr val="2563EB"/>
            </a:solidFill>
            <a:prstDash val="solid"/>
          </a:ln>
        </p:spPr>
      </p:sp>
      <p:sp>
        <p:nvSpPr>
          <p:cNvPr id="6" name="Text 4"/>
          <p:cNvSpPr/>
          <p:nvPr/>
        </p:nvSpPr>
        <p:spPr>
          <a:xfrm>
            <a:off x="1115568" y="1691640"/>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Pipeline is implemented end to end</a:t>
            </a:r>
            <a:endParaRPr lang="en-US" sz="1500" dirty="0"/>
          </a:p>
        </p:txBody>
      </p:sp>
      <p:sp>
        <p:nvSpPr>
          <p:cNvPr id="7" name="Shape 5"/>
          <p:cNvSpPr/>
          <p:nvPr/>
        </p:nvSpPr>
        <p:spPr>
          <a:xfrm>
            <a:off x="822960" y="2423160"/>
            <a:ext cx="128016" cy="128016"/>
          </a:xfrm>
          <a:prstGeom prst="ellipse">
            <a:avLst/>
          </a:prstGeom>
          <a:solidFill>
            <a:srgbClr val="2563EB"/>
          </a:solidFill>
          <a:ln w="12700">
            <a:solidFill>
              <a:srgbClr val="2563EB"/>
            </a:solidFill>
            <a:prstDash val="solid"/>
          </a:ln>
        </p:spPr>
      </p:sp>
      <p:sp>
        <p:nvSpPr>
          <p:cNvPr id="8" name="Text 6"/>
          <p:cNvSpPr/>
          <p:nvPr/>
        </p:nvSpPr>
        <p:spPr>
          <a:xfrm>
            <a:off x="1115568" y="2350008"/>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LODO selector reaches 0.127 F1</a:t>
            </a:r>
            <a:endParaRPr lang="en-US" sz="1500" dirty="0"/>
          </a:p>
        </p:txBody>
      </p:sp>
      <p:sp>
        <p:nvSpPr>
          <p:cNvPr id="9" name="Shape 7"/>
          <p:cNvSpPr/>
          <p:nvPr/>
        </p:nvSpPr>
        <p:spPr>
          <a:xfrm>
            <a:off x="822960" y="3081528"/>
            <a:ext cx="128016" cy="128016"/>
          </a:xfrm>
          <a:prstGeom prst="ellipse">
            <a:avLst/>
          </a:prstGeom>
          <a:solidFill>
            <a:srgbClr val="2563EB"/>
          </a:solidFill>
          <a:ln w="12700">
            <a:solidFill>
              <a:srgbClr val="2563EB"/>
            </a:solidFill>
            <a:prstDash val="solid"/>
          </a:ln>
        </p:spPr>
      </p:sp>
      <p:sp>
        <p:nvSpPr>
          <p:cNvPr id="10" name="Text 8"/>
          <p:cNvSpPr/>
          <p:nvPr/>
        </p:nvSpPr>
        <p:spPr>
          <a:xfrm>
            <a:off x="1115568" y="3008376"/>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KNN distance is useful on some datasets</a:t>
            </a:r>
            <a:endParaRPr lang="en-US" sz="1500" dirty="0"/>
          </a:p>
        </p:txBody>
      </p:sp>
      <p:sp>
        <p:nvSpPr>
          <p:cNvPr id="11" name="Shape 9"/>
          <p:cNvSpPr/>
          <p:nvPr/>
        </p:nvSpPr>
        <p:spPr>
          <a:xfrm>
            <a:off x="822960" y="3739896"/>
            <a:ext cx="128016" cy="128016"/>
          </a:xfrm>
          <a:prstGeom prst="ellipse">
            <a:avLst/>
          </a:prstGeom>
          <a:solidFill>
            <a:srgbClr val="2563EB"/>
          </a:solidFill>
          <a:ln w="12700">
            <a:solidFill>
              <a:srgbClr val="2563EB"/>
            </a:solidFill>
            <a:prstDash val="solid"/>
          </a:ln>
        </p:spPr>
      </p:sp>
      <p:sp>
        <p:nvSpPr>
          <p:cNvPr id="12" name="Text 10"/>
          <p:cNvSpPr/>
          <p:nvPr/>
        </p:nvSpPr>
        <p:spPr>
          <a:xfrm>
            <a:off x="1115568" y="3666744"/>
            <a:ext cx="7132320" cy="347472"/>
          </a:xfrm>
          <a:prstGeom prst="rect">
            <a:avLst/>
          </a:prstGeom>
          <a:noFill/>
          <a:ln/>
        </p:spPr>
        <p:txBody>
          <a:bodyPr wrap="square" lIns="0" tIns="0" rIns="0" bIns="0" rtlCol="0" anchor="ctr">
            <a:normAutofit/>
          </a:bodyPr>
          <a:lstStyle/>
          <a:p>
            <a:pPr indent="0" marL="0">
              <a:buNone/>
            </a:pPr>
            <a:r>
              <a:rPr lang="en-US" sz="1500" dirty="0">
                <a:solidFill>
                  <a:srgbClr val="16213A"/>
                </a:solidFill>
              </a:rPr>
              <a:t>OCSVM still wins average real-data F1</a:t>
            </a:r>
            <a:endParaRPr lang="en-US" sz="15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563EB"/>
          </a:solidFill>
          <a:ln w="12700">
            <a:solidFill>
              <a:srgbClr val="2563EB"/>
            </a:solidFill>
            <a:prstDash val="solid"/>
          </a:ln>
        </p:spPr>
      </p:sp>
      <p:sp>
        <p:nvSpPr>
          <p:cNvPr id="3" name="Text 1"/>
          <p:cNvSpPr/>
          <p:nvPr/>
        </p:nvSpPr>
        <p:spPr>
          <a:xfrm>
            <a:off x="749808" y="2148840"/>
            <a:ext cx="4206240" cy="731520"/>
          </a:xfrm>
          <a:prstGeom prst="rect">
            <a:avLst/>
          </a:prstGeom>
          <a:noFill/>
          <a:ln/>
        </p:spPr>
        <p:txBody>
          <a:bodyPr wrap="square" lIns="0" tIns="0" rIns="0" bIns="0" rtlCol="0" anchor="ctr"/>
          <a:lstStyle/>
          <a:p>
            <a:pPr indent="0" marL="0">
              <a:buNone/>
            </a:pPr>
            <a:r>
              <a:rPr lang="en-US" sz="4800" b="1" dirty="0">
                <a:solidFill>
                  <a:srgbClr val="16213A"/>
                </a:solidFill>
              </a:rPr>
              <a:t>AutoAD+</a:t>
            </a:r>
            <a:endParaRPr lang="en-US" sz="4800" dirty="0"/>
          </a:p>
        </p:txBody>
      </p:sp>
      <p:sp>
        <p:nvSpPr>
          <p:cNvPr id="4" name="Text 2"/>
          <p:cNvSpPr/>
          <p:nvPr/>
        </p:nvSpPr>
        <p:spPr>
          <a:xfrm>
            <a:off x="786384" y="3063240"/>
            <a:ext cx="7132320" cy="320040"/>
          </a:xfrm>
          <a:prstGeom prst="rect">
            <a:avLst/>
          </a:prstGeom>
          <a:noFill/>
          <a:ln/>
        </p:spPr>
        <p:txBody>
          <a:bodyPr wrap="square" lIns="0" tIns="0" rIns="0" bIns="0" rtlCol="0" anchor="ctr"/>
          <a:lstStyle/>
          <a:p>
            <a:pPr indent="0" marL="0">
              <a:buNone/>
            </a:pPr>
            <a:r>
              <a:rPr lang="en-US" sz="1700" dirty="0">
                <a:solidFill>
                  <a:srgbClr val="2563EB"/>
                </a:solidFill>
              </a:rPr>
              <a:t>Self-configuring anomaly detection with reproducible evidence</a:t>
            </a:r>
            <a:endParaRPr lang="en-US" sz="1700" dirty="0"/>
          </a:p>
        </p:txBody>
      </p:sp>
      <p:sp>
        <p:nvSpPr>
          <p:cNvPr id="5" name="Text 3"/>
          <p:cNvSpPr/>
          <p:nvPr/>
        </p:nvSpPr>
        <p:spPr>
          <a:xfrm>
            <a:off x="7315200" y="21671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Synthetic</a:t>
            </a:r>
            <a:endParaRPr lang="en-US" sz="1050" dirty="0"/>
          </a:p>
        </p:txBody>
      </p:sp>
      <p:sp>
        <p:nvSpPr>
          <p:cNvPr id="6" name="Shape 4"/>
          <p:cNvSpPr/>
          <p:nvPr/>
        </p:nvSpPr>
        <p:spPr>
          <a:xfrm>
            <a:off x="9189720" y="2148840"/>
            <a:ext cx="1463040" cy="310896"/>
          </a:xfrm>
          <a:prstGeom prst="rect">
            <a:avLst/>
          </a:prstGeom>
          <a:solidFill>
            <a:srgbClr val="F4F7FB"/>
          </a:solidFill>
          <a:ln w="12700">
            <a:solidFill>
              <a:srgbClr val="D9E2EF"/>
            </a:solidFill>
            <a:prstDash val="solid"/>
          </a:ln>
        </p:spPr>
      </p:sp>
      <p:sp>
        <p:nvSpPr>
          <p:cNvPr id="7" name="Shape 5"/>
          <p:cNvSpPr/>
          <p:nvPr/>
        </p:nvSpPr>
        <p:spPr>
          <a:xfrm>
            <a:off x="9189720" y="2148840"/>
            <a:ext cx="959023" cy="310896"/>
          </a:xfrm>
          <a:prstGeom prst="rect">
            <a:avLst/>
          </a:prstGeom>
          <a:solidFill>
            <a:srgbClr val="0891B2"/>
          </a:solidFill>
          <a:ln w="12700">
            <a:solidFill>
              <a:srgbClr val="0891B2"/>
            </a:solidFill>
            <a:prstDash val="solid"/>
          </a:ln>
        </p:spPr>
      </p:sp>
      <p:sp>
        <p:nvSpPr>
          <p:cNvPr id="8" name="Text 6"/>
          <p:cNvSpPr/>
          <p:nvPr/>
        </p:nvSpPr>
        <p:spPr>
          <a:xfrm>
            <a:off x="10212751" y="2176272"/>
            <a:ext cx="640080" cy="182880"/>
          </a:xfrm>
          <a:prstGeom prst="rect">
            <a:avLst/>
          </a:prstGeom>
          <a:noFill/>
          <a:ln/>
        </p:spPr>
        <p:txBody>
          <a:bodyPr wrap="square" lIns="0" tIns="0" rIns="0" bIns="0" rtlCol="0" anchor="ctr"/>
          <a:lstStyle/>
          <a:p>
            <a:pPr indent="0" marL="0">
              <a:buNone/>
            </a:pPr>
            <a:r>
              <a:rPr lang="en-US" sz="900" dirty="0">
                <a:solidFill>
                  <a:srgbClr val="16213A"/>
                </a:solidFill>
              </a:rPr>
              <a:t>0.552</a:t>
            </a:r>
            <a:endParaRPr lang="en-US" sz="900" dirty="0"/>
          </a:p>
        </p:txBody>
      </p:sp>
      <p:sp>
        <p:nvSpPr>
          <p:cNvPr id="9" name="Text 7"/>
          <p:cNvSpPr/>
          <p:nvPr/>
        </p:nvSpPr>
        <p:spPr>
          <a:xfrm>
            <a:off x="7315200" y="2852928"/>
            <a:ext cx="1737360" cy="256032"/>
          </a:xfrm>
          <a:prstGeom prst="rect">
            <a:avLst/>
          </a:prstGeom>
          <a:noFill/>
          <a:ln/>
        </p:spPr>
        <p:txBody>
          <a:bodyPr wrap="square" lIns="0" tIns="0" rIns="0" bIns="0" rtlCol="0" anchor="ctr">
            <a:normAutofit/>
          </a:bodyPr>
          <a:lstStyle/>
          <a:p>
            <a:pPr indent="0" marL="0">
              <a:buNone/>
            </a:pPr>
            <a:r>
              <a:rPr lang="en-US" sz="1050" dirty="0">
                <a:solidFill>
                  <a:srgbClr val="16213A"/>
                </a:solidFill>
              </a:rPr>
              <a:t>LODO selector</a:t>
            </a:r>
            <a:endParaRPr lang="en-US" sz="1050" dirty="0"/>
          </a:p>
        </p:txBody>
      </p:sp>
      <p:sp>
        <p:nvSpPr>
          <p:cNvPr id="10" name="Shape 8"/>
          <p:cNvSpPr/>
          <p:nvPr/>
        </p:nvSpPr>
        <p:spPr>
          <a:xfrm>
            <a:off x="9189720" y="2834640"/>
            <a:ext cx="1463040" cy="310896"/>
          </a:xfrm>
          <a:prstGeom prst="rect">
            <a:avLst/>
          </a:prstGeom>
          <a:solidFill>
            <a:srgbClr val="F4F7FB"/>
          </a:solidFill>
          <a:ln w="12700">
            <a:solidFill>
              <a:srgbClr val="D9E2EF"/>
            </a:solidFill>
            <a:prstDash val="solid"/>
          </a:ln>
        </p:spPr>
      </p:sp>
      <p:sp>
        <p:nvSpPr>
          <p:cNvPr id="11" name="Shape 9"/>
          <p:cNvSpPr/>
          <p:nvPr/>
        </p:nvSpPr>
        <p:spPr>
          <a:xfrm>
            <a:off x="9189720" y="2834640"/>
            <a:ext cx="220645" cy="310896"/>
          </a:xfrm>
          <a:prstGeom prst="rect">
            <a:avLst/>
          </a:prstGeom>
          <a:solidFill>
            <a:srgbClr val="0891B2"/>
          </a:solidFill>
          <a:ln w="12700">
            <a:solidFill>
              <a:srgbClr val="0891B2"/>
            </a:solidFill>
            <a:prstDash val="solid"/>
          </a:ln>
        </p:spPr>
      </p:sp>
      <p:sp>
        <p:nvSpPr>
          <p:cNvPr id="12" name="Text 10"/>
          <p:cNvSpPr/>
          <p:nvPr/>
        </p:nvSpPr>
        <p:spPr>
          <a:xfrm>
            <a:off x="9474373" y="2862072"/>
            <a:ext cx="640080" cy="182880"/>
          </a:xfrm>
          <a:prstGeom prst="rect">
            <a:avLst/>
          </a:prstGeom>
          <a:noFill/>
          <a:ln/>
        </p:spPr>
        <p:txBody>
          <a:bodyPr wrap="square" lIns="0" tIns="0" rIns="0" bIns="0" rtlCol="0" anchor="ctr"/>
          <a:lstStyle/>
          <a:p>
            <a:pPr indent="0" marL="0">
              <a:buNone/>
            </a:pPr>
            <a:r>
              <a:rPr lang="en-US" sz="900" dirty="0">
                <a:solidFill>
                  <a:srgbClr val="16213A"/>
                </a:solidFill>
              </a:rPr>
              <a:t>0.127</a:t>
            </a:r>
            <a:endParaRPr lang="en-US" sz="900" dirty="0"/>
          </a:p>
        </p:txBody>
      </p:sp>
      <p:sp>
        <p:nvSpPr>
          <p:cNvPr id="13" name="Text 11"/>
          <p:cNvSpPr/>
          <p:nvPr/>
        </p:nvSpPr>
        <p:spPr>
          <a:xfrm>
            <a:off x="594360" y="6473952"/>
            <a:ext cx="3200400" cy="182880"/>
          </a:xfrm>
          <a:prstGeom prst="rect">
            <a:avLst/>
          </a:prstGeom>
          <a:noFill/>
          <a:ln/>
        </p:spPr>
        <p:txBody>
          <a:bodyPr wrap="square" lIns="0" tIns="0" rIns="0" bIns="0" rtlCol="0" anchor="ctr"/>
          <a:lstStyle/>
          <a:p>
            <a:pPr indent="0" marL="0">
              <a:buNone/>
            </a:pPr>
            <a:r>
              <a:rPr lang="en-US" sz="700" dirty="0">
                <a:solidFill>
                  <a:srgbClr val="8A95A5"/>
                </a:solidFill>
              </a:rPr>
              <a:t>AutoAD+ project | 42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CENG AI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AutoAD+ Project Presentation</dc:title>
  <dc:subject>AutoAD+ anomaly detection project presentation</dc:subject>
  <dc:creator>AutoAD+ project</dc:creator>
  <cp:lastModifiedBy>AutoAD+ project</cp:lastModifiedBy>
  <cp:revision>1</cp:revision>
  <dcterms:created xsi:type="dcterms:W3CDTF">2026-05-10T13:45:06Z</dcterms:created>
  <dcterms:modified xsi:type="dcterms:W3CDTF">2026-05-10T13:45:06Z</dcterms:modified>
</cp:coreProperties>
</file>